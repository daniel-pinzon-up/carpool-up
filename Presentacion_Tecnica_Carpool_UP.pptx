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presenten el equipo y el objetivo de la exposición. No vamos a mostrar solo pantallas: vamos a explicar cómo está construido Carpool UP por dentro, con énfasis en el backend, en cómo se conectan sus piezas y en cómo habla con la base de datos.
Recorrido anunciado: 1) qué es el proyecto y qué problema resuelve; 2) tecnologías y arquitectura general; 3) el backend: cómo arranca, sus rutas y sus conexiones internas; 4) la base de datos: conexión y modelo de datos; 5) flujos reales de punta a punta, seguridad y errores; 6) estado actual, mejoras y conclusiones.
Todo lo que se muestra sale del código del repositorio (rama main). Cuando algo no está implementado o tiene limitaciones, se dice explícitamente.
Completen los datos entre corchetes (integrantes, asignatura y docente) antes de exponer.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Carpool UP es una aplicación web (funciona en celular y en computador) para que la comunidad de la Universidad de Pamplona comparta viajes. La idea central es que es una comunidad cerrada: no cualquiera entra.
Hay cuatro roles. Lo importante es que es UNA sola aplicación: el menú y las pantallas cambian según el rol que tenga la persona (esto lo deciden las guardas de rutas en frontend/src/app/app.routes.ts y, sobre todo, el backend con require_roles en backend/app/core/auth.py).
Diferencien objetivos de funcionalidades: los objetivos son el para qué; la columna verde es lo que ya existe en el código y tiene pruebas automáticas. Una aclaración honesta: la app NO procesa pagos. El conductor sugiere un aporte y el pago se acuerda por fuera (Nequi, efectivo); la app solo emite un ticket y el conductor marca 'aporte recibido'.
Posible pregunta: ¿por qué solo correos .edu.co? Porque el sufijo permitido es configurable (ALLOWED_EMAIL_SUFFIX) y además el carné lo revisa un administrador; así se reduce el riesgo de viajar con desconocidos.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problema tiene tres partes. 1) Costo: el transporte diario pesa en el bolsillo del estudiante. 2) Ineficiencia: hay carros que ya hacen la ruta con puestos libres. 3) Confianza: el carpooling informal (grupos de WhatsApp) no verifica a nadie.
Cómo lo resuelve el código: el aporte sugerido lo calcula routing/service.py con la distancia que entrega OSRM y los parámetros cost_per_km_car y cost_per_km_motorcycle (tabla system_settings). La búsqueda (search/service.py) usa PostGIS para medir qué tan cerca pasa la ruta de tu punto; el radio por defecto es search_radius_meters = 500. La confianza viene de la verificación del carné por un administrador, las calificaciones (módulo ratings) y la alerta de emergencia (módulo safety).
Posible pregunta: ¿el aporte es obligatorio? El conductor fija el valor por puesto; si el superadmin define un tope (max_price_per_seat), el backend no deja pasarlo: trips/planning.py responde 422 con el código PRICE_ABOVE_MAX.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solo aparecen tecnologías que están en los archivos de dependencias: backend/pyproject.toml, frontend/package.json e infra/docker-compose.yml.
Frontend: Angular 22 con componentes independientes y señales (una señal es un valor que avisa cuando cambia, así solo se redibuja lo necesario). Tailwind para estilos, Transloco para los textos (public/i18n/es.json, en, pt, fr), MapLibre para el mapa.
Backend: FastAPI es el framework web: recibe peticiones HTTP y genera la documentación OpenAPI en /api/v1/docs. Pydantic valida datos: si un campo no cumple, la petición se rechaza con 422 antes de llegar a la lógica. SQLAlchemy es el ORM: traduce clases de Python a tablas y consultas; usamos su versión asíncrona con el driver asyncpg. Alembic versiona el esquema (13 migraciones). ARQ ejecuta tareas en segundo plano usando Redis; slowapi limita peticiones; argon2 cifra contraseñas; PyJWT firma los tokens.
Datos e infraestructura: PostgreSQL con la extensión PostGIS (geometrías y distancias), Redis para eventos en tiempo real y la cola de trabajos, OSRM como motor de rutas propio (no depende de Google Maps), Nginx como puerta de entrada y Docker Compose para levantar todo con un comando.
Posible pregunta: ¿por qué FastAPI y no Django/Express? Por la validación automática con Pydantic, el soporte asíncrono nativo (muchas peticiones esperando a la base sin bloquear) y la documentación OpenAPI generada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recorran el diagrama de izquierda a derecha. El usuario abre el navegador; Nginx le entrega el frontend de Angular (ya compilado). Desde ahí, cada vez que la app necesita datos llama a la API: Nginx reenvía todo lo que empieza por /api (peticiones REST) y /ws (WebSocket) al contenedor api.
La API es el único componente que toca la base de datos. Usa PostgreSQL con PostGIS para guardar y consultar, Redis para publicar eventos en tiempo real y para la cola de trabajos, y OSRM para calcular rutas.
El worker (backend/app/workers/main.py) es un segundo proceso con el mismo código: saca de Redis los trabajos pendientes, como enviar correos de verificación, y ejecuta 12 tareas programadas (vencer solicitudes, recordatorios, viajes no realizados, revalidación semestral, etc.).
La flecha verde punteada es el camino inverso: cuando algo cambia, la API publica en Redis y el WebSocket lo entrega al navegador sin recargar la página.
Lo gris no existe en el código: no hay pasarela de pagos. Archivos para mencionar: infra/docker-compose.yml (servicios), infra/nginx/default.conf (las rutas /api/, /ws, /tiles/).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 un monorepo, es decir, backend, frontend, infraestructura y documentación viven en el mismo repositorio y se levantan juntos.
Backend: app/main.py es el punto de entrada. app/core tiene lo que usan todos los módulos. app/modules tiene 26 módulos, uno por tema de negocio (auth, users, documents, vehicles, routing, trips, series, search, bookings, waitlist, chat, notifications, safety, ratings, stats, admin, audit…). Todos siguen la misma estructura de capas, así que si saben leer uno saben leerlos todos.
Frontend: core (lo que existe una sola vez: sesión, interceptores HTTP, WebSocket), features (una carpeta por pantalla, cada una con su archivo *.api.ts que llama al backend) y shared (componentes reutilizables).
Infraestructura: los docker-compose definen los servicios; infra/nginx la puerta de entrada; infra/scripts respaldos y preparación de mapas.
Cada carpeta principal tiene su propio README con más detalle (backend/README.md, frontend/README.md, infra/README.md, docs/README.md).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a paso:
1) En desarrollo, infra/docker-compose.dev.yml define el comando del contenedor api: primero 'alembic upgrade head' y después uvicorn con recarga automática. En producción el Dockerfile del backend hace lo mismo pero con gunicorn y 2 workers de uvicorn.
2) 'alembic upgrade head' compara la versión de la base con la última migración de backend/alembic/versions y aplica las que falten. Así la base siempre coincide con el código.
3) Uvicorn importa el módulo app.main y busca la variable app, que se crea con create_app().
4) get_settings() (app/core/config.py) lee las variables del .env y las valida con Pydantic. Si ENVIRONMENT=production y la SECRET_KEY o las contraseñas siguen con los valores de ejemplo, el servidor no arranca.
5) Se configuran logs estructurados (structlog), los middlewares y los manejadores de errores.
6) Se registran los routers: todos cuelgan de /api/v1; el WebSocket se registra aparte en /ws.
7) Detalle importante para la pregunta '¿cuándo se conecta a la base?': create_async_engine es perezoso; el pool abre la conexión en la primera consulta. pool_pre_ping=True verifica que la conexión siga viva antes de usarla.
El lifespan (a la derecha) es lo que se ejecuta al apagar: cierra la conexión con ARQ, con Redis y libera el pool de PostgreSQL con engine.dispose().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los middlewares son filtros que envuelven a toda la aplicación. En main.py se agregan en este orden: SlowAPI, SecurityHeaders, CORS y RequestLog. En Starlette el último agregado es el más externo, por eso la petición pasa primero por RequestLog (que le asigna un X-Request-ID para seguirla en los logs) y al final llega al router.
Para qué sirve cada uno: CORS impide que otra página web llame a nuestra API desde el navegador; SecurityHeaders agrega cabeceras como X-Frame-Options (evita que nos metan en un iframe) y Content-Security-Policy; SlowAPI aplica el límite global de peticiones (RATE_LIMIT_DEFAULT = 120/minute) y los límites propios de endpoints sensibles, como 10/minute en /auth/login. Los contadores se guardan en Redis (app/core/rate_limit.py), así funcionan aunque haya varios procesos.
Registro de rutas: un APIRouter con prefijo /api/v1 incluye 20 routers públicos y 9 de administración, más el de salud (/api/v1/health/live y /ready). En total el esquema OpenAPI expone 144 operaciones (63 GET, 63 POST, 10 PATCH, 2 PUT, 6 DELETE) en 124 rutas, más el WebSocket /ws.
Posible pregunta: ¿qué es un router? Es un grupo de endpoints con un prefijo común, definido en el router.py de cada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con 144 operaciones no tiene sentido leerlas una por una; se agrupan por módulo. Los números salen del esquema OpenAPI de la aplicación (app.openapi()), así que coinciden exactamente con el código.
Reglas comunes a todas las rutas: viven bajo /api/v1; la mayoría exige sesión (un token Bearer en la cabecera Authorization); las de /admin exigen rol de administrador o superadmin (dependencias AdminActor y SuperAdminActor de app/core/auth.py). Los datos de entrada y salida son JSON validado con Pydantic (archivo schemas.py de cada módulo). El registro y la subida de archivos usan multipart/form-data.
Módulos más grandes: bookings (19) porque cubre reservas, suscripciones a series y cancelaciones tardías; admin (22 entre router.py y console_router.py) porque es toda la consola de administración.
Posible pregunta: ¿cómo los prueban? Con la documentación interactiva /api/v1/docs (botón Authorize con un token de 'make token') y con 341 pruebas automáticas en backend/tests.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estas seis rutas cubren el corazón de la aplicación: entrar, publicar, buscar, pedir cupo, aceptar y aprobar cuentas.
Cómo leer una fila (ejemplo pedir cupo): la ruta POST /api/v1/trips/{trip_id}/bookings está definida en backend/app/modules/bookings/router.py en la función request_booking. FastAPI valida el cuerpo con el esquema BookingCreate (puestos, lugar de recogida, lugar de bajada y preferencias). La dependencia Passenger exige una cuenta activa con rol pasajero. El decorador @limiter.limit('20/minute') limita los intentos. La función llama a BookingService.request (service.py), que hace las reglas y guarda en las tablas bookings y notifications. Devuelve 201 Created con un BookingOut.
Login: no siempre devuelve el token: si la cuenta debe verificar el correo o pasar el segundo factor, responde con un challenge_id y se envía un código de 6 dígitos al correo.
Búsqueda: es GET con parámetros en la URL (SearchQuery), por eso se puede compartir el enlace de una búsqueda.
Aceptar: lo hace el conductor dueño del viaje; bloquea la fila del viaje para que dos aceptaciones simultáneas no superen los puestos (lo vemos en la diapositiva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esta es la diapositiva más importante para entender el backend. Cada petición baja por las mismas capas.
1) Evento: el pasajero pulsa 'Solicitar cupo' en el frontend.
2) Ruta: POST /api/v1/trips/{trip_id}/bookings, definida en bookings/router.py, función request_booking.
3) Antes de ejecutar la función, FastAPI resuelve las dependencias: Passenger (core/auth.py) lee el token JWT, carga el usuario, comprueba que la sesión no esté revocada, que la cuenta esté activa y que el rol sea pasajero. DbSession (core/deps.py) llama a get_session (core/db.py) y entrega una AsyncSession nueva para esta petición.
4) Validación: el cuerpo JSON se convierte en BookingCreate; si falta un campo o un uuid no es válido, FastAPI responde 422 sin llegar a la función.
5) Servicio: BookingService.request (bookings/service.py) aplica las reglas en orden: require_bookable (el viaje existe, está programado y no es propio), check_compatibility (solo mujeres, preferencias), require_can_book (sanción por ausencias), has_active (no repetir reserva), seats_left (cupo libre), resolve_places y meeting (punto de encuentro sobre la ruta).
6) Base de datos: crea el objeto Booking y lo inserta con add_unique, que usa un savepoint para que, si dos peticiones chocan con el índice único, se devuelva el error de negocio BOOKING_EXISTS. NotificationService.notify agrega el aviso al conductor en la misma transacción.
7) Respuesta: session.commit() confirma; el servicio recarga la reserva y el router la convierte en BookingOut.
8) Error: cualquier AppError interrumpe el flujo antes del commit, así nada queda a medias.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este diagrama de secuencia sigue el código real de BookingService.accept (bookings/service.py) y lock_trip (bookings/queries.py).
Paso a paso: el conductor pulsa 'Aceptar' en su bandeja (frontend: driver-inbox.ts → bookings.api.ts accept). Llega POST /api/v1/bookings/{booking_id}/accept a accept_booking, que exige el rol Driver. El servicio primero verifica con get_for_driver que la reserva sea de un viaje de ese conductor; si no, responde 404 (no revela que existe).
El punto clave es lock_trip: hace SELECT ... FOR UPDATE sobre la fila del viaje. Mientras esta transacción no termine, cualquier otra aceptación del mismo viaje espera. Así, aunque dos personas acepten al mismo tiempo, se cuentan los puestos de forma ordenada y nunca se aceptan más pasajeros que puestos (si no hay cupo: 409 TRIP_FULL). Hay una prueba que acepta 6 solicitudes en paralelo sobre 2 puestos y solo 2 quedan aceptadas (tests/test_booking_concurrency.py).
Luego cambia el estado a accepted, agrega al pasajero al chat del viaje y crea la notificación. Al hacer COMMIT se libera el bloqueo. Solo después del commit se publica el evento en Redis (core/realtime.py, evento after_commit de SQLAlchemy): si la transacción fallara, nadie recibiría un aviso falso. El WebSocket del pasajero recibe el evento y su pantalla se actualiza sin recargar.
Posible pregunta: ¿qué pasa si el conductor aceptó dos veces? La segunda vez el estado ya no es requested y responde 409 BOOKING_NOT_PENDING.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sistema gestor es PostgreSQL 16 con la extensión PostGIS (imagen postgis/postgis:16-3.4 en infra/docker-compose.yml).
Cadena de conexión: la variable DATABASE_URL del archivo .env tiene la forma postgresql+asyncpg://usuario:contraseña@db:5432/carpool. 'postgresql+asyncpg' le dice a SQLAlchemy que use el driver asyncpg (asíncrono); 'db' es el nombre del contenedor de PostgreSQL dentro de la red de Docker; 5432 el puerto; carpool la base. Las variables POSTGRES_USER, POSTGRES_PASSWORD y POSTGRES_DB crean ese usuario y esa base cuando arranca el contenedor db.
core/config.py lee la variable con Pydantic Settings (campo database_url). core/db.py crea un solo engine para todo el proceso: el engine mantiene un pool, es decir, conexiones abiertas que se reutilizan para no conectarse en cada petición.
Línea por línea del código: create_async_engine recibe la URL; pool_pre_ping evita errores con conexiones que la base cerró; async_sessionmaker es la fábrica de sesiones; get_session es un generador asíncrono: abre una sesión, la entrega con yield y, cuando la petición termina, el 'async with' la cierra y devuelve la conexión al pool. Si hubo un error sin commit, al cerrarse se descarta la transacción (rollback).
En core/deps.py, DbSession = Annotated[AsyncSession, Depends(get_session)] es lo que cada ruta declara para recibir su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arriba está el recorrido de una consulta. El servicio construye la consulta con SQLAlchemy (por ejemplo select(Trip).where(...)), SQLAlchemy la traduce a SQL y asyncpg la envía a PostgreSQL. De vuelta, las filas se convierten en objetos de los modelos (models.py), el router los pasa por un esquema Pydantic (por ejemplo BookingOut) y FastAPI los envía como JSON.
Operaciones reales: crear (TripService.create en trips/service.py hace session.add(trip) y commit), consultar (lock_trip usa select con with_for_update; get_for_driver usa session.get), actualizar (accept cambia booking.status y hace commit) y eliminar: en las entidades principales no se borra la fila, se marca deleted_at (borrado lógico) para no perder el historial de viajes; los lugares se desactivan (is_active). Sí se borran físicamente filas sin historial, por ejemplo un contacto de confianza (safety/service.py: await self.session.delete(...)), una regla de pico y placa o un semestre sin documentos.
Transacciones: todo lo que hace un servicio dentro de una petición se confirma junto con session.commit(). Si se lanza un AppError antes, no hay commit y la sesión se cierra sin guardar. add_unique (core/db.py) envuelve el insert en un savepoint para convertir un choque de índice único en un error de negocio sin romper la sesión. Para concurrencia se usa SELECT ... FOR UPDATE.
Credenciales: el .env real está en .gitignore y en el repositorio solo hay .env.example. config.py tiene el validador safe_for_production. La contraseña del superadmin se maneja como SecretStr (no se imprime en logs). En producción PostgreSQL no expone su puerto: solo la API llega a él por la red interna de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base tiene 35 tablas creadas por las 13 migraciones de Alembic. A la izquierda están agrupadas por tema; a la derecha, las relaciones centrales.
Los dos ejes del modelo son users (la persona) y trips (el viaje). Un usuario conduce muchos viajes (trips.driver_id) y es dueño de vehículos (vehicles.owner_id); cada viaje usa un vehículo. Un viaje tiene muchas paradas en orden (trip_stops), cada parada apunta a un lugar del catálogo (places). Las reservas (bookings) unen los dos ejes: tienen trip_id y passenger_id. Las calificaciones (ratings) se hacen en un viaje y apuntan a quien califica (author_id) y a quien es calificado (target_id). El chat (conversations, conversation_members, messages) cuelga del viaje o de la serie.
Columna geográfica: trips.route es una LineString de PostGIS (la ruta completa) y places.point un punto; sobre ellas se hace la búsqueda.
Auditoría: todas las tablas tienen created_at y updated_at, y desde la migración 0013 también created_by y updated_by, que se llenan solos con el usuario de la petición (mixin Authorship en core/db.py). Además audit_log guarda cada acción de administración y un trigger impide modificarla.
Cómo se conecta con las funcionalidades: publicar = trips + trip_stops; buscar = consulta geográfica sobre trips.route; pedir cupo = bookings; aprobar cuentas = identity_documents, driver_licenses y users.status.
Diagrama completo con todas las columnas: docs/DIAGRAMA_ER.md y las imágenes de docs/diagrama-er/.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este flujo muestra cómo frontend, backend y base de datos se reparten el trabajo.
Registro: la pantalla frontend/src/app/features/auth/register.ts envía un formulario multipart (datos + archivo del carné) a POST /api/v1/auth/register. AuthService.register (backend/app/modules/auth/service.py) revisa que el correo termine en el sufijo permitido, que se acepten términos y política de datos y que la contraseña cumpla la política; guarda el archivo del carné en el almacenamiento privado y crea el usuario en estado pending_email, el documento de identidad, las aceptaciones de términos y un código de verificación (solo se guarda su huella HMAC, nunca el código). El correo lo envía el worker en segundo plano.
Verificación: verify-code.ts manda el código; CodeService lo compara de forma segura y la cuenta pasa a pending_approval.
Aprobación: un administrador revisa el carné en el panel (features/admin/approvals.ts) y aprueba; la cuenta queda active y la acción queda en audit_log.
Ingreso: POST /auth/login compara la contraseña con argon2; tras varios intentos fallidos bloquea la cuenta unos minutos (login_max_attempts). Si corresponde, pide un segundo factor por correo. Al final abre una fila en user_sessions, envía la cookie de renovación HttpOnly y un token de acceso JWT que dura 15 minutos y vive solo en memoria del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dos flujos que muestran por qué el proyecto usa PostGIS y OSRM.
Publicar: el asistente frontend/src/app/features/publish/publish-wizard.ts arma el viaje y trips.api.ts lo envía a POST /api/v1/trips. En el backend, publish_trip (trips/router.py) llama a TripService.create (trips/service.py). Antes de guardar valida: que el conductor pueda publicar (require_can_publish: licencia aprobada y vigente, vehículo activo), puestos según la capacidad del vehículo, aporte por debajo del tope, reglas del viaje, fecha de salida y pico y placa del vehículo ese día. Luego planner.plan_route pide la ruta a OSRM (routing/osrm.py) y guarda en trips la geometría de la ruta (LineString de PostGIS) y en trip_stops las paradas con su hora estimada. Si se cruza con otro viaje del mismo conductor responde TRIP_OVERLAP.
Buscar: search-page.ts envía GET /api/v1/search/trips con los parámetros en la URL. SearchService.search arma una sola consulta SQL: ST_Distance mide la distancia entre la ruta y el punto de recogida (y de bajada) en metros; solo pasan los viajes a menos de search_radius_meters (500 por defecto). ST_LineLocatePoint calcula en qué parte de la ruta queda cada punto, para exigir que la recogida esté antes que la bajada (que el carro vaya en tu dirección). También filtra por ventana horaria (search_time_window_minutes), cupo, solo mujeres y preferencias.
Posible pregunta: ¿por qué en la base y no en Python? Porque PostgreSQL con índices geográficos filtra miles de rutas mucho más rápido que traerlas todas a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separen lo que existe de lo que falta.
Implementado (con archivos): core/security.py cifra contraseñas con argon2id (resistente a ataques con tarjetas gráficas) y firma tokens JWT con HS256. El token de acceso dura ACCESS_TOKEN_MINUTES = 15 y el frontend lo guarda solo en memoria; la renovación usa una cookie HttpOnly (JavaScript no la puede leer, lo que protege contra robo por XSS) con SameSite=Lax, que rota en cada renovación: si alguien reutiliza una cookie vieja, se revocan todas las sesiones (REFRESH_REUSED). Los códigos por correo se guardan como huella HMAC y tienen máximo de intentos. core/auth.py comprueba en cada petición que la sesión no esté revocada y que la cuenta esté activa. Cada ruta exige rol y cada servicio verifica que el recurso sea de quien lo pide; tests/test_ownership.py prueba 40 accesos a recursos ajenos. Además: límites con slowapi (por ejemplo 10/min en login), cabeceras de seguridad, validación con Pydantic, archivos privados servidos con control de acceso, auditoría inmutable y autoría en todas las tablas. En producción, config.py no deja arrancar con claves de ejemplo.
Riesgos: son observaciones honestas del estado actual, no fallas conocidas explotables.
Posible pregunta: ¿por qué el token no va en localStorage? Porque cualquier script inyectado podría leerlo; en memoria desaparece al cerrar la pestaña y la cookie HttpOnly no es accesible desde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backend nunca devuelve errores en formatos distintos: todos salen como {code, message, details}. code es estable y en inglés (TRIP_FULL, BOOKING_EXISTS, PRICE_ABOVE_MAX…); el frontend lo usa como clave para mostrar el mensaje en el idioma de la persona.
register_error_handlers en core/errors.py registra cinco manejadores: AppError (los errores de negocio que lanzan los servicios, con su propio código HTTP; NotFoundError y ForbiddenError son casos de AppError), HTTPException de Starlette, RequestValidationError de Pydantic (422 con la lista de campos que fallaron), RateLimitExceeded (429) y Exception, que atrapa cualquier error no previsto, lo registra con structlog y responde 500 INTERNAL_ERROR sin detalles internos (no se filtran trazas ni SQL al cliente).
Ejemplos reales: pedir más puestos de los libres → 409 TRIP_FULL con details.seats_available; reserva de otro conductor → 404 NOT_FOUND (no se revela que existe); token vencido → 401 UNAUTHORIZED, y el interceptor del frontend renueva la sesión y repite la petición.
Base de datos caída: no hay reintentos automáticos de la petición; responde 500 y el endpoint de salud /api/v1/health/ready permite detectarlo (lo usan Docker y 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juntamos todo en un solo recorrido real.
1) La pasajera abre el detalle del viaje y pulsa 'Solicitar cupo'.
2) El componente frontend/src/app/features/bookings/booking-panel.ts ejecuta submit(), que llama a request() en bookings.api.ts.
3) HttpClient envía POST /api/v1/trips/{trip_id}/bookings con el JSON del cuerpo; auth.interceptor.ts le agrega la cabecera Authorization: Bearer con el token. Nginx reenvía la petición al contenedor api.
4) FastAPI ejecuta request_booking (bookings/router.py): resuelve Passenger (quién es y si puede reservar), DbSession (la sesión de base de datos) y valida el cuerpo con BookingCreate.
5) BookingService.request aplica las reglas (viaje reservable, solo mujeres, sanciones, reserva repetida, cupo) y calcula el punto de encuentro sobre la ruta.
6) Se insertan la reserva (estado requested) y la notificación para el conductor, y se hace COMMIT. La reserva todavía no aparta el puesto: eso pasa cuando el conductor acepta.
7) La API responde 201 con BookingOut; además, después del commit, el aviso llega en vivo al conductor por WebSocket.
8) El frontend muestra el mensaje de éxito y recarga el viaje para mostrar el estado 'Solicitada'.
Los identificadores y nombres del ejemplo son ficticios; los nombres de campos son los reales de los esquemas BookingCreate y BookingOut.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proyecto se levanta con Docker, así que solo hace falta Docker instalado (y make, o el script make.ps1 en Windows).
make up copia .env.example a .env si no existe y levanta todos los contenedores. Al arrancar, el contenedor api ejecuta 'alembic upgrade head', así que las tablas se crean solas. make osrm y make tiles se ejecutan una sola vez: descargan el mapa y preparan los datos de rutas y el mapa base. make seed carga los datos iniciales (es idempotente: se puede repetir sin duplicar).
Variables: se listan solo los nombres, nunca los valores reales. Las importantes para la base son POSTGRES_* (crean el usuario y la base en el contenedor db) y DATABASE_URL (la que usa el backend). SECRET_KEY firma los tokens: en producción debe ser larga y secreta. SMTP_* define por dónde salen los correos: en desarrollo, Mailpit atrapa los correos en http://localhost:8025.
Advertencia: make clean y make restore cambian o borran los datos; no se deben ejecutar sobre un servidor de producción sin un respaldo verificado (make backup-check).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sean precisos con lo que se comprobó y lo que no.
Comprobado: la suite completa del backend (341 pruebas contra PostgreSQL real, con 95 % de cobertura) pasó después de agregar la autoría; ruff y mypy no reportan errores; la migración 0013 se probó subiendo, bajando y volviendo a subir, y 'alembic check' confirma que el esquema coincide con los modelos. La integración continua de GitHub Actions (backend, frontend, E2E e imágenes Docker) pasó en la ejecución anterior de main.
No comprobado en esta revisión: las pruebas E2E de Playwright y las unitarias del frontend no se volvieron a correr después del último cambio (que no tocó el frontend).
Limitaciones conocidas: la prueba E2E de registro depende de Mailpit para leer el código; si el .env apunta a Gmail, esa prueba falla. OSRM necesita generar los datos del mapa antes de calcular rutas. Los textos legales, las reglas de pico y placa y las coordenadas de los lugares cargados por el seed son de ejemplo y deben revisarse antes de un uso real. No hay pagos en línea ni notificaciones push: los avisos llegan dentro de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todo lo de esta diapositiva es propuesta; no está en el código.
Cada mejora sale de algo observado: la CI (.github/workflows/ci.yml) corre lint, pruebas, E2E y construcción de imágenes, pero no audita dependencias. El backend registra logs con structlog, pero no expone métricas. La búsqueda geográfica y el bloqueo de filas funcionan y tienen pruebas, pero no se han medido bajo carga. La prueba E2E de registro depende de Mailpit. La app no envía notificaciones push ni procesa pagos.
Posible pregunta: ¿cuál harían primero? Las de seguridad y operación (auditoría de dependencias, secretos y respaldos fuera del servidor), porque protegen los datos de los usuarios antes de abrir la plataforma a más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resuman en una frase cada idea. Carpool UP es una arquitectura cliente-servidor: un frontend en Angular que muestra y un backend en FastAPI que decide. El backend está organizado en módulos con capas iguales, lo que facilita mantenerlo. La base de datos no es solo almacenamiento: con transacciones, bloqueos y restricciones garantiza que no se sobrevendan puestos ni se pierda el historial; con PostGIS resuelve la búsqueda geográfica. El tiempo real funciona porque los eventos se publican en Redis solo cuando la base confirmó el cambio. Y todo está probado y se levanta con Docker.
Cierre: con esto la plataforma cumple su objetivo: que la comunidad universitaria comparta viajes de forma organizada, más barata y entre personas verificadas.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probables y respuestas cortas:
• ¿Dónde está la lógica de negocio? En el service.py de cada módulo de backend/app/modules.
• ¿Cómo se conecta a la base? DATABASE_URL en .env → config.py → create_async_engine en core/db.py → una AsyncSession por petición con get_session (core/deps.py la inyecta como DbSession).
• ¿Cómo evitan que dos personas tomen el último puesto? El conductor acepta con SELECT ... FOR UPDATE sobre el viaje (lock_trip), y se recuentan los puestos dentro de esa transacción.
• ¿Cómo llegan los avisos sin recargar? Después del commit se publica en Redis y el WebSocket /ws lo entrega al navegador.
• ¿Cómo se protege la contraseña? argon2id; nunca se guarda en texto plano.
• ¿Qué pasa si se cae la base? Las peticiones responden 500 INTERNAL_ERROR y /api/v1/health/ready responde 503.
• ¿Cuántas tablas y endpoints? 35 tablas y 144 operaciones HTTP más un WebSocket.
El repositorio es privado: para mostrarlo, invitar al docente como colaborador en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8001000" y="1051560"/>
            <a:ext cx="3566160" cy="3566160"/>
          </a:xfrm>
          <a:prstGeom prst="ellipse">
            <a:avLst/>
          </a:prstGeom>
          <a:solidFill>
            <a:srgbClr val="EAF3FF"/>
          </a:solidFill>
          <a:ln w="12700">
            <a:solidFill>
              <a:srgbClr val="EAF3FF"/>
            </a:solidFill>
            <a:prstDash val="solid"/>
          </a:ln>
        </p:spPr>
      </p:sp>
      <p:pic>
        <p:nvPicPr>
          <p:cNvPr id="3" name="Image 0" descr="Logo de Carpool UP">    </p:cNvPr>
          <p:cNvPicPr>
            <a:picLocks noChangeAspect="1"/>
          </p:cNvPicPr>
          <p:nvPr/>
        </p:nvPicPr>
        <p:blipFill>
          <a:blip r:embed="rId1"/>
          <a:stretch>
            <a:fillRect/>
          </a:stretch>
        </p:blipFill>
        <p:spPr>
          <a:xfrm>
            <a:off x="8183880" y="1234440"/>
            <a:ext cx="3200400" cy="3200400"/>
          </a:xfrm>
          <a:prstGeom prst="rect">
            <a:avLst/>
          </a:prstGeom>
        </p:spPr>
      </p:pic>
      <p:sp>
        <p:nvSpPr>
          <p:cNvPr id="4" name="Text 1"/>
          <p:cNvSpPr txBox="1"/>
          <p:nvPr/>
        </p:nvSpPr>
        <p:spPr>
          <a:xfrm>
            <a:off x="640080" y="914400"/>
            <a:ext cx="6949440" cy="320040"/>
          </a:xfrm>
          <a:prstGeom prst="rect">
            <a:avLst/>
          </a:prstGeom>
          <a:noFill/>
          <a:ln/>
        </p:spPr>
        <p:txBody>
          <a:bodyPr wrap="square" lIns="0" tIns="0" rIns="0" bIns="0" rtlCol="0" anchor="ctr"/>
          <a:lstStyle/>
          <a:p>
            <a:pPr indent="0" marL="0">
              <a:buNone/>
            </a:pPr>
            <a:r>
              <a:rPr lang="en-US" sz="1400" b="1" spc="200" kern="0" dirty="0">
                <a:solidFill>
                  <a:srgbClr val="3DDBA7"/>
                </a:solidFill>
                <a:latin typeface="Calibri" pitchFamily="34" charset="0"/>
                <a:ea typeface="Calibri" pitchFamily="34" charset="-122"/>
                <a:cs typeface="Calibri" pitchFamily="34" charset="-120"/>
              </a:rPr>
              <a:t>UNIVERSIDAD DE PAMPLONA · PRESENTACIÓN TÉCNICA</a:t>
            </a:r>
            <a:endParaRPr lang="en-US" sz="1400" dirty="0"/>
          </a:p>
        </p:txBody>
      </p:sp>
      <p:sp>
        <p:nvSpPr>
          <p:cNvPr id="5" name="Text 2"/>
          <p:cNvSpPr txBox="1"/>
          <p:nvPr/>
        </p:nvSpPr>
        <p:spPr>
          <a:xfrm>
            <a:off x="640080" y="1325880"/>
            <a:ext cx="694944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Carpool UP</a:t>
            </a:r>
            <a:endParaRPr lang="en-US" sz="6000" dirty="0"/>
          </a:p>
        </p:txBody>
      </p:sp>
      <p:sp>
        <p:nvSpPr>
          <p:cNvPr id="6" name="Text 3"/>
          <p:cNvSpPr txBox="1"/>
          <p:nvPr/>
        </p:nvSpPr>
        <p:spPr>
          <a:xfrm>
            <a:off x="640080" y="2377440"/>
            <a:ext cx="6949440" cy="1097280"/>
          </a:xfrm>
          <a:prstGeom prst="rect">
            <a:avLst/>
          </a:prstGeom>
          <a:noFill/>
          <a:ln/>
        </p:spPr>
        <p:txBody>
          <a:bodyPr wrap="square" lIns="0" tIns="0" rIns="0" bIns="0" rtlCol="0" anchor="t"/>
          <a:lstStyle/>
          <a:p>
            <a:pPr indent="0" marL="0">
              <a:buNone/>
            </a:pPr>
            <a:r>
              <a:rPr lang="en-US" sz="2400" dirty="0">
                <a:solidFill>
                  <a:srgbClr val="90C5FF"/>
                </a:solidFill>
                <a:latin typeface="Calibri" pitchFamily="34" charset="0"/>
                <a:ea typeface="Calibri" pitchFamily="34" charset="-122"/>
                <a:cs typeface="Calibri" pitchFamily="34" charset="-120"/>
              </a:rPr>
              <a:t>Arquitectura del sistema, funcionamiento del backend y conexión con la base de datos</a:t>
            </a:r>
            <a:endParaRPr lang="en-US" sz="2400" dirty="0"/>
          </a:p>
        </p:txBody>
      </p:sp>
      <p:sp>
        <p:nvSpPr>
          <p:cNvPr id="7" name="Text 4"/>
          <p:cNvSpPr txBox="1"/>
          <p:nvPr/>
        </p:nvSpPr>
        <p:spPr>
          <a:xfrm>
            <a:off x="640080" y="3977640"/>
            <a:ext cx="6949440" cy="365760"/>
          </a:xfrm>
          <a:prstGeom prst="rect">
            <a:avLst/>
          </a:prstGeom>
          <a:noFill/>
          <a:ln/>
        </p:spPr>
        <p:txBody>
          <a:bodyPr wrap="square" lIns="0" tIns="0" rIns="0" bIns="0" rtlCol="0" anchor="ctr"/>
          <a:lstStyle/>
          <a:p>
            <a:pPr indent="0" marL="0">
              <a:buNone/>
            </a:pPr>
            <a:r>
              <a:rPr lang="en-US" sz="1600" b="1" dirty="0">
                <a:solidFill>
                  <a:srgbClr val="3DDBA7"/>
                </a:solidFill>
                <a:latin typeface="Calibri" pitchFamily="34" charset="0"/>
                <a:ea typeface="Calibri" pitchFamily="34" charset="-122"/>
                <a:cs typeface="Calibri" pitchFamily="34" charset="-120"/>
              </a:rPr>
              <a:t>Integrantes:  </a:t>
            </a:r>
            <a:pPr indent="0" marL="0">
              <a:buNone/>
            </a:pPr>
            <a:r>
              <a:rPr lang="en-US" sz="1600" dirty="0">
                <a:solidFill>
                  <a:srgbClr val="D6E4FA"/>
                </a:solidFill>
                <a:latin typeface="Calibri" pitchFamily="34" charset="0"/>
                <a:ea typeface="Calibri" pitchFamily="34" charset="-122"/>
                <a:cs typeface="Calibri" pitchFamily="34" charset="-120"/>
              </a:rPr>
              <a:t>[Nombres de los integrantes]</a:t>
            </a:r>
            <a:endParaRPr lang="en-US" sz="1600" dirty="0"/>
          </a:p>
        </p:txBody>
      </p:sp>
      <p:sp>
        <p:nvSpPr>
          <p:cNvPr id="8" name="Text 5"/>
          <p:cNvSpPr txBox="1"/>
          <p:nvPr/>
        </p:nvSpPr>
        <p:spPr>
          <a:xfrm>
            <a:off x="640080" y="4389120"/>
            <a:ext cx="6949440" cy="365760"/>
          </a:xfrm>
          <a:prstGeom prst="rect">
            <a:avLst/>
          </a:prstGeom>
          <a:noFill/>
          <a:ln/>
        </p:spPr>
        <p:txBody>
          <a:bodyPr wrap="square" lIns="0" tIns="0" rIns="0" bIns="0" rtlCol="0" anchor="ctr"/>
          <a:lstStyle/>
          <a:p>
            <a:pPr indent="0" marL="0">
              <a:buNone/>
            </a:pPr>
            <a:r>
              <a:rPr lang="en-US" sz="1600" b="1" dirty="0">
                <a:solidFill>
                  <a:srgbClr val="3DDBA7"/>
                </a:solidFill>
                <a:latin typeface="Calibri" pitchFamily="34" charset="0"/>
                <a:ea typeface="Calibri" pitchFamily="34" charset="-122"/>
                <a:cs typeface="Calibri" pitchFamily="34" charset="-120"/>
              </a:rPr>
              <a:t>Asignatura:  </a:t>
            </a:r>
            <a:pPr indent="0" marL="0">
              <a:buNone/>
            </a:pPr>
            <a:r>
              <a:rPr lang="en-US" sz="1600" dirty="0">
                <a:solidFill>
                  <a:srgbClr val="D6E4FA"/>
                </a:solidFill>
                <a:latin typeface="Calibri" pitchFamily="34" charset="0"/>
                <a:ea typeface="Calibri" pitchFamily="34" charset="-122"/>
                <a:cs typeface="Calibri" pitchFamily="34" charset="-120"/>
              </a:rPr>
              <a:t>[Nombre de la asignatura]</a:t>
            </a:r>
            <a:endParaRPr lang="en-US" sz="1600" dirty="0"/>
          </a:p>
        </p:txBody>
      </p:sp>
      <p:sp>
        <p:nvSpPr>
          <p:cNvPr id="9" name="Text 6"/>
          <p:cNvSpPr txBox="1"/>
          <p:nvPr/>
        </p:nvSpPr>
        <p:spPr>
          <a:xfrm>
            <a:off x="640080" y="4800600"/>
            <a:ext cx="6949440" cy="365760"/>
          </a:xfrm>
          <a:prstGeom prst="rect">
            <a:avLst/>
          </a:prstGeom>
          <a:noFill/>
          <a:ln/>
        </p:spPr>
        <p:txBody>
          <a:bodyPr wrap="square" lIns="0" tIns="0" rIns="0" bIns="0" rtlCol="0" anchor="ctr"/>
          <a:lstStyle/>
          <a:p>
            <a:pPr indent="0" marL="0">
              <a:buNone/>
            </a:pPr>
            <a:r>
              <a:rPr lang="en-US" sz="1600" b="1" dirty="0">
                <a:solidFill>
                  <a:srgbClr val="3DDBA7"/>
                </a:solidFill>
                <a:latin typeface="Calibri" pitchFamily="34" charset="0"/>
                <a:ea typeface="Calibri" pitchFamily="34" charset="-122"/>
                <a:cs typeface="Calibri" pitchFamily="34" charset="-120"/>
              </a:rPr>
              <a:t>Docente:  </a:t>
            </a:r>
            <a:pPr indent="0" marL="0">
              <a:buNone/>
            </a:pPr>
            <a:r>
              <a:rPr lang="en-US" sz="1600" dirty="0">
                <a:solidFill>
                  <a:srgbClr val="D6E4FA"/>
                </a:solidFill>
                <a:latin typeface="Calibri" pitchFamily="34" charset="0"/>
                <a:ea typeface="Calibri" pitchFamily="34" charset="-122"/>
                <a:cs typeface="Calibri" pitchFamily="34" charset="-120"/>
              </a:rPr>
              <a:t>[Nombre del docente]</a:t>
            </a:r>
            <a:endParaRPr lang="en-US" sz="1600" dirty="0"/>
          </a:p>
        </p:txBody>
      </p:sp>
      <p:sp>
        <p:nvSpPr>
          <p:cNvPr id="10" name="Text 7"/>
          <p:cNvSpPr txBox="1"/>
          <p:nvPr/>
        </p:nvSpPr>
        <p:spPr>
          <a:xfrm>
            <a:off x="640080" y="5212080"/>
            <a:ext cx="6949440" cy="365760"/>
          </a:xfrm>
          <a:prstGeom prst="rect">
            <a:avLst/>
          </a:prstGeom>
          <a:noFill/>
          <a:ln/>
        </p:spPr>
        <p:txBody>
          <a:bodyPr wrap="square" lIns="0" tIns="0" rIns="0" bIns="0" rtlCol="0" anchor="ctr"/>
          <a:lstStyle/>
          <a:p>
            <a:pPr indent="0" marL="0">
              <a:buNone/>
            </a:pPr>
            <a:r>
              <a:rPr lang="en-US" sz="1600" b="1" dirty="0">
                <a:solidFill>
                  <a:srgbClr val="3DDBA7"/>
                </a:solidFill>
                <a:latin typeface="Calibri" pitchFamily="34" charset="0"/>
                <a:ea typeface="Calibri" pitchFamily="34" charset="-122"/>
                <a:cs typeface="Calibri" pitchFamily="34" charset="-120"/>
              </a:rPr>
              <a:t>Fecha:  </a:t>
            </a:r>
            <a:pPr indent="0" marL="0">
              <a:buNone/>
            </a:pPr>
            <a:r>
              <a:rPr lang="en-US" sz="1600" dirty="0">
                <a:solidFill>
                  <a:srgbClr val="D6E4FA"/>
                </a:solidFill>
                <a:latin typeface="Calibri" pitchFamily="34" charset="0"/>
                <a:ea typeface="Calibri" pitchFamily="34" charset="-122"/>
                <a:cs typeface="Calibri" pitchFamily="34" charset="-120"/>
              </a:rPr>
              <a:t>Octubre de 2026</a:t>
            </a:r>
            <a:endParaRPr lang="en-US" sz="1600" dirty="0"/>
          </a:p>
        </p:txBody>
      </p:sp>
      <p:sp>
        <p:nvSpPr>
          <p:cNvPr id="11" name="Text 8"/>
          <p:cNvSpPr txBox="1"/>
          <p:nvPr/>
        </p:nvSpPr>
        <p:spPr>
          <a:xfrm>
            <a:off x="7726680" y="4937760"/>
            <a:ext cx="4114800" cy="548640"/>
          </a:xfrm>
          <a:prstGeom prst="rect">
            <a:avLst/>
          </a:prstGeom>
          <a:noFill/>
          <a:ln/>
        </p:spPr>
        <p:txBody>
          <a:bodyPr wrap="square" lIns="0" tIns="0" rIns="0" bIns="0" rtlCol="0" anchor="ctr"/>
          <a:lstStyle/>
          <a:p>
            <a:pPr algn="ctr" indent="0" marL="0">
              <a:buNone/>
            </a:pPr>
            <a:r>
              <a:rPr lang="en-US" sz="1400" i="1" dirty="0">
                <a:solidFill>
                  <a:srgbClr val="D6E4FA"/>
                </a:solidFill>
                <a:latin typeface="Calibri" pitchFamily="34" charset="0"/>
                <a:ea typeface="Calibri" pitchFamily="34" charset="-122"/>
                <a:cs typeface="Calibri" pitchFamily="34" charset="-120"/>
              </a:rPr>
              <a:t>Plataforma de viajes compartidos para la comunidad universitaria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EL PROYECTO</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¿Qué es Carpool UP?</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Introducción</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2</a:t>
            </a:r>
            <a:endParaRPr lang="en-US" sz="1100" dirty="0"/>
          </a:p>
        </p:txBody>
      </p:sp>
      <p:sp>
        <p:nvSpPr>
          <p:cNvPr id="6" name="Text 4"/>
          <p:cNvSpPr txBox="1"/>
          <p:nvPr/>
        </p:nvSpPr>
        <p:spPr>
          <a:xfrm>
            <a:off x="548640" y="1371600"/>
            <a:ext cx="11064240" cy="685800"/>
          </a:xfrm>
          <a:prstGeom prst="rect">
            <a:avLst/>
          </a:prstGeom>
          <a:noFill/>
          <a:ln/>
        </p:spPr>
        <p:txBody>
          <a:bodyPr wrap="square" lIns="0" tIns="0" rIns="0" bIns="0" rtlCol="0" anchor="ctr"/>
          <a:lstStyle/>
          <a:p>
            <a:pPr indent="0" marL="0">
              <a:buNone/>
            </a:pPr>
            <a:r>
              <a:rPr lang="en-US" sz="1700" dirty="0">
                <a:solidFill>
                  <a:srgbClr val="33415C"/>
                </a:solidFill>
                <a:latin typeface="Calibri" pitchFamily="34" charset="0"/>
                <a:ea typeface="Calibri" pitchFamily="34" charset="-122"/>
                <a:cs typeface="Calibri" pitchFamily="34" charset="-120"/>
              </a:rPr>
              <a:t>Una plataforma web para que estudiantes y personal de la Universidad de Pamplona compartan trayectos en carro o moto dentro de Pamplona, solo entre personas verificadas de la comunidad.</a:t>
            </a:r>
            <a:endParaRPr lang="en-US" sz="1700" dirty="0"/>
          </a:p>
        </p:txBody>
      </p:sp>
      <p:sp>
        <p:nvSpPr>
          <p:cNvPr id="7" name="Text 5"/>
          <p:cNvSpPr txBox="1"/>
          <p:nvPr/>
        </p:nvSpPr>
        <p:spPr>
          <a:xfrm>
            <a:off x="548640" y="2194560"/>
            <a:ext cx="2651760" cy="960120"/>
          </a:xfrm>
          <a:prstGeom prst="roundRect">
            <a:avLst>
              <a:gd name="adj" fmla="val 7619"/>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Pasajero</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Busca viajes cerca de su ruta y pide cupo</a:t>
            </a:r>
            <a:endParaRPr lang="en-US" sz="1600" dirty="0"/>
          </a:p>
        </p:txBody>
      </p:sp>
      <p:sp>
        <p:nvSpPr>
          <p:cNvPr id="8" name="Text 6"/>
          <p:cNvSpPr txBox="1"/>
          <p:nvPr/>
        </p:nvSpPr>
        <p:spPr>
          <a:xfrm>
            <a:off x="3364992" y="2194560"/>
            <a:ext cx="2651760" cy="960120"/>
          </a:xfrm>
          <a:prstGeom prst="roundRect">
            <a:avLst>
              <a:gd name="adj" fmla="val 7619"/>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Conductor</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Registra vehículo y licencia, publica viajes</a:t>
            </a:r>
            <a:endParaRPr lang="en-US" sz="1600" dirty="0"/>
          </a:p>
        </p:txBody>
      </p:sp>
      <p:sp>
        <p:nvSpPr>
          <p:cNvPr id="9" name="Text 7"/>
          <p:cNvSpPr txBox="1"/>
          <p:nvPr/>
        </p:nvSpPr>
        <p:spPr>
          <a:xfrm>
            <a:off x="6181344" y="2194560"/>
            <a:ext cx="2651760" cy="960120"/>
          </a:xfrm>
          <a:prstGeom prst="roundRect">
            <a:avLst>
              <a:gd name="adj" fmla="val 7619"/>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Administrador</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Aprueba carnés y licencias, modera, atiende emergencias</a:t>
            </a:r>
            <a:endParaRPr lang="en-US" sz="1600" dirty="0"/>
          </a:p>
        </p:txBody>
      </p:sp>
      <p:sp>
        <p:nvSpPr>
          <p:cNvPr id="10" name="Text 8"/>
          <p:cNvSpPr txBox="1"/>
          <p:nvPr/>
        </p:nvSpPr>
        <p:spPr>
          <a:xfrm>
            <a:off x="8997696" y="2194560"/>
            <a:ext cx="2651760" cy="960120"/>
          </a:xfrm>
          <a:prstGeom prst="roundRect">
            <a:avLst>
              <a:gd name="adj" fmla="val 7619"/>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Superadmin</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Configura reglas, semestres, lugares y pico y placa</a:t>
            </a:r>
            <a:endParaRPr lang="en-US" sz="1600" dirty="0"/>
          </a:p>
        </p:txBody>
      </p:sp>
      <p:sp>
        <p:nvSpPr>
          <p:cNvPr id="11" name="Text 9"/>
          <p:cNvSpPr txBox="1"/>
          <p:nvPr/>
        </p:nvSpPr>
        <p:spPr>
          <a:xfrm>
            <a:off x="548640" y="3429000"/>
            <a:ext cx="5440680" cy="411480"/>
          </a:xfrm>
          <a:prstGeom prst="roundRect">
            <a:avLst>
              <a:gd name="adj" fmla="val 17778"/>
            </a:avLst>
          </a:prstGeom>
          <a:solidFill>
            <a:srgbClr val="0A1F44"/>
          </a:solidFill>
          <a:ln w="12700">
            <a:solidFill>
              <a:srgbClr val="0A1F44"/>
            </a:solid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Objetivos del proyecto</a:t>
            </a:r>
            <a:endParaRPr lang="en-US" sz="1500" dirty="0"/>
          </a:p>
        </p:txBody>
      </p:sp>
      <p:sp>
        <p:nvSpPr>
          <p:cNvPr id="12" name="Text 10"/>
          <p:cNvSpPr txBox="1"/>
          <p:nvPr/>
        </p:nvSpPr>
        <p:spPr>
          <a:xfrm>
            <a:off x="685800" y="3950208"/>
            <a:ext cx="5212080" cy="237744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Bajar el costo de ir y volver de la universidad compartiendo gastos</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Aprovechar los puestos vacíos de quienes ya hacen la misma ruta</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Dar confianza: solo entra quien tiene correo institucional y carné aprobado</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Organizar los desplazamientos con horarios, rutas y reglas claras</a:t>
            </a:r>
            <a:endParaRPr lang="en-US" sz="1400" dirty="0"/>
          </a:p>
        </p:txBody>
      </p:sp>
      <p:sp>
        <p:nvSpPr>
          <p:cNvPr id="13" name="Text 11"/>
          <p:cNvSpPr txBox="1"/>
          <p:nvPr/>
        </p:nvSpPr>
        <p:spPr>
          <a:xfrm>
            <a:off x="6172200" y="3429000"/>
            <a:ext cx="5440680" cy="411480"/>
          </a:xfrm>
          <a:prstGeom prst="roundRect">
            <a:avLst>
              <a:gd name="adj" fmla="val 17778"/>
            </a:avLst>
          </a:prstGeom>
          <a:solidFill>
            <a:srgbClr val="0B7556"/>
          </a:solidFill>
          <a:ln w="12700">
            <a:solidFill>
              <a:srgbClr val="0B7556"/>
            </a:solid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Ya implementado en el código</a:t>
            </a:r>
            <a:endParaRPr lang="en-US" sz="1500" dirty="0"/>
          </a:p>
        </p:txBody>
      </p:sp>
      <p:sp>
        <p:nvSpPr>
          <p:cNvPr id="14" name="Text 12"/>
          <p:cNvSpPr txBox="1"/>
          <p:nvPr/>
        </p:nvSpPr>
        <p:spPr>
          <a:xfrm>
            <a:off x="6309360" y="3950208"/>
            <a:ext cx="5212080" cy="237744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Registro con correo .edu.co, carné y aprobación de un administrador</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Publicar viajes y series, búsqueda geográfica sobre la ruta (PostGIS)</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Reservas con aprobación, lista de espera y cancelaciones</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Chat y avisos en tiempo real, viaje en vivo, tickets y calificaciones</a:t>
            </a:r>
            <a:endParaRPr lang="en-US" sz="1400" dirty="0"/>
          </a:p>
          <a:p>
            <a:pPr marL="228600" indent="-228600">
              <a:spcAft>
                <a:spcPts val="600"/>
              </a:spcAft>
              <a:buSzPct val="100000"/>
              <a:buChar char="•"/>
            </a:pPr>
            <a:r>
              <a:rPr lang="en-US" sz="1400" dirty="0">
                <a:solidFill>
                  <a:srgbClr val="33415C"/>
                </a:solidFill>
                <a:latin typeface="Calibri" pitchFamily="34" charset="0"/>
                <a:ea typeface="Calibri" pitchFamily="34" charset="-122"/>
                <a:cs typeface="Calibri" pitchFamily="34" charset="-120"/>
              </a:rPr>
              <a:t>Panel de administración auditado. El pago del aporte se acuerda fuera de la app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POR QUÉ EXISTE</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Problema y solución propuesta</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Introducción</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3</a:t>
            </a:r>
            <a:endParaRPr lang="en-US" sz="1100" dirty="0"/>
          </a:p>
        </p:txBody>
      </p:sp>
      <p:sp>
        <p:nvSpPr>
          <p:cNvPr id="6" name="Text 4"/>
          <p:cNvSpPr txBox="1"/>
          <p:nvPr/>
        </p:nvSpPr>
        <p:spPr>
          <a:xfrm>
            <a:off x="548640" y="1371600"/>
            <a:ext cx="3291840" cy="320040"/>
          </a:xfrm>
          <a:prstGeom prst="rect">
            <a:avLst/>
          </a:prstGeom>
          <a:noFill/>
          <a:ln/>
        </p:spPr>
        <p:txBody>
          <a:bodyPr wrap="square" lIns="0" tIns="0" rIns="0" bIns="0" rtlCol="0" anchor="ctr"/>
          <a:lstStyle/>
          <a:p>
            <a:pPr indent="0" marL="0">
              <a:buNone/>
            </a:pPr>
            <a:r>
              <a:rPr lang="en-US" sz="1600" b="1" dirty="0">
                <a:solidFill>
                  <a:srgbClr val="BA372A"/>
                </a:solidFill>
                <a:latin typeface="Calibri" pitchFamily="34" charset="0"/>
                <a:ea typeface="Calibri" pitchFamily="34" charset="-122"/>
                <a:cs typeface="Calibri" pitchFamily="34" charset="-120"/>
              </a:rPr>
              <a:t>Problema</a:t>
            </a:r>
            <a:endParaRPr lang="en-US" sz="1600" dirty="0"/>
          </a:p>
        </p:txBody>
      </p:sp>
      <p:sp>
        <p:nvSpPr>
          <p:cNvPr id="7" name="Text 5"/>
          <p:cNvSpPr txBox="1"/>
          <p:nvPr/>
        </p:nvSpPr>
        <p:spPr>
          <a:xfrm>
            <a:off x="4434840" y="1371600"/>
            <a:ext cx="4114800" cy="320040"/>
          </a:xfrm>
          <a:prstGeom prst="rect">
            <a:avLst/>
          </a:prstGeom>
          <a:noFill/>
          <a:ln/>
        </p:spPr>
        <p:txBody>
          <a:bodyPr wrap="square" lIns="0" tIns="0" rIns="0" bIns="0" rtlCol="0" anchor="ctr"/>
          <a:lstStyle/>
          <a:p>
            <a:pPr indent="0" marL="0">
              <a:buNone/>
            </a:pPr>
            <a:r>
              <a:rPr lang="en-US" sz="1600" b="1" dirty="0">
                <a:solidFill>
                  <a:srgbClr val="0B7556"/>
                </a:solidFill>
                <a:latin typeface="Calibri" pitchFamily="34" charset="0"/>
                <a:ea typeface="Calibri" pitchFamily="34" charset="-122"/>
                <a:cs typeface="Calibri" pitchFamily="34" charset="-120"/>
              </a:rPr>
              <a:t>Solución en Carpool UP</a:t>
            </a:r>
            <a:endParaRPr lang="en-US" sz="1600" dirty="0"/>
          </a:p>
        </p:txBody>
      </p:sp>
      <p:sp>
        <p:nvSpPr>
          <p:cNvPr id="8" name="Text 6"/>
          <p:cNvSpPr txBox="1"/>
          <p:nvPr/>
        </p:nvSpPr>
        <p:spPr>
          <a:xfrm>
            <a:off x="548640" y="1783080"/>
            <a:ext cx="3291840" cy="1234440"/>
          </a:xfrm>
          <a:prstGeom prst="roundRect">
            <a:avLst>
              <a:gd name="adj" fmla="val 5926"/>
            </a:avLst>
          </a:prstGeom>
          <a:solidFill>
            <a:srgbClr val="FDECEA"/>
          </a:solidFill>
          <a:ln w="12700">
            <a:solidFill>
              <a:srgbClr val="FDECEA"/>
            </a:solidFill>
          </a:ln>
        </p:spPr>
        <p:txBody>
          <a:bodyPr wrap="square" lIns="127000" tIns="127000" rIns="127000" bIns="127000" rtlCol="0" anchor="ctr"/>
          <a:lstStyle/>
          <a:p>
            <a:pPr algn="l" indent="0" marL="0">
              <a:buNone/>
            </a:pPr>
            <a:r>
              <a:rPr lang="en-US" sz="1600" b="1" dirty="0">
                <a:solidFill>
                  <a:srgbClr val="0A1F44"/>
                </a:solidFill>
                <a:latin typeface="Calibri" pitchFamily="34" charset="0"/>
                <a:ea typeface="Calibri" pitchFamily="34" charset="-122"/>
                <a:cs typeface="Calibri" pitchFamily="34" charset="-120"/>
              </a:rPr>
              <a:t>Transporte caro</a:t>
            </a:r>
            <a:endParaRPr lang="en-US" sz="1600" dirty="0"/>
          </a:p>
          <a:p>
            <a:pPr algn="l" indent="0" marL="0">
              <a:buNone/>
            </a:pPr>
            <a:r>
              <a:rPr lang="en-US" sz="1300" dirty="0">
                <a:solidFill>
                  <a:srgbClr val="33415C"/>
                </a:solidFill>
                <a:latin typeface="Calibri" pitchFamily="34" charset="0"/>
                <a:ea typeface="Calibri" pitchFamily="34" charset="-122"/>
                <a:cs typeface="Calibri" pitchFamily="34" charset="-120"/>
              </a:rPr>
              <a:t>Ir y volver todos los días suma mucho para un estudiante</a:t>
            </a:r>
            <a:endParaRPr lang="en-US" sz="1600" dirty="0"/>
          </a:p>
        </p:txBody>
      </p:sp>
      <p:sp>
        <p:nvSpPr>
          <p:cNvPr id="9" name="Shape 7"/>
          <p:cNvSpPr/>
          <p:nvPr/>
        </p:nvSpPr>
        <p:spPr>
          <a:xfrm>
            <a:off x="3931920" y="2395728"/>
            <a:ext cx="411480" cy="914"/>
          </a:xfrm>
          <a:prstGeom prst="line">
            <a:avLst/>
          </a:prstGeom>
          <a:noFill/>
          <a:ln w="25400">
            <a:solidFill>
              <a:srgbClr val="5B6B85"/>
            </a:solidFill>
            <a:prstDash val="solid"/>
            <a:tailEnd type="triangle"/>
          </a:ln>
        </p:spPr>
      </p:sp>
      <p:sp>
        <p:nvSpPr>
          <p:cNvPr id="10" name="Text 8"/>
          <p:cNvSpPr txBox="1"/>
          <p:nvPr/>
        </p:nvSpPr>
        <p:spPr>
          <a:xfrm>
            <a:off x="4434840" y="1783080"/>
            <a:ext cx="4114800" cy="1234440"/>
          </a:xfrm>
          <a:prstGeom prst="roundRect">
            <a:avLst>
              <a:gd name="adj" fmla="val 5926"/>
            </a:avLst>
          </a:prstGeom>
          <a:solidFill>
            <a:srgbClr val="E3F5EE"/>
          </a:solidFill>
          <a:ln w="12700">
            <a:solidFill>
              <a:srgbClr val="E3F5EE"/>
            </a:solidFill>
          </a:ln>
        </p:spPr>
        <p:txBody>
          <a:bodyPr wrap="square" lIns="127000" tIns="127000" rIns="127000" bIns="127000" rtlCol="0" anchor="ctr"/>
          <a:lstStyle/>
          <a:p>
            <a:pPr algn="l" indent="0" marL="0">
              <a:buNone/>
            </a:pPr>
            <a:r>
              <a:rPr lang="en-US" sz="1600" b="1" dirty="0">
                <a:solidFill>
                  <a:srgbClr val="0A1F44"/>
                </a:solidFill>
                <a:latin typeface="Calibri" pitchFamily="34" charset="0"/>
                <a:ea typeface="Calibri" pitchFamily="34" charset="-122"/>
                <a:cs typeface="Calibri" pitchFamily="34" charset="-120"/>
              </a:rPr>
              <a:t>Aporte sugerido</a:t>
            </a:r>
            <a:endParaRPr lang="en-US" sz="1600" dirty="0"/>
          </a:p>
          <a:p>
            <a:pPr algn="l" indent="0" marL="0">
              <a:buNone/>
            </a:pPr>
            <a:r>
              <a:rPr lang="en-US" sz="1300" dirty="0">
                <a:solidFill>
                  <a:srgbClr val="33415C"/>
                </a:solidFill>
                <a:latin typeface="Calibri" pitchFamily="34" charset="0"/>
                <a:ea typeface="Calibri" pitchFamily="34" charset="-122"/>
                <a:cs typeface="Calibri" pitchFamily="34" charset="-120"/>
              </a:rPr>
              <a:t>La app calcula un aporte por puesto según la distancia (costo por km configurable)</a:t>
            </a:r>
            <a:endParaRPr lang="en-US" sz="1600" dirty="0"/>
          </a:p>
        </p:txBody>
      </p:sp>
      <p:sp>
        <p:nvSpPr>
          <p:cNvPr id="11" name="Text 9"/>
          <p:cNvSpPr txBox="1"/>
          <p:nvPr/>
        </p:nvSpPr>
        <p:spPr>
          <a:xfrm>
            <a:off x="548640" y="3246120"/>
            <a:ext cx="3291840" cy="1234440"/>
          </a:xfrm>
          <a:prstGeom prst="roundRect">
            <a:avLst>
              <a:gd name="adj" fmla="val 5926"/>
            </a:avLst>
          </a:prstGeom>
          <a:solidFill>
            <a:srgbClr val="FDECEA"/>
          </a:solidFill>
          <a:ln w="12700">
            <a:solidFill>
              <a:srgbClr val="FDECEA"/>
            </a:solidFill>
          </a:ln>
        </p:spPr>
        <p:txBody>
          <a:bodyPr wrap="square" lIns="127000" tIns="127000" rIns="127000" bIns="127000" rtlCol="0" anchor="ctr"/>
          <a:lstStyle/>
          <a:p>
            <a:pPr algn="l" indent="0" marL="0">
              <a:buNone/>
            </a:pPr>
            <a:r>
              <a:rPr lang="en-US" sz="1600" b="1" dirty="0">
                <a:solidFill>
                  <a:srgbClr val="0A1F44"/>
                </a:solidFill>
                <a:latin typeface="Calibri" pitchFamily="34" charset="0"/>
                <a:ea typeface="Calibri" pitchFamily="34" charset="-122"/>
                <a:cs typeface="Calibri" pitchFamily="34" charset="-120"/>
              </a:rPr>
              <a:t>Puestos vacíos</a:t>
            </a:r>
            <a:endParaRPr lang="en-US" sz="1600" dirty="0"/>
          </a:p>
          <a:p>
            <a:pPr algn="l" indent="0" marL="0">
              <a:buNone/>
            </a:pPr>
            <a:r>
              <a:rPr lang="en-US" sz="1300" dirty="0">
                <a:solidFill>
                  <a:srgbClr val="33415C"/>
                </a:solidFill>
                <a:latin typeface="Calibri" pitchFamily="34" charset="0"/>
                <a:ea typeface="Calibri" pitchFamily="34" charset="-122"/>
                <a:cs typeface="Calibri" pitchFamily="34" charset="-120"/>
              </a:rPr>
              <a:t>Muchos carros hacen la misma ruta casi vacíos</a:t>
            </a:r>
            <a:endParaRPr lang="en-US" sz="1600" dirty="0"/>
          </a:p>
        </p:txBody>
      </p:sp>
      <p:sp>
        <p:nvSpPr>
          <p:cNvPr id="12" name="Shape 10"/>
          <p:cNvSpPr/>
          <p:nvPr/>
        </p:nvSpPr>
        <p:spPr>
          <a:xfrm>
            <a:off x="3931920" y="3858768"/>
            <a:ext cx="411480" cy="914"/>
          </a:xfrm>
          <a:prstGeom prst="line">
            <a:avLst/>
          </a:prstGeom>
          <a:noFill/>
          <a:ln w="25400">
            <a:solidFill>
              <a:srgbClr val="5B6B85"/>
            </a:solidFill>
            <a:prstDash val="solid"/>
            <a:tailEnd type="triangle"/>
          </a:ln>
        </p:spPr>
      </p:sp>
      <p:sp>
        <p:nvSpPr>
          <p:cNvPr id="13" name="Text 11"/>
          <p:cNvSpPr txBox="1"/>
          <p:nvPr/>
        </p:nvSpPr>
        <p:spPr>
          <a:xfrm>
            <a:off x="4434840" y="3246120"/>
            <a:ext cx="4114800" cy="1234440"/>
          </a:xfrm>
          <a:prstGeom prst="roundRect">
            <a:avLst>
              <a:gd name="adj" fmla="val 5926"/>
            </a:avLst>
          </a:prstGeom>
          <a:solidFill>
            <a:srgbClr val="E3F5EE"/>
          </a:solidFill>
          <a:ln w="12700">
            <a:solidFill>
              <a:srgbClr val="E3F5EE"/>
            </a:solidFill>
          </a:ln>
        </p:spPr>
        <p:txBody>
          <a:bodyPr wrap="square" lIns="127000" tIns="127000" rIns="127000" bIns="127000" rtlCol="0" anchor="ctr"/>
          <a:lstStyle/>
          <a:p>
            <a:pPr algn="l" indent="0" marL="0">
              <a:buNone/>
            </a:pPr>
            <a:r>
              <a:rPr lang="en-US" sz="1600" b="1" dirty="0">
                <a:solidFill>
                  <a:srgbClr val="0A1F44"/>
                </a:solidFill>
                <a:latin typeface="Calibri" pitchFamily="34" charset="0"/>
                <a:ea typeface="Calibri" pitchFamily="34" charset="-122"/>
                <a:cs typeface="Calibri" pitchFamily="34" charset="-120"/>
              </a:rPr>
              <a:t>Búsqueda por ruta</a:t>
            </a:r>
            <a:endParaRPr lang="en-US" sz="1600" dirty="0"/>
          </a:p>
          <a:p>
            <a:pPr algn="l" indent="0" marL="0">
              <a:buNone/>
            </a:pPr>
            <a:r>
              <a:rPr lang="en-US" sz="1300" dirty="0">
                <a:solidFill>
                  <a:srgbClr val="33415C"/>
                </a:solidFill>
                <a:latin typeface="Calibri" pitchFamily="34" charset="0"/>
                <a:ea typeface="Calibri" pitchFamily="34" charset="-122"/>
                <a:cs typeface="Calibri" pitchFamily="34" charset="-120"/>
              </a:rPr>
              <a:t>Encuentra viajes cuya ruta pasa a menos de 500 m de tu punto de recogida</a:t>
            </a:r>
            <a:endParaRPr lang="en-US" sz="1600" dirty="0"/>
          </a:p>
        </p:txBody>
      </p:sp>
      <p:sp>
        <p:nvSpPr>
          <p:cNvPr id="14" name="Text 12"/>
          <p:cNvSpPr txBox="1"/>
          <p:nvPr/>
        </p:nvSpPr>
        <p:spPr>
          <a:xfrm>
            <a:off x="548640" y="4709160"/>
            <a:ext cx="3291840" cy="1234440"/>
          </a:xfrm>
          <a:prstGeom prst="roundRect">
            <a:avLst>
              <a:gd name="adj" fmla="val 5926"/>
            </a:avLst>
          </a:prstGeom>
          <a:solidFill>
            <a:srgbClr val="FDECEA"/>
          </a:solidFill>
          <a:ln w="12700">
            <a:solidFill>
              <a:srgbClr val="FDECEA"/>
            </a:solidFill>
          </a:ln>
        </p:spPr>
        <p:txBody>
          <a:bodyPr wrap="square" lIns="127000" tIns="127000" rIns="127000" bIns="127000" rtlCol="0" anchor="ctr"/>
          <a:lstStyle/>
          <a:p>
            <a:pPr algn="l" indent="0" marL="0">
              <a:buNone/>
            </a:pPr>
            <a:r>
              <a:rPr lang="en-US" sz="1600" b="1" dirty="0">
                <a:solidFill>
                  <a:srgbClr val="0A1F44"/>
                </a:solidFill>
                <a:latin typeface="Calibri" pitchFamily="34" charset="0"/>
                <a:ea typeface="Calibri" pitchFamily="34" charset="-122"/>
                <a:cs typeface="Calibri" pitchFamily="34" charset="-120"/>
              </a:rPr>
              <a:t>Desconfianza</a:t>
            </a:r>
            <a:endParaRPr lang="en-US" sz="1600" dirty="0"/>
          </a:p>
          <a:p>
            <a:pPr algn="l" indent="0" marL="0">
              <a:buNone/>
            </a:pPr>
            <a:r>
              <a:rPr lang="en-US" sz="1300" dirty="0">
                <a:solidFill>
                  <a:srgbClr val="33415C"/>
                </a:solidFill>
                <a:latin typeface="Calibri" pitchFamily="34" charset="0"/>
                <a:ea typeface="Calibri" pitchFamily="34" charset="-122"/>
                <a:cs typeface="Calibri" pitchFamily="34" charset="-120"/>
              </a:rPr>
              <a:t>Subirse con desconocidos es un riesgo</a:t>
            </a:r>
            <a:endParaRPr lang="en-US" sz="1600" dirty="0"/>
          </a:p>
        </p:txBody>
      </p:sp>
      <p:sp>
        <p:nvSpPr>
          <p:cNvPr id="15" name="Shape 13"/>
          <p:cNvSpPr/>
          <p:nvPr/>
        </p:nvSpPr>
        <p:spPr>
          <a:xfrm>
            <a:off x="3931920" y="5321808"/>
            <a:ext cx="411480" cy="914"/>
          </a:xfrm>
          <a:prstGeom prst="line">
            <a:avLst/>
          </a:prstGeom>
          <a:noFill/>
          <a:ln w="25400">
            <a:solidFill>
              <a:srgbClr val="5B6B85"/>
            </a:solidFill>
            <a:prstDash val="solid"/>
            <a:tailEnd type="triangle"/>
          </a:ln>
        </p:spPr>
      </p:sp>
      <p:sp>
        <p:nvSpPr>
          <p:cNvPr id="16" name="Text 14"/>
          <p:cNvSpPr txBox="1"/>
          <p:nvPr/>
        </p:nvSpPr>
        <p:spPr>
          <a:xfrm>
            <a:off x="4434840" y="4709160"/>
            <a:ext cx="4114800" cy="1234440"/>
          </a:xfrm>
          <a:prstGeom prst="roundRect">
            <a:avLst>
              <a:gd name="adj" fmla="val 5926"/>
            </a:avLst>
          </a:prstGeom>
          <a:solidFill>
            <a:srgbClr val="E3F5EE"/>
          </a:solidFill>
          <a:ln w="12700">
            <a:solidFill>
              <a:srgbClr val="E3F5EE"/>
            </a:solidFill>
          </a:ln>
        </p:spPr>
        <p:txBody>
          <a:bodyPr wrap="square" lIns="127000" tIns="127000" rIns="127000" bIns="127000" rtlCol="0" anchor="ctr"/>
          <a:lstStyle/>
          <a:p>
            <a:pPr algn="l" indent="0" marL="0">
              <a:buNone/>
            </a:pPr>
            <a:r>
              <a:rPr lang="en-US" sz="1600" b="1" dirty="0">
                <a:solidFill>
                  <a:srgbClr val="0A1F44"/>
                </a:solidFill>
                <a:latin typeface="Calibri" pitchFamily="34" charset="0"/>
                <a:ea typeface="Calibri" pitchFamily="34" charset="-122"/>
                <a:cs typeface="Calibri" pitchFamily="34" charset="-120"/>
              </a:rPr>
              <a:t>Comunidad verificada</a:t>
            </a:r>
            <a:endParaRPr lang="en-US" sz="1600" dirty="0"/>
          </a:p>
          <a:p>
            <a:pPr algn="l" indent="0" marL="0">
              <a:buNone/>
            </a:pPr>
            <a:r>
              <a:rPr lang="en-US" sz="1300" dirty="0">
                <a:solidFill>
                  <a:srgbClr val="33415C"/>
                </a:solidFill>
                <a:latin typeface="Calibri" pitchFamily="34" charset="0"/>
                <a:ea typeface="Calibri" pitchFamily="34" charset="-122"/>
                <a:cs typeface="Calibri" pitchFamily="34" charset="-120"/>
              </a:rPr>
              <a:t>Correo institucional, carné aprobado, calificaciones y botón de emergencia</a:t>
            </a:r>
            <a:endParaRPr lang="en-US" sz="1600" dirty="0"/>
          </a:p>
        </p:txBody>
      </p:sp>
      <p:pic>
        <p:nvPicPr>
          <p:cNvPr id="17" name="Image 0" descr="Ilustración de una pasajera llegando al carro del conductor">    </p:cNvPr>
          <p:cNvPicPr>
            <a:picLocks noChangeAspect="1"/>
          </p:cNvPicPr>
          <p:nvPr/>
        </p:nvPicPr>
        <p:blipFill>
          <a:blip r:embed="rId1"/>
          <a:stretch>
            <a:fillRect/>
          </a:stretch>
        </p:blipFill>
        <p:spPr>
          <a:xfrm>
            <a:off x="8869680" y="1828800"/>
            <a:ext cx="2834640" cy="1892808"/>
          </a:xfrm>
          <a:prstGeom prst="rect">
            <a:avLst/>
          </a:prstGeom>
        </p:spPr>
      </p:pic>
      <p:sp>
        <p:nvSpPr>
          <p:cNvPr id="18" name="Text 15"/>
          <p:cNvSpPr txBox="1"/>
          <p:nvPr/>
        </p:nvSpPr>
        <p:spPr>
          <a:xfrm>
            <a:off x="8778240" y="4023360"/>
            <a:ext cx="2926080" cy="1737360"/>
          </a:xfrm>
          <a:prstGeom prst="rect">
            <a:avLst/>
          </a:prstGeom>
          <a:noFill/>
          <a:ln/>
        </p:spPr>
        <p:txBody>
          <a:bodyPr wrap="square" lIns="0" tIns="0" rIns="0" bIns="0" rtlCol="0" anchor="t"/>
          <a:lstStyle/>
          <a:p>
            <a:pPr indent="0" marL="0">
              <a:buNone/>
            </a:pPr>
            <a:r>
              <a:rPr lang="en-US" sz="1400" i="1" dirty="0">
                <a:solidFill>
                  <a:srgbClr val="0A1F44"/>
                </a:solidFill>
                <a:latin typeface="Calibri" pitchFamily="34" charset="0"/>
                <a:ea typeface="Calibri" pitchFamily="34" charset="-122"/>
                <a:cs typeface="Calibri" pitchFamily="34" charset="-120"/>
              </a:rPr>
              <a:t>Propuesta de valor: viajar más barato y acompañado, solo con personas de tu universidad, sin coordinar por chats sueltos.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ENCONTRADAS EN EL CÓDIGO</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Tecnologías que usa el proyecto</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Tecnologías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4</a:t>
            </a:r>
            <a:endParaRPr lang="en-US" sz="1100" dirty="0"/>
          </a:p>
        </p:txBody>
      </p:sp>
      <p:sp>
        <p:nvSpPr>
          <p:cNvPr id="6" name="Text 4"/>
          <p:cNvSpPr txBox="1"/>
          <p:nvPr/>
        </p:nvSpPr>
        <p:spPr>
          <a:xfrm>
            <a:off x="548640" y="1417320"/>
            <a:ext cx="3611880" cy="457200"/>
          </a:xfrm>
          <a:prstGeom prst="roundRect">
            <a:avLst>
              <a:gd name="adj" fmla="val 16000"/>
            </a:avLst>
          </a:prstGeom>
          <a:solidFill>
            <a:srgbClr val="1E5AA8"/>
          </a:solidFill>
          <a:ln w="12700">
            <a:solidFill>
              <a:srgbClr val="1E5AA8"/>
            </a:solidFill>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Frontend</a:t>
            </a:r>
            <a:endParaRPr lang="en-US" sz="1700" dirty="0"/>
          </a:p>
        </p:txBody>
      </p:sp>
      <p:sp>
        <p:nvSpPr>
          <p:cNvPr id="7" name="Text 5"/>
          <p:cNvSpPr txBox="1"/>
          <p:nvPr/>
        </p:nvSpPr>
        <p:spPr>
          <a:xfrm>
            <a:off x="548640" y="196596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Angular 22</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aplicación web con componentes y señales</a:t>
            </a:r>
            <a:endParaRPr lang="en-US" sz="1400" dirty="0"/>
          </a:p>
        </p:txBody>
      </p:sp>
      <p:sp>
        <p:nvSpPr>
          <p:cNvPr id="8" name="Text 6"/>
          <p:cNvSpPr txBox="1"/>
          <p:nvPr/>
        </p:nvSpPr>
        <p:spPr>
          <a:xfrm>
            <a:off x="548640" y="283464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Tailwind CSS 4</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estilos con colores como variables</a:t>
            </a:r>
            <a:endParaRPr lang="en-US" sz="1400" dirty="0"/>
          </a:p>
        </p:txBody>
      </p:sp>
      <p:sp>
        <p:nvSpPr>
          <p:cNvPr id="9" name="Text 7"/>
          <p:cNvSpPr txBox="1"/>
          <p:nvPr/>
        </p:nvSpPr>
        <p:spPr>
          <a:xfrm>
            <a:off x="548640" y="370332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Transloco</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textos en 4 idiomas fuera del código</a:t>
            </a:r>
            <a:endParaRPr lang="en-US" sz="1400" dirty="0"/>
          </a:p>
        </p:txBody>
      </p:sp>
      <p:sp>
        <p:nvSpPr>
          <p:cNvPr id="10" name="Text 8"/>
          <p:cNvSpPr txBox="1"/>
          <p:nvPr/>
        </p:nvSpPr>
        <p:spPr>
          <a:xfrm>
            <a:off x="548640" y="457200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MapLibre GL</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mapa de Pamplona, rutas y carro en vivo</a:t>
            </a:r>
            <a:endParaRPr lang="en-US" sz="1400" dirty="0"/>
          </a:p>
        </p:txBody>
      </p:sp>
      <p:sp>
        <p:nvSpPr>
          <p:cNvPr id="11" name="Text 9"/>
          <p:cNvSpPr txBox="1"/>
          <p:nvPr/>
        </p:nvSpPr>
        <p:spPr>
          <a:xfrm>
            <a:off x="548640" y="544068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Vitest + Playwright</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pruebas unitarias y de punta a punta</a:t>
            </a:r>
            <a:endParaRPr lang="en-US" sz="1400" dirty="0"/>
          </a:p>
        </p:txBody>
      </p:sp>
      <p:sp>
        <p:nvSpPr>
          <p:cNvPr id="12" name="Text 10"/>
          <p:cNvSpPr txBox="1"/>
          <p:nvPr/>
        </p:nvSpPr>
        <p:spPr>
          <a:xfrm>
            <a:off x="4315968" y="1417320"/>
            <a:ext cx="3611880" cy="457200"/>
          </a:xfrm>
          <a:prstGeom prst="roundRect">
            <a:avLst>
              <a:gd name="adj" fmla="val 16000"/>
            </a:avLst>
          </a:prstGeom>
          <a:solidFill>
            <a:srgbClr val="0A1F44"/>
          </a:solidFill>
          <a:ln w="12700">
            <a:solidFill>
              <a:srgbClr val="0A1F44"/>
            </a:solidFill>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Backend</a:t>
            </a:r>
            <a:endParaRPr lang="en-US" sz="1700" dirty="0"/>
          </a:p>
        </p:txBody>
      </p:sp>
      <p:sp>
        <p:nvSpPr>
          <p:cNvPr id="13" name="Text 11"/>
          <p:cNvSpPr txBox="1"/>
          <p:nvPr/>
        </p:nvSpPr>
        <p:spPr>
          <a:xfrm>
            <a:off x="4315968" y="196596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Python 3.12 + FastAPI</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API REST y WebSocket</a:t>
            </a:r>
            <a:endParaRPr lang="en-US" sz="1400" dirty="0"/>
          </a:p>
        </p:txBody>
      </p:sp>
      <p:sp>
        <p:nvSpPr>
          <p:cNvPr id="14" name="Text 12"/>
          <p:cNvSpPr txBox="1"/>
          <p:nvPr/>
        </p:nvSpPr>
        <p:spPr>
          <a:xfrm>
            <a:off x="4315968" y="283464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Pydantic</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valida lo que entra y lo que sale</a:t>
            </a:r>
            <a:endParaRPr lang="en-US" sz="1400" dirty="0"/>
          </a:p>
        </p:txBody>
      </p:sp>
      <p:sp>
        <p:nvSpPr>
          <p:cNvPr id="15" name="Text 13"/>
          <p:cNvSpPr txBox="1"/>
          <p:nvPr/>
        </p:nvSpPr>
        <p:spPr>
          <a:xfrm>
            <a:off x="4315968" y="370332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SQLAlchemy 2 async + asyncpg</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habla con PostgreSQL</a:t>
            </a:r>
            <a:endParaRPr lang="en-US" sz="1400" dirty="0"/>
          </a:p>
        </p:txBody>
      </p:sp>
      <p:sp>
        <p:nvSpPr>
          <p:cNvPr id="16" name="Text 14"/>
          <p:cNvSpPr txBox="1"/>
          <p:nvPr/>
        </p:nvSpPr>
        <p:spPr>
          <a:xfrm>
            <a:off x="4315968" y="457200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Alembic</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migraciones versionadas del esquema</a:t>
            </a:r>
            <a:endParaRPr lang="en-US" sz="1400" dirty="0"/>
          </a:p>
        </p:txBody>
      </p:sp>
      <p:sp>
        <p:nvSpPr>
          <p:cNvPr id="17" name="Text 15"/>
          <p:cNvSpPr txBox="1"/>
          <p:nvPr/>
        </p:nvSpPr>
        <p:spPr>
          <a:xfrm>
            <a:off x="4315968" y="544068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ARQ · slowapi · argon2 · PyJWT</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tareas, límites, contraseñas y tokens</a:t>
            </a:r>
            <a:endParaRPr lang="en-US" sz="1400" dirty="0"/>
          </a:p>
        </p:txBody>
      </p:sp>
      <p:sp>
        <p:nvSpPr>
          <p:cNvPr id="18" name="Text 16"/>
          <p:cNvSpPr txBox="1"/>
          <p:nvPr/>
        </p:nvSpPr>
        <p:spPr>
          <a:xfrm>
            <a:off x="8083296" y="1417320"/>
            <a:ext cx="3611880" cy="457200"/>
          </a:xfrm>
          <a:prstGeom prst="roundRect">
            <a:avLst>
              <a:gd name="adj" fmla="val 16000"/>
            </a:avLst>
          </a:prstGeom>
          <a:solidFill>
            <a:srgbClr val="0B7556"/>
          </a:solidFill>
          <a:ln w="12700">
            <a:solidFill>
              <a:srgbClr val="0B7556"/>
            </a:solidFill>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Datos e infraestructura</a:t>
            </a:r>
            <a:endParaRPr lang="en-US" sz="1700" dirty="0"/>
          </a:p>
        </p:txBody>
      </p:sp>
      <p:sp>
        <p:nvSpPr>
          <p:cNvPr id="19" name="Text 17"/>
          <p:cNvSpPr txBox="1"/>
          <p:nvPr/>
        </p:nvSpPr>
        <p:spPr>
          <a:xfrm>
            <a:off x="8083296" y="196596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PostgreSQL 16 + PostGIS</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datos y consultas geográficas</a:t>
            </a:r>
            <a:endParaRPr lang="en-US" sz="1400" dirty="0"/>
          </a:p>
        </p:txBody>
      </p:sp>
      <p:sp>
        <p:nvSpPr>
          <p:cNvPr id="20" name="Text 18"/>
          <p:cNvSpPr txBox="1"/>
          <p:nvPr/>
        </p:nvSpPr>
        <p:spPr>
          <a:xfrm>
            <a:off x="8083296" y="283464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Redis 7</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eventos en vivo, cola y límites</a:t>
            </a:r>
            <a:endParaRPr lang="en-US" sz="1400" dirty="0"/>
          </a:p>
        </p:txBody>
      </p:sp>
      <p:sp>
        <p:nvSpPr>
          <p:cNvPr id="21" name="Text 19"/>
          <p:cNvSpPr txBox="1"/>
          <p:nvPr/>
        </p:nvSpPr>
        <p:spPr>
          <a:xfrm>
            <a:off x="8083296" y="370332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OSRM</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rutas y tiempos con el mapa de Pamplona</a:t>
            </a:r>
            <a:endParaRPr lang="en-US" sz="1400" dirty="0"/>
          </a:p>
        </p:txBody>
      </p:sp>
      <p:sp>
        <p:nvSpPr>
          <p:cNvPr id="22" name="Text 20"/>
          <p:cNvSpPr txBox="1"/>
          <p:nvPr/>
        </p:nvSpPr>
        <p:spPr>
          <a:xfrm>
            <a:off x="8083296" y="457200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Nginx</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HTTPS y proxy hacia la API</a:t>
            </a:r>
            <a:endParaRPr lang="en-US" sz="1400" dirty="0"/>
          </a:p>
        </p:txBody>
      </p:sp>
      <p:sp>
        <p:nvSpPr>
          <p:cNvPr id="23" name="Text 21"/>
          <p:cNvSpPr txBox="1"/>
          <p:nvPr/>
        </p:nvSpPr>
        <p:spPr>
          <a:xfrm>
            <a:off x="8083296" y="5440680"/>
            <a:ext cx="3611880" cy="777240"/>
          </a:xfrm>
          <a:prstGeom prst="roundRect">
            <a:avLst>
              <a:gd name="adj" fmla="val 941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Docker Compose · GitHub Actions</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entorno igual para todos y CI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CÓMO SE COMUNICAN LOS COMPONENTES</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Arquitectura general</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Arquitectura</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5</a:t>
            </a:r>
            <a:endParaRPr lang="en-US" sz="1100" dirty="0"/>
          </a:p>
        </p:txBody>
      </p:sp>
      <p:sp>
        <p:nvSpPr>
          <p:cNvPr id="6" name="Text 4"/>
          <p:cNvSpPr txBox="1"/>
          <p:nvPr/>
        </p:nvSpPr>
        <p:spPr>
          <a:xfrm>
            <a:off x="548640" y="2148840"/>
            <a:ext cx="1600200" cy="1097280"/>
          </a:xfrm>
          <a:prstGeom prst="roundRect">
            <a:avLst>
              <a:gd name="adj" fmla="val 6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Usuario</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navegador en celular o PC</a:t>
            </a:r>
            <a:endParaRPr lang="en-US" sz="1600" dirty="0"/>
          </a:p>
        </p:txBody>
      </p:sp>
      <p:sp>
        <p:nvSpPr>
          <p:cNvPr id="7" name="Text 5"/>
          <p:cNvSpPr txBox="1"/>
          <p:nvPr/>
        </p:nvSpPr>
        <p:spPr>
          <a:xfrm>
            <a:off x="2514600" y="2148840"/>
            <a:ext cx="1965960" cy="1097280"/>
          </a:xfrm>
          <a:prstGeom prst="roundRect">
            <a:avLst>
              <a:gd name="adj" fmla="val 6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Frontend Angular</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archivos estáticos compilados</a:t>
            </a:r>
            <a:endParaRPr lang="en-US" sz="1600" dirty="0"/>
          </a:p>
        </p:txBody>
      </p:sp>
      <p:sp>
        <p:nvSpPr>
          <p:cNvPr id="8" name="Text 6"/>
          <p:cNvSpPr txBox="1"/>
          <p:nvPr/>
        </p:nvSpPr>
        <p:spPr>
          <a:xfrm>
            <a:off x="4846320" y="2148840"/>
            <a:ext cx="1828800" cy="1097280"/>
          </a:xfrm>
          <a:prstGeom prst="roundRect">
            <a:avLst>
              <a:gd name="adj" fmla="val 6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Nginx (web)</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HTTPS · reenvía /api y /ws</a:t>
            </a:r>
            <a:endParaRPr lang="en-US" sz="1600" dirty="0"/>
          </a:p>
        </p:txBody>
      </p:sp>
      <p:sp>
        <p:nvSpPr>
          <p:cNvPr id="9" name="Text 7"/>
          <p:cNvSpPr txBox="1"/>
          <p:nvPr/>
        </p:nvSpPr>
        <p:spPr>
          <a:xfrm>
            <a:off x="7086600" y="1874520"/>
            <a:ext cx="2148840" cy="1645920"/>
          </a:xfrm>
          <a:prstGeom prst="roundRect">
            <a:avLst>
              <a:gd name="adj" fmla="val 4444"/>
            </a:avLst>
          </a:prstGeom>
          <a:solidFill>
            <a:srgbClr val="0A1F44"/>
          </a:solidFill>
          <a:ln w="12700">
            <a:solidFill>
              <a:srgbClr val="0A1F44"/>
            </a:solid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API FastAPI</a:t>
            </a:r>
            <a:endParaRPr lang="en-US" sz="1600" dirty="0"/>
          </a:p>
          <a:p>
            <a:pPr algn="ctr" indent="0" marL="0">
              <a:buNone/>
            </a:pPr>
            <a:r>
              <a:rPr lang="en-US" sz="1200" dirty="0">
                <a:solidFill>
                  <a:srgbClr val="90C5FF"/>
                </a:solidFill>
                <a:latin typeface="Calibri" pitchFamily="34" charset="0"/>
                <a:ea typeface="Calibri" pitchFamily="34" charset="-122"/>
                <a:cs typeface="Calibri" pitchFamily="34" charset="-120"/>
              </a:rPr>
              <a:t>REST /api/v1</a:t>
            </a:r>
            <a:endParaRPr lang="en-US" sz="1600" dirty="0"/>
          </a:p>
          <a:p>
            <a:pPr algn="ctr" indent="0" marL="0">
              <a:buNone/>
            </a:pPr>
            <a:r>
              <a:rPr lang="en-US" sz="1200" dirty="0">
                <a:solidFill>
                  <a:srgbClr val="90C5FF"/>
                </a:solidFill>
                <a:latin typeface="Calibri" pitchFamily="34" charset="0"/>
                <a:ea typeface="Calibri" pitchFamily="34" charset="-122"/>
                <a:cs typeface="Calibri" pitchFamily="34" charset="-120"/>
              </a:rPr>
              <a:t>WebSocket /ws</a:t>
            </a:r>
            <a:endParaRPr lang="en-US" sz="1600" dirty="0"/>
          </a:p>
          <a:p>
            <a:pPr algn="ctr" indent="0" marL="0">
              <a:buNone/>
            </a:pPr>
            <a:r>
              <a:rPr lang="en-US" sz="1200" dirty="0">
                <a:solidFill>
                  <a:srgbClr val="90C5FF"/>
                </a:solidFill>
                <a:latin typeface="Calibri" pitchFamily="34" charset="0"/>
                <a:ea typeface="Calibri" pitchFamily="34" charset="-122"/>
                <a:cs typeface="Calibri" pitchFamily="34" charset="-120"/>
              </a:rPr>
              <a:t>reglas de negocio</a:t>
            </a:r>
            <a:endParaRPr lang="en-US" sz="1600" dirty="0"/>
          </a:p>
        </p:txBody>
      </p:sp>
      <p:sp>
        <p:nvSpPr>
          <p:cNvPr id="10" name="Shape 8"/>
          <p:cNvSpPr/>
          <p:nvPr/>
        </p:nvSpPr>
        <p:spPr>
          <a:xfrm>
            <a:off x="2148840" y="2697480"/>
            <a:ext cx="365760" cy="914"/>
          </a:xfrm>
          <a:prstGeom prst="line">
            <a:avLst/>
          </a:prstGeom>
          <a:noFill/>
          <a:ln w="25400">
            <a:solidFill>
              <a:srgbClr val="1E5AA8"/>
            </a:solidFill>
            <a:prstDash val="solid"/>
            <a:tailEnd type="triangle"/>
          </a:ln>
        </p:spPr>
      </p:sp>
      <p:sp>
        <p:nvSpPr>
          <p:cNvPr id="11" name="Shape 9"/>
          <p:cNvSpPr/>
          <p:nvPr/>
        </p:nvSpPr>
        <p:spPr>
          <a:xfrm>
            <a:off x="4480560" y="2697480"/>
            <a:ext cx="365760" cy="914"/>
          </a:xfrm>
          <a:prstGeom prst="line">
            <a:avLst/>
          </a:prstGeom>
          <a:noFill/>
          <a:ln w="25400">
            <a:solidFill>
              <a:srgbClr val="1E5AA8"/>
            </a:solidFill>
            <a:prstDash val="solid"/>
            <a:tailEnd type="triangle"/>
          </a:ln>
        </p:spPr>
      </p:sp>
      <p:sp>
        <p:nvSpPr>
          <p:cNvPr id="12" name="Shape 10"/>
          <p:cNvSpPr/>
          <p:nvPr/>
        </p:nvSpPr>
        <p:spPr>
          <a:xfrm>
            <a:off x="6675120" y="2697480"/>
            <a:ext cx="411480" cy="914"/>
          </a:xfrm>
          <a:prstGeom prst="line">
            <a:avLst/>
          </a:prstGeom>
          <a:noFill/>
          <a:ln w="25400">
            <a:solidFill>
              <a:srgbClr val="1E5AA8"/>
            </a:solidFill>
            <a:prstDash val="solid"/>
            <a:tailEnd type="triangle"/>
          </a:ln>
        </p:spPr>
      </p:sp>
      <p:sp>
        <p:nvSpPr>
          <p:cNvPr id="13" name="Text 11"/>
          <p:cNvSpPr txBox="1"/>
          <p:nvPr/>
        </p:nvSpPr>
        <p:spPr>
          <a:xfrm>
            <a:off x="9784080" y="1417320"/>
            <a:ext cx="1874520" cy="914400"/>
          </a:xfrm>
          <a:prstGeom prst="roundRect">
            <a:avLst>
              <a:gd name="adj" fmla="val 8000"/>
            </a:avLst>
          </a:prstGeom>
          <a:solidFill>
            <a:srgbClr val="E3F5EE"/>
          </a:solidFill>
          <a:ln w="12700">
            <a:solidFill>
              <a:srgbClr val="0B7556"/>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PostgreSQL</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 PostGIS</a:t>
            </a:r>
            <a:endParaRPr lang="en-US" sz="1600" dirty="0"/>
          </a:p>
        </p:txBody>
      </p:sp>
      <p:sp>
        <p:nvSpPr>
          <p:cNvPr id="14" name="Text 12"/>
          <p:cNvSpPr txBox="1"/>
          <p:nvPr/>
        </p:nvSpPr>
        <p:spPr>
          <a:xfrm>
            <a:off x="9784080" y="2514600"/>
            <a:ext cx="1874520" cy="914400"/>
          </a:xfrm>
          <a:prstGeom prst="roundRect">
            <a:avLst>
              <a:gd name="adj" fmla="val 8000"/>
            </a:avLst>
          </a:prstGeom>
          <a:solidFill>
            <a:srgbClr val="E3F5EE"/>
          </a:solidFill>
          <a:ln w="12700">
            <a:solidFill>
              <a:srgbClr val="0B7556"/>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OSRM</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rutas de Pamplona</a:t>
            </a:r>
            <a:endParaRPr lang="en-US" sz="1600" dirty="0"/>
          </a:p>
        </p:txBody>
      </p:sp>
      <p:sp>
        <p:nvSpPr>
          <p:cNvPr id="15" name="Text 13"/>
          <p:cNvSpPr txBox="1"/>
          <p:nvPr/>
        </p:nvSpPr>
        <p:spPr>
          <a:xfrm>
            <a:off x="9784080" y="3611880"/>
            <a:ext cx="1874520" cy="914400"/>
          </a:xfrm>
          <a:prstGeom prst="roundRect">
            <a:avLst>
              <a:gd name="adj" fmla="val 8000"/>
            </a:avLst>
          </a:prstGeom>
          <a:solidFill>
            <a:srgbClr val="E3F5EE"/>
          </a:solidFill>
          <a:ln w="12700">
            <a:solidFill>
              <a:srgbClr val="0B7556"/>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Redis</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eventos y cola</a:t>
            </a:r>
            <a:endParaRPr lang="en-US" sz="1600" dirty="0"/>
          </a:p>
        </p:txBody>
      </p:sp>
      <p:sp>
        <p:nvSpPr>
          <p:cNvPr id="16" name="Shape 14"/>
          <p:cNvSpPr/>
          <p:nvPr/>
        </p:nvSpPr>
        <p:spPr>
          <a:xfrm flipV="1">
            <a:off x="9235440" y="1874520"/>
            <a:ext cx="548640" cy="228600"/>
          </a:xfrm>
          <a:prstGeom prst="line">
            <a:avLst/>
          </a:prstGeom>
          <a:noFill/>
          <a:ln w="25400">
            <a:solidFill>
              <a:srgbClr val="1E5AA8"/>
            </a:solidFill>
            <a:prstDash val="solid"/>
            <a:headEnd type="triangle"/>
            <a:tailEnd type="triangle"/>
          </a:ln>
        </p:spPr>
      </p:sp>
      <p:sp>
        <p:nvSpPr>
          <p:cNvPr id="17" name="Shape 15"/>
          <p:cNvSpPr/>
          <p:nvPr/>
        </p:nvSpPr>
        <p:spPr>
          <a:xfrm>
            <a:off x="9235440" y="2697480"/>
            <a:ext cx="548640" cy="274320"/>
          </a:xfrm>
          <a:prstGeom prst="line">
            <a:avLst/>
          </a:prstGeom>
          <a:noFill/>
          <a:ln w="25400">
            <a:solidFill>
              <a:srgbClr val="1E5AA8"/>
            </a:solidFill>
            <a:prstDash val="solid"/>
            <a:tailEnd type="triangle"/>
          </a:ln>
        </p:spPr>
      </p:sp>
      <p:sp>
        <p:nvSpPr>
          <p:cNvPr id="18" name="Shape 16"/>
          <p:cNvSpPr/>
          <p:nvPr/>
        </p:nvSpPr>
        <p:spPr>
          <a:xfrm>
            <a:off x="9235440" y="3108960"/>
            <a:ext cx="548640" cy="822960"/>
          </a:xfrm>
          <a:prstGeom prst="line">
            <a:avLst/>
          </a:prstGeom>
          <a:noFill/>
          <a:ln w="25400">
            <a:solidFill>
              <a:srgbClr val="1E5AA8"/>
            </a:solidFill>
            <a:prstDash val="solid"/>
            <a:headEnd type="triangle"/>
            <a:tailEnd type="triangle"/>
          </a:ln>
        </p:spPr>
      </p:sp>
      <p:sp>
        <p:nvSpPr>
          <p:cNvPr id="19" name="Shape 17"/>
          <p:cNvSpPr/>
          <p:nvPr/>
        </p:nvSpPr>
        <p:spPr>
          <a:xfrm flipH="1">
            <a:off x="3502152" y="3566160"/>
            <a:ext cx="3584448" cy="914"/>
          </a:xfrm>
          <a:prstGeom prst="line">
            <a:avLst/>
          </a:prstGeom>
          <a:noFill/>
          <a:ln w="25400">
            <a:solidFill>
              <a:srgbClr val="0B7556"/>
            </a:solidFill>
            <a:prstDash val="dash"/>
          </a:ln>
        </p:spPr>
      </p:sp>
      <p:sp>
        <p:nvSpPr>
          <p:cNvPr id="20" name="Shape 18"/>
          <p:cNvSpPr/>
          <p:nvPr/>
        </p:nvSpPr>
        <p:spPr>
          <a:xfrm flipV="1">
            <a:off x="3502152" y="3246120"/>
            <a:ext cx="914" cy="320040"/>
          </a:xfrm>
          <a:prstGeom prst="line">
            <a:avLst/>
          </a:prstGeom>
          <a:noFill/>
          <a:ln w="25400">
            <a:solidFill>
              <a:srgbClr val="0B7556"/>
            </a:solidFill>
            <a:prstDash val="dash"/>
            <a:tailEnd type="triangle"/>
          </a:ln>
        </p:spPr>
      </p:sp>
      <p:sp>
        <p:nvSpPr>
          <p:cNvPr id="21" name="Text 19"/>
          <p:cNvSpPr txBox="1"/>
          <p:nvPr/>
        </p:nvSpPr>
        <p:spPr>
          <a:xfrm>
            <a:off x="3611880" y="3611880"/>
            <a:ext cx="3474720" cy="274320"/>
          </a:xfrm>
          <a:prstGeom prst="rect">
            <a:avLst/>
          </a:prstGeom>
          <a:noFill/>
          <a:ln/>
        </p:spPr>
        <p:txBody>
          <a:bodyPr wrap="square" lIns="0" tIns="0" rIns="0" bIns="0" rtlCol="0" anchor="ctr"/>
          <a:lstStyle/>
          <a:p>
            <a:pPr indent="0" marL="0">
              <a:buNone/>
            </a:pPr>
            <a:r>
              <a:rPr lang="en-US" sz="1200" dirty="0">
                <a:solidFill>
                  <a:srgbClr val="0B7556"/>
                </a:solidFill>
                <a:latin typeface="Calibri" pitchFamily="34" charset="0"/>
                <a:ea typeface="Calibri" pitchFamily="34" charset="-122"/>
                <a:cs typeface="Calibri" pitchFamily="34" charset="-120"/>
              </a:rPr>
              <a:t>avisos en vivo por WebSocket (sin recargar)</a:t>
            </a:r>
            <a:endParaRPr lang="en-US" sz="1200" dirty="0"/>
          </a:p>
        </p:txBody>
      </p:sp>
      <p:sp>
        <p:nvSpPr>
          <p:cNvPr id="22" name="Text 20"/>
          <p:cNvSpPr txBox="1"/>
          <p:nvPr/>
        </p:nvSpPr>
        <p:spPr>
          <a:xfrm>
            <a:off x="7086600" y="4343400"/>
            <a:ext cx="2148840" cy="1051560"/>
          </a:xfrm>
          <a:prstGeom prst="roundRect">
            <a:avLst>
              <a:gd name="adj" fmla="val 6957"/>
            </a:avLst>
          </a:prstGeom>
          <a:solidFill>
            <a:srgbClr val="0A1F44"/>
          </a:solidFill>
          <a:ln w="12700">
            <a:solidFill>
              <a:srgbClr val="0A1F44"/>
            </a:solid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Worker ARQ</a:t>
            </a:r>
            <a:endParaRPr lang="en-US" sz="1600" dirty="0"/>
          </a:p>
          <a:p>
            <a:pPr algn="ctr" indent="0" marL="0">
              <a:buNone/>
            </a:pPr>
            <a:r>
              <a:rPr lang="en-US" sz="1100" dirty="0">
                <a:solidFill>
                  <a:srgbClr val="90C5FF"/>
                </a:solidFill>
                <a:latin typeface="Calibri" pitchFamily="34" charset="0"/>
                <a:ea typeface="Calibri" pitchFamily="34" charset="-122"/>
                <a:cs typeface="Calibri" pitchFamily="34" charset="-120"/>
              </a:rPr>
              <a:t>lee la cola de Redis; correos y 12 tareas programadas</a:t>
            </a:r>
            <a:endParaRPr lang="en-US" sz="1600" dirty="0"/>
          </a:p>
        </p:txBody>
      </p:sp>
      <p:sp>
        <p:nvSpPr>
          <p:cNvPr id="23" name="Shape 21"/>
          <p:cNvSpPr/>
          <p:nvPr/>
        </p:nvSpPr>
        <p:spPr>
          <a:xfrm flipV="1">
            <a:off x="9235440" y="4297680"/>
            <a:ext cx="548640" cy="365760"/>
          </a:xfrm>
          <a:prstGeom prst="line">
            <a:avLst/>
          </a:prstGeom>
          <a:noFill/>
          <a:ln w="25400">
            <a:solidFill>
              <a:srgbClr val="0B7556"/>
            </a:solidFill>
            <a:prstDash val="solid"/>
            <a:headEnd type="triangle"/>
            <a:tailEnd type="triangle"/>
          </a:ln>
        </p:spPr>
      </p:sp>
      <p:sp>
        <p:nvSpPr>
          <p:cNvPr id="24" name="Text 22"/>
          <p:cNvSpPr txBox="1"/>
          <p:nvPr/>
        </p:nvSpPr>
        <p:spPr>
          <a:xfrm>
            <a:off x="4846320" y="4389120"/>
            <a:ext cx="1828800" cy="960120"/>
          </a:xfrm>
          <a:prstGeom prst="roundRect">
            <a:avLst>
              <a:gd name="adj" fmla="val 7619"/>
            </a:avLst>
          </a:prstGeom>
          <a:solidFill>
            <a:srgbClr val="F5F9FF"/>
          </a:solidFill>
          <a:ln w="12700">
            <a:solidFill>
              <a:srgbClr val="C9D7EE"/>
            </a:solidFill>
          </a:ln>
        </p:spPr>
        <p:txBody>
          <a:bodyPr wrap="square" lIns="76200" tIns="76200" rIns="76200" bIns="76200" rtlCol="0" anchor="ctr"/>
          <a:lstStyle/>
          <a:p>
            <a:pPr algn="ctr" indent="0" marL="0">
              <a:buNone/>
            </a:pPr>
            <a:r>
              <a:rPr lang="en-US" sz="1600" b="1" dirty="0">
                <a:solidFill>
                  <a:srgbClr val="0A1F44"/>
                </a:solidFill>
                <a:latin typeface="Calibri" pitchFamily="34" charset="0"/>
                <a:ea typeface="Calibri" pitchFamily="34" charset="-122"/>
                <a:cs typeface="Calibri" pitchFamily="34" charset="-120"/>
              </a:rPr>
              <a:t>Servidor SMTP</a:t>
            </a:r>
            <a:endParaRPr lang="en-US" sz="1600" dirty="0"/>
          </a:p>
          <a:p>
            <a:pPr algn="ctr" indent="0" marL="0">
              <a:buNone/>
            </a:pPr>
            <a:r>
              <a:rPr lang="en-US" sz="1200" dirty="0">
                <a:solidFill>
                  <a:srgbClr val="33415C"/>
                </a:solidFill>
                <a:latin typeface="Calibri" pitchFamily="34" charset="0"/>
                <a:ea typeface="Calibri" pitchFamily="34" charset="-122"/>
                <a:cs typeface="Calibri" pitchFamily="34" charset="-120"/>
              </a:rPr>
              <a:t>Mailpit o Gmail</a:t>
            </a:r>
            <a:endParaRPr lang="en-US" sz="1600" dirty="0"/>
          </a:p>
        </p:txBody>
      </p:sp>
      <p:sp>
        <p:nvSpPr>
          <p:cNvPr id="25" name="Shape 23"/>
          <p:cNvSpPr/>
          <p:nvPr/>
        </p:nvSpPr>
        <p:spPr>
          <a:xfrm flipH="1">
            <a:off x="6675120" y="4864608"/>
            <a:ext cx="411480" cy="914"/>
          </a:xfrm>
          <a:prstGeom prst="line">
            <a:avLst/>
          </a:prstGeom>
          <a:noFill/>
          <a:ln w="25400">
            <a:solidFill>
              <a:srgbClr val="1E5AA8"/>
            </a:solidFill>
            <a:prstDash val="solid"/>
            <a:tailEnd type="triangle"/>
          </a:ln>
        </p:spPr>
      </p:sp>
      <p:sp>
        <p:nvSpPr>
          <p:cNvPr id="26" name="Text 24"/>
          <p:cNvSpPr txBox="1"/>
          <p:nvPr/>
        </p:nvSpPr>
        <p:spPr>
          <a:xfrm>
            <a:off x="548640" y="4389120"/>
            <a:ext cx="3931920" cy="960120"/>
          </a:xfrm>
          <a:prstGeom prst="roundRect">
            <a:avLst>
              <a:gd name="adj" fmla="val 7619"/>
            </a:avLst>
          </a:prstGeom>
          <a:solidFill>
            <a:srgbClr val="FFFFFF"/>
          </a:solidFill>
          <a:ln w="12700">
            <a:solidFill>
              <a:srgbClr val="5B6B85"/>
            </a:solidFill>
          </a:ln>
        </p:spPr>
        <p:txBody>
          <a:bodyPr wrap="square" lIns="76200" tIns="76200" rIns="76200" bIns="76200" rtlCol="0" anchor="ctr"/>
          <a:lstStyle/>
          <a:p>
            <a:pPr algn="ctr" indent="0" marL="0">
              <a:buNone/>
            </a:pPr>
            <a:r>
              <a:rPr lang="en-US" sz="1600" b="1" dirty="0">
                <a:solidFill>
                  <a:srgbClr val="5B6B85"/>
                </a:solidFill>
                <a:latin typeface="Calibri" pitchFamily="34" charset="0"/>
                <a:ea typeface="Calibri" pitchFamily="34" charset="-122"/>
                <a:cs typeface="Calibri" pitchFamily="34" charset="-120"/>
              </a:rPr>
              <a:t>Pagos en línea (no implementado)</a:t>
            </a:r>
            <a:endParaRPr lang="en-US" sz="1600" dirty="0"/>
          </a:p>
          <a:p>
            <a:pPr algn="ctr" indent="0" marL="0">
              <a:buNone/>
            </a:pPr>
            <a:r>
              <a:rPr lang="en-US" sz="1200" dirty="0">
                <a:solidFill>
                  <a:srgbClr val="5B6B85"/>
                </a:solidFill>
                <a:latin typeface="Calibri" pitchFamily="34" charset="0"/>
                <a:ea typeface="Calibri" pitchFamily="34" charset="-122"/>
                <a:cs typeface="Calibri" pitchFamily="34" charset="-120"/>
              </a:rPr>
              <a:t>el aporte se acuerda fuera de la app</a:t>
            </a:r>
            <a:endParaRPr lang="en-US" sz="1600" dirty="0"/>
          </a:p>
        </p:txBody>
      </p:sp>
      <p:sp>
        <p:nvSpPr>
          <p:cNvPr id="27" name="Text 25"/>
          <p:cNvSpPr txBox="1"/>
          <p:nvPr/>
        </p:nvSpPr>
        <p:spPr>
          <a:xfrm>
            <a:off x="548640" y="5669280"/>
            <a:ext cx="1463040" cy="292608"/>
          </a:xfrm>
          <a:prstGeom prst="roundRect">
            <a:avLst>
              <a:gd name="adj" fmla="val 46875"/>
            </a:avLst>
          </a:prstGeom>
          <a:solidFill>
            <a:srgbClr val="EAF3FF"/>
          </a:solidFill>
          <a:ln>
            <a:solidFill>
              <a:srgbClr val="EAF3FF"/>
            </a:solidFill>
          </a:ln>
        </p:spPr>
        <p:txBody>
          <a:bodyPr wrap="square" lIns="0" tIns="0" rIns="0" bIns="0" rtlCol="0" anchor="ctr"/>
          <a:lstStyle/>
          <a:p>
            <a:pPr algn="ctr" indent="0" marL="0">
              <a:buNone/>
            </a:pPr>
            <a:r>
              <a:rPr lang="en-US" sz="1100" b="1" dirty="0">
                <a:solidFill>
                  <a:srgbClr val="0A1F44"/>
                </a:solidFill>
                <a:latin typeface="Calibri" pitchFamily="34" charset="0"/>
                <a:ea typeface="Calibri" pitchFamily="34" charset="-122"/>
                <a:cs typeface="Calibri" pitchFamily="34" charset="-120"/>
              </a:rPr>
              <a:t>Implementado</a:t>
            </a:r>
            <a:endParaRPr lang="en-US" sz="1100" dirty="0"/>
          </a:p>
        </p:txBody>
      </p:sp>
      <p:sp>
        <p:nvSpPr>
          <p:cNvPr id="28" name="Text 26"/>
          <p:cNvSpPr txBox="1"/>
          <p:nvPr/>
        </p:nvSpPr>
        <p:spPr>
          <a:xfrm>
            <a:off x="2148840" y="5669280"/>
            <a:ext cx="1737360" cy="292608"/>
          </a:xfrm>
          <a:prstGeom prst="roundRect">
            <a:avLst>
              <a:gd name="adj" fmla="val 46875"/>
            </a:avLst>
          </a:prstGeom>
          <a:solidFill>
            <a:srgbClr val="E3F5EE"/>
          </a:solidFill>
          <a:ln>
            <a:solidFill>
              <a:srgbClr val="E3F5EE"/>
            </a:solidFill>
          </a:ln>
        </p:spPr>
        <p:txBody>
          <a:bodyPr wrap="square" lIns="0" tIns="0" rIns="0" bIns="0" rtlCol="0" anchor="ctr"/>
          <a:lstStyle/>
          <a:p>
            <a:pPr algn="ctr" indent="0" marL="0">
              <a:buNone/>
            </a:pPr>
            <a:r>
              <a:rPr lang="en-US" sz="1100" b="1" dirty="0">
                <a:solidFill>
                  <a:srgbClr val="0B7556"/>
                </a:solidFill>
                <a:latin typeface="Calibri" pitchFamily="34" charset="0"/>
                <a:ea typeface="Calibri" pitchFamily="34" charset="-122"/>
                <a:cs typeface="Calibri" pitchFamily="34" charset="-120"/>
              </a:rPr>
              <a:t>Servicio de datos</a:t>
            </a:r>
            <a:endParaRPr lang="en-US" sz="1100" dirty="0"/>
          </a:p>
        </p:txBody>
      </p:sp>
      <p:sp>
        <p:nvSpPr>
          <p:cNvPr id="29" name="Text 27"/>
          <p:cNvSpPr txBox="1"/>
          <p:nvPr/>
        </p:nvSpPr>
        <p:spPr>
          <a:xfrm>
            <a:off x="4023360" y="5669280"/>
            <a:ext cx="2377440" cy="292608"/>
          </a:xfrm>
          <a:prstGeom prst="roundRect">
            <a:avLst>
              <a:gd name="adj" fmla="val 46875"/>
            </a:avLst>
          </a:prstGeom>
          <a:solidFill>
            <a:srgbClr val="EEF1F6"/>
          </a:solidFill>
          <a:ln>
            <a:solidFill>
              <a:srgbClr val="EEF1F6"/>
            </a:solidFill>
          </a:ln>
        </p:spPr>
        <p:txBody>
          <a:bodyPr wrap="square" lIns="0" tIns="0" rIns="0" bIns="0" rtlCol="0" anchor="ctr"/>
          <a:lstStyle/>
          <a:p>
            <a:pPr algn="ctr" indent="0" marL="0">
              <a:buNone/>
            </a:pPr>
            <a:r>
              <a:rPr lang="en-US" sz="1100" b="1" dirty="0">
                <a:solidFill>
                  <a:srgbClr val="5B6B85"/>
                </a:solidFill>
                <a:latin typeface="Calibri" pitchFamily="34" charset="0"/>
                <a:ea typeface="Calibri" pitchFamily="34" charset="-122"/>
                <a:cs typeface="Calibri" pitchFamily="34" charset="-120"/>
              </a:rPr>
              <a:t>Propuesta futura (gris)</a:t>
            </a:r>
            <a:endParaRPr lang="en-US" sz="1100" dirty="0"/>
          </a:p>
        </p:txBody>
      </p:sp>
      <p:sp>
        <p:nvSpPr>
          <p:cNvPr id="30" name="Text 28"/>
          <p:cNvSpPr txBox="1"/>
          <p:nvPr/>
        </p:nvSpPr>
        <p:spPr>
          <a:xfrm>
            <a:off x="6583680" y="5623560"/>
            <a:ext cx="5074920" cy="365760"/>
          </a:xfrm>
          <a:prstGeom prst="rect">
            <a:avLst/>
          </a:prstGeom>
          <a:noFill/>
          <a:ln/>
        </p:spPr>
        <p:txBody>
          <a:bodyPr wrap="square" lIns="0" tIns="0" rIns="0" bIns="0" rtlCol="0" anchor="ctr"/>
          <a:lstStyle/>
          <a:p>
            <a:pPr indent="0" marL="0">
              <a:buNone/>
            </a:pPr>
            <a:r>
              <a:rPr lang="en-US" sz="1300" dirty="0">
                <a:solidFill>
                  <a:srgbClr val="33415C"/>
                </a:solidFill>
                <a:latin typeface="Calibri" pitchFamily="34" charset="0"/>
                <a:ea typeface="Calibri" pitchFamily="34" charset="-122"/>
                <a:cs typeface="Calibri" pitchFamily="34" charset="-120"/>
              </a:rPr>
              <a:t>Todos los componentes en azul y verde corren hoy en contenedores Docker.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MONOREPO</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Estructura de carpetas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Arquitectura</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6</a:t>
            </a:r>
            <a:endParaRPr lang="en-US" sz="1100" dirty="0"/>
          </a:p>
        </p:txBody>
      </p:sp>
      <p:sp>
        <p:nvSpPr>
          <p:cNvPr id="6" name="Shape 4"/>
          <p:cNvSpPr/>
          <p:nvPr/>
        </p:nvSpPr>
        <p:spPr>
          <a:xfrm>
            <a:off x="548640" y="1371600"/>
            <a:ext cx="5760720" cy="4892040"/>
          </a:xfrm>
          <a:prstGeom prst="roundRect">
            <a:avLst>
              <a:gd name="adj" fmla="val 1495"/>
            </a:avLst>
          </a:prstGeom>
          <a:solidFill>
            <a:srgbClr val="0F2A55"/>
          </a:solidFill>
          <a:ln w="12700">
            <a:solidFill>
              <a:srgbClr val="0F2A55"/>
            </a:solidFill>
            <a:prstDash val="solid"/>
          </a:ln>
        </p:spPr>
      </p:sp>
      <p:sp>
        <p:nvSpPr>
          <p:cNvPr id="7" name="Text 5"/>
          <p:cNvSpPr txBox="1"/>
          <p:nvPr/>
        </p:nvSpPr>
        <p:spPr>
          <a:xfrm>
            <a:off x="685800" y="1481328"/>
            <a:ext cx="5486400" cy="4690872"/>
          </a:xfrm>
          <a:prstGeom prst="rect">
            <a:avLst/>
          </a:prstGeom>
          <a:noFill/>
          <a:ln/>
        </p:spPr>
        <p:txBody>
          <a:bodyPr wrap="square" lIns="0" tIns="0" rIns="0" bIns="0" rtlCol="0" anchor="t"/>
          <a:lstStyle/>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carpool_U/</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backend/</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app/main.py        # crea la app FastAPI</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app/core/          # config, db, auth, errores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app/modules/       # 26 módulos de negocio</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app/workers/       # worker ARQ</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alembic/versions/  # 13 migraciones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tests/             # pruebas con PostgreSQL</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frontend/</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src/app/core/      # sesión, HTTP, WebSocket</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src/app/features/  # una carpeta por pantalla</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src/app/shared/    # UI, mapa, gráficas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public/i18n/       # textos en 4 idiomas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infra/</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docker-compose*.yml</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 nginx/  scripts/  osrm/</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docs/                  # guías, API, diagrama 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Makefile · make.ps1</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.env.example           # plantilla de variables</a:t>
            </a:r>
            <a:endParaRPr lang="en-US" sz="1200" dirty="0"/>
          </a:p>
        </p:txBody>
      </p:sp>
      <p:sp>
        <p:nvSpPr>
          <p:cNvPr id="8" name="Text 6"/>
          <p:cNvSpPr txBox="1"/>
          <p:nvPr/>
        </p:nvSpPr>
        <p:spPr>
          <a:xfrm>
            <a:off x="6537960" y="1371600"/>
            <a:ext cx="5120640" cy="1115568"/>
          </a:xfrm>
          <a:prstGeom prst="roundRect">
            <a:avLst>
              <a:gd name="adj" fmla="val 6557"/>
            </a:avLst>
          </a:prstGeom>
          <a:solidFill>
            <a:srgbClr val="F5F9FF"/>
          </a:solidFill>
          <a:ln w="12700">
            <a:solidFill>
              <a:srgbClr val="C9D7EE"/>
            </a:solidFill>
          </a:ln>
        </p:spPr>
        <p:txBody>
          <a:bodyPr wrap="square" lIns="127000" tIns="127000" rIns="127000" bIns="127000" rtlCol="0" anchor="ctr"/>
          <a:lstStyle/>
          <a:p>
            <a:pPr algn="l" indent="0" marL="0">
              <a:buNone/>
            </a:pPr>
            <a:r>
              <a:rPr lang="en-US" sz="1400" b="1" dirty="0">
                <a:solidFill>
                  <a:srgbClr val="0A1F44"/>
                </a:solidFill>
                <a:latin typeface="Consolas" pitchFamily="34" charset="0"/>
                <a:ea typeface="Consolas" pitchFamily="34" charset="-122"/>
                <a:cs typeface="Consolas" pitchFamily="34" charset="-120"/>
              </a:rPr>
              <a:t>backend/app/core/</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Lo compartido: config.py lee el .env, db.py crea la conexión, auth.py identifica al usuario, errors.py da formato a los errores.</a:t>
            </a:r>
            <a:endParaRPr lang="en-US" sz="1400" dirty="0"/>
          </a:p>
        </p:txBody>
      </p:sp>
      <p:sp>
        <p:nvSpPr>
          <p:cNvPr id="9" name="Text 7"/>
          <p:cNvSpPr txBox="1"/>
          <p:nvPr/>
        </p:nvSpPr>
        <p:spPr>
          <a:xfrm>
            <a:off x="6537960" y="2606040"/>
            <a:ext cx="5120640" cy="1115568"/>
          </a:xfrm>
          <a:prstGeom prst="roundRect">
            <a:avLst>
              <a:gd name="adj" fmla="val 6557"/>
            </a:avLst>
          </a:prstGeom>
          <a:solidFill>
            <a:srgbClr val="F5F9FF"/>
          </a:solidFill>
          <a:ln w="12700">
            <a:solidFill>
              <a:srgbClr val="C9D7EE"/>
            </a:solidFill>
          </a:ln>
        </p:spPr>
        <p:txBody>
          <a:bodyPr wrap="square" lIns="127000" tIns="127000" rIns="127000" bIns="127000" rtlCol="0" anchor="ctr"/>
          <a:lstStyle/>
          <a:p>
            <a:pPr algn="l" indent="0" marL="0">
              <a:buNone/>
            </a:pPr>
            <a:r>
              <a:rPr lang="en-US" sz="1400" b="1" dirty="0">
                <a:solidFill>
                  <a:srgbClr val="0A1F44"/>
                </a:solidFill>
                <a:latin typeface="Consolas" pitchFamily="34" charset="0"/>
                <a:ea typeface="Consolas" pitchFamily="34" charset="-122"/>
                <a:cs typeface="Consolas" pitchFamily="34" charset="-120"/>
              </a:rPr>
              <a:t>backend/app/modules/&lt;módulo&gt;/</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Cada módulo repite router.py → schemas.py → service.py → models.py. Ej.: trips, bookings, auth.</a:t>
            </a:r>
            <a:endParaRPr lang="en-US" sz="1400" dirty="0"/>
          </a:p>
        </p:txBody>
      </p:sp>
      <p:sp>
        <p:nvSpPr>
          <p:cNvPr id="10" name="Text 8"/>
          <p:cNvSpPr txBox="1"/>
          <p:nvPr/>
        </p:nvSpPr>
        <p:spPr>
          <a:xfrm>
            <a:off x="6537960" y="3840480"/>
            <a:ext cx="5120640" cy="1115568"/>
          </a:xfrm>
          <a:prstGeom prst="roundRect">
            <a:avLst>
              <a:gd name="adj" fmla="val 6557"/>
            </a:avLst>
          </a:prstGeom>
          <a:solidFill>
            <a:srgbClr val="F5F9FF"/>
          </a:solidFill>
          <a:ln w="12700">
            <a:solidFill>
              <a:srgbClr val="C9D7EE"/>
            </a:solidFill>
          </a:ln>
        </p:spPr>
        <p:txBody>
          <a:bodyPr wrap="square" lIns="127000" tIns="127000" rIns="127000" bIns="127000" rtlCol="0" anchor="ctr"/>
          <a:lstStyle/>
          <a:p>
            <a:pPr algn="l" indent="0" marL="0">
              <a:buNone/>
            </a:pPr>
            <a:r>
              <a:rPr lang="en-US" sz="1400" b="1" dirty="0">
                <a:solidFill>
                  <a:srgbClr val="0A1F44"/>
                </a:solidFill>
                <a:latin typeface="Consolas" pitchFamily="34" charset="0"/>
                <a:ea typeface="Consolas" pitchFamily="34" charset="-122"/>
                <a:cs typeface="Consolas" pitchFamily="34" charset="-120"/>
              </a:rPr>
              <a:t>backend/alembic/versions/</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Historia del esquema: cada migración crea o cambia tablas. Se aplican al arrancar la API.</a:t>
            </a:r>
            <a:endParaRPr lang="en-US" sz="1400" dirty="0"/>
          </a:p>
        </p:txBody>
      </p:sp>
      <p:sp>
        <p:nvSpPr>
          <p:cNvPr id="11" name="Text 9"/>
          <p:cNvSpPr txBox="1"/>
          <p:nvPr/>
        </p:nvSpPr>
        <p:spPr>
          <a:xfrm>
            <a:off x="6537960" y="5074920"/>
            <a:ext cx="5120640" cy="1115568"/>
          </a:xfrm>
          <a:prstGeom prst="roundRect">
            <a:avLst>
              <a:gd name="adj" fmla="val 6557"/>
            </a:avLst>
          </a:prstGeom>
          <a:solidFill>
            <a:srgbClr val="F5F9FF"/>
          </a:solidFill>
          <a:ln w="12700">
            <a:solidFill>
              <a:srgbClr val="C9D7EE"/>
            </a:solidFill>
          </a:ln>
        </p:spPr>
        <p:txBody>
          <a:bodyPr wrap="square" lIns="127000" tIns="127000" rIns="127000" bIns="127000" rtlCol="0" anchor="ctr"/>
          <a:lstStyle/>
          <a:p>
            <a:pPr algn="l" indent="0" marL="0">
              <a:buNone/>
            </a:pPr>
            <a:r>
              <a:rPr lang="en-US" sz="1400" b="1" dirty="0">
                <a:solidFill>
                  <a:srgbClr val="0A1F44"/>
                </a:solidFill>
                <a:latin typeface="Consolas" pitchFamily="34" charset="0"/>
                <a:ea typeface="Consolas" pitchFamily="34" charset="-122"/>
                <a:cs typeface="Consolas" pitchFamily="34" charset="-120"/>
              </a:rPr>
              <a:t>infra/ y .env.example</a:t>
            </a:r>
            <a:endParaRPr lang="en-US" sz="1400" dirty="0"/>
          </a:p>
          <a:p>
            <a:pPr algn="l" indent="0" marL="0">
              <a:buNone/>
            </a:pPr>
            <a:r>
              <a:rPr lang="en-US" sz="1200" dirty="0">
                <a:solidFill>
                  <a:srgbClr val="33415C"/>
                </a:solidFill>
                <a:latin typeface="Calibri" pitchFamily="34" charset="0"/>
                <a:ea typeface="Calibri" pitchFamily="34" charset="-122"/>
                <a:cs typeface="Calibri" pitchFamily="34" charset="-120"/>
              </a:rPr>
              <a:t>Cómo se levantan los contenedores y qué variables necesitan (sin valores reales).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INICIO DEL SERVIDOR · 1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Cómo arranca el backend</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Backend</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7</a:t>
            </a:r>
            <a:endParaRPr lang="en-US" sz="1100" dirty="0"/>
          </a:p>
        </p:txBody>
      </p:sp>
      <p:sp>
        <p:nvSpPr>
          <p:cNvPr id="6" name="Text 4"/>
          <p:cNvSpPr txBox="1"/>
          <p:nvPr/>
        </p:nvSpPr>
        <p:spPr>
          <a:xfrm>
            <a:off x="548640" y="1435608"/>
            <a:ext cx="457200" cy="45720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43000" y="13716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Docker levanta el contenedor api</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command: alembic upgrade head &amp;&amp; uvicorn app.main:app --reload (desarrollo) · gunicorn con workers de uvicorn (Dockerfile, producción)</a:t>
            </a:r>
            <a:endParaRPr lang="en-US" sz="1500" dirty="0"/>
          </a:p>
        </p:txBody>
      </p:sp>
      <p:sp>
        <p:nvSpPr>
          <p:cNvPr id="8" name="Text 6"/>
          <p:cNvSpPr txBox="1"/>
          <p:nvPr/>
        </p:nvSpPr>
        <p:spPr>
          <a:xfrm>
            <a:off x="548640" y="2121408"/>
            <a:ext cx="457200" cy="45720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43000" y="20574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Alembic aplica las migraciones</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Crea o actualiza las 35 tablas antes de aceptar peticiones</a:t>
            </a:r>
            <a:endParaRPr lang="en-US" sz="1500" dirty="0"/>
          </a:p>
        </p:txBody>
      </p:sp>
      <p:sp>
        <p:nvSpPr>
          <p:cNvPr id="10" name="Text 8"/>
          <p:cNvSpPr txBox="1"/>
          <p:nvPr/>
        </p:nvSpPr>
        <p:spPr>
          <a:xfrm>
            <a:off x="548640" y="2807208"/>
            <a:ext cx="457200" cy="45720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143000" y="27432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Uvicorn importa app.main</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Al final del archivo: app = create_app()</a:t>
            </a:r>
            <a:endParaRPr lang="en-US" sz="1500" dirty="0"/>
          </a:p>
        </p:txBody>
      </p:sp>
      <p:sp>
        <p:nvSpPr>
          <p:cNvPr id="12" name="Text 10"/>
          <p:cNvSpPr txBox="1"/>
          <p:nvPr/>
        </p:nvSpPr>
        <p:spPr>
          <a:xfrm>
            <a:off x="548640" y="3493008"/>
            <a:ext cx="457200" cy="45720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3" name="Text 11"/>
          <p:cNvSpPr txBox="1"/>
          <p:nvPr/>
        </p:nvSpPr>
        <p:spPr>
          <a:xfrm>
            <a:off x="1143000" y="34290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create_app() lee la configuración</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get_settings() valida el .env con Pydantic; en producción se niega a arrancar con secretos de ejemplo</a:t>
            </a:r>
            <a:endParaRPr lang="en-US" sz="1500" dirty="0"/>
          </a:p>
        </p:txBody>
      </p:sp>
      <p:sp>
        <p:nvSpPr>
          <p:cNvPr id="14" name="Text 12"/>
          <p:cNvSpPr txBox="1"/>
          <p:nvPr/>
        </p:nvSpPr>
        <p:spPr>
          <a:xfrm>
            <a:off x="548640" y="4178808"/>
            <a:ext cx="457200" cy="45720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5" name="Text 13"/>
          <p:cNvSpPr txBox="1"/>
          <p:nvPr/>
        </p:nvSpPr>
        <p:spPr>
          <a:xfrm>
            <a:off x="1143000" y="41148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Configura logs, middlewares y errores</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configure_logging · 4 middlewares · register_error_handlers(app)</a:t>
            </a:r>
            <a:endParaRPr lang="en-US" sz="1500" dirty="0"/>
          </a:p>
        </p:txBody>
      </p:sp>
      <p:sp>
        <p:nvSpPr>
          <p:cNvPr id="16" name="Text 14"/>
          <p:cNvSpPr txBox="1"/>
          <p:nvPr/>
        </p:nvSpPr>
        <p:spPr>
          <a:xfrm>
            <a:off x="548640" y="4864608"/>
            <a:ext cx="457200" cy="45720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7" name="Text 15"/>
          <p:cNvSpPr txBox="1"/>
          <p:nvPr/>
        </p:nvSpPr>
        <p:spPr>
          <a:xfrm>
            <a:off x="1143000" y="48006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Registra las rutas</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Un APIRouter con prefijo /api/v1 incluye 20 routers públicos y 9 de administración; el WebSocket va aparte en /ws</a:t>
            </a:r>
            <a:endParaRPr lang="en-US" sz="1500" dirty="0"/>
          </a:p>
        </p:txBody>
      </p:sp>
      <p:sp>
        <p:nvSpPr>
          <p:cNvPr id="18" name="Text 16"/>
          <p:cNvSpPr txBox="1"/>
          <p:nvPr/>
        </p:nvSpPr>
        <p:spPr>
          <a:xfrm>
            <a:off x="548640" y="5550408"/>
            <a:ext cx="457200" cy="457200"/>
          </a:xfrm>
          <a:prstGeom prst="ellipse">
            <a:avLst/>
          </a:prstGeom>
          <a:solidFill>
            <a:srgbClr val="0B7556"/>
          </a:solidFill>
          <a:ln>
            <a:solidFill>
              <a:srgbClr val="0B755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9" name="Text 17"/>
          <p:cNvSpPr txBox="1"/>
          <p:nvPr/>
        </p:nvSpPr>
        <p:spPr>
          <a:xfrm>
            <a:off x="1143000" y="5486400"/>
            <a:ext cx="5577840" cy="640080"/>
          </a:xfrm>
          <a:prstGeom prst="rect">
            <a:avLst/>
          </a:prstGeom>
          <a:noFill/>
          <a:ln/>
        </p:spPr>
        <p:txBody>
          <a:bodyPr wrap="square" lIns="0" tIns="0" rIns="0" bIns="0" rtlCol="0" anchor="ctr"/>
          <a:lstStyle/>
          <a:p>
            <a:pPr indent="0" marL="0">
              <a:buNone/>
            </a:pPr>
            <a:r>
              <a:rPr lang="en-US" sz="1500" b="1" dirty="0">
                <a:solidFill>
                  <a:srgbClr val="0A1F44"/>
                </a:solidFill>
                <a:latin typeface="Calibri" pitchFamily="34" charset="0"/>
                <a:ea typeface="Calibri" pitchFamily="34" charset="-122"/>
                <a:cs typeface="Calibri" pitchFamily="34" charset="-120"/>
              </a:rPr>
              <a:t>Queda escuchando en el puerto 8000</a:t>
            </a:r>
            <a:endParaRPr lang="en-US" sz="1500" dirty="0"/>
          </a:p>
          <a:p>
            <a:pPr indent="0" marL="0">
              <a:buNone/>
            </a:pPr>
            <a:r>
              <a:rPr lang="en-US" sz="1200" dirty="0">
                <a:solidFill>
                  <a:srgbClr val="33415C"/>
                </a:solidFill>
                <a:latin typeface="Calibri" pitchFamily="34" charset="0"/>
                <a:ea typeface="Calibri" pitchFamily="34" charset="-122"/>
                <a:cs typeface="Calibri" pitchFamily="34" charset="-120"/>
              </a:rPr>
              <a:t>La conexión a PostgreSQL se abre en la primera consulta, no al arrancar</a:t>
            </a:r>
            <a:endParaRPr lang="en-US" sz="1500" dirty="0"/>
          </a:p>
        </p:txBody>
      </p:sp>
      <p:sp>
        <p:nvSpPr>
          <p:cNvPr id="20" name="Shape 18"/>
          <p:cNvSpPr/>
          <p:nvPr/>
        </p:nvSpPr>
        <p:spPr>
          <a:xfrm>
            <a:off x="6995160" y="1371600"/>
            <a:ext cx="4663440" cy="4892040"/>
          </a:xfrm>
          <a:prstGeom prst="roundRect">
            <a:avLst>
              <a:gd name="adj" fmla="val 1569"/>
            </a:avLst>
          </a:prstGeom>
          <a:solidFill>
            <a:srgbClr val="0F2A55"/>
          </a:solidFill>
          <a:ln w="12700">
            <a:solidFill>
              <a:srgbClr val="0F2A55"/>
            </a:solidFill>
            <a:prstDash val="solid"/>
          </a:ln>
        </p:spPr>
      </p:sp>
      <p:sp>
        <p:nvSpPr>
          <p:cNvPr id="21" name="Text 19"/>
          <p:cNvSpPr txBox="1"/>
          <p:nvPr/>
        </p:nvSpPr>
        <p:spPr>
          <a:xfrm>
            <a:off x="7132320" y="1481328"/>
            <a:ext cx="4389120" cy="4690872"/>
          </a:xfrm>
          <a:prstGeom prst="rect">
            <a:avLst/>
          </a:prstGeom>
          <a:noFill/>
          <a:ln/>
        </p:spPr>
        <p:txBody>
          <a:bodyPr wrap="square" lIns="0" tIns="0" rIns="0" bIns="0" rtlCol="0" anchor="t"/>
          <a:lstStyle/>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backend/app/main.py (extracto)</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@asynccontextmanager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async def lifespan(app):</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yield                      # la app corre</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await arq_pool.aclose()    # al apagar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await redis_client.aclose()</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await engine.dispose()     # cierra el pool</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def create_app() -&gt; FastAPI:</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settings = get_settings()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configure_logging(...)</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app = FastAPI(</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title="Carpool Universitario API",</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docs_url=f"{settings.api_prefix}/docs",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lifespan=lifespan)</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 ... middlewares y errores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api = APIRouter(prefix=settings.api_prefix)</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 ... include_router(...)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app.include_router(api)</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app.include_router(live.router)  # /ws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return app</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app = create_app()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INICIO DEL SERVIDOR · 2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Middlewares y registro de rutas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Backend</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8</a:t>
            </a:r>
            <a:endParaRPr lang="en-US" sz="1100" dirty="0"/>
          </a:p>
        </p:txBody>
      </p:sp>
      <p:sp>
        <p:nvSpPr>
          <p:cNvPr id="6" name="Text 4"/>
          <p:cNvSpPr txBox="1"/>
          <p:nvPr/>
        </p:nvSpPr>
        <p:spPr>
          <a:xfrm>
            <a:off x="548640" y="1325880"/>
            <a:ext cx="11064240" cy="320040"/>
          </a:xfrm>
          <a:prstGeom prst="rect">
            <a:avLst/>
          </a:prstGeom>
          <a:noFill/>
          <a:ln/>
        </p:spPr>
        <p:txBody>
          <a:bodyPr wrap="square" lIns="0" tIns="0" rIns="0" bIns="0" rtlCol="0" anchor="ctr"/>
          <a:lstStyle/>
          <a:p>
            <a:pPr indent="0" marL="0">
              <a:buNone/>
            </a:pPr>
            <a:r>
              <a:rPr lang="en-US" sz="1500" dirty="0">
                <a:solidFill>
                  <a:srgbClr val="33415C"/>
                </a:solidFill>
                <a:latin typeface="Calibri" pitchFamily="34" charset="0"/>
                <a:ea typeface="Calibri" pitchFamily="34" charset="-122"/>
                <a:cs typeface="Calibri" pitchFamily="34" charset="-120"/>
              </a:rPr>
              <a:t>Una petición atraviesa los middlewares en este orden (el último agregado es el más externo):</a:t>
            </a:r>
            <a:endParaRPr lang="en-US" sz="1500" dirty="0"/>
          </a:p>
        </p:txBody>
      </p:sp>
      <p:sp>
        <p:nvSpPr>
          <p:cNvPr id="7" name="Text 5"/>
          <p:cNvSpPr txBox="1"/>
          <p:nvPr/>
        </p:nvSpPr>
        <p:spPr>
          <a:xfrm>
            <a:off x="548640" y="1783080"/>
            <a:ext cx="2057400" cy="1234440"/>
          </a:xfrm>
          <a:prstGeom prst="roundRect">
            <a:avLst>
              <a:gd name="adj" fmla="val 5926"/>
            </a:avLst>
          </a:prstGeom>
          <a:solidFill>
            <a:srgbClr val="EAF3FF"/>
          </a:solidFill>
          <a:ln w="12700">
            <a:solidFill>
              <a:srgbClr val="EAF3FF"/>
            </a:solidFill>
          </a:ln>
        </p:spPr>
        <p:txBody>
          <a:bodyPr wrap="square" lIns="76200" tIns="76200" rIns="76200" bIns="76200" rtlCol="0" anchor="ctr"/>
          <a:lstStyle/>
          <a:p>
            <a:pPr algn="ctr" indent="0" marL="0">
              <a:buNone/>
            </a:pPr>
            <a:r>
              <a:rPr lang="en-US" sz="1500" b="1" dirty="0">
                <a:solidFill>
                  <a:srgbClr val="0A1F44"/>
                </a:solidFill>
                <a:latin typeface="Calibri" pitchFamily="34" charset="0"/>
                <a:ea typeface="Calibri" pitchFamily="34" charset="-122"/>
                <a:cs typeface="Calibri" pitchFamily="34" charset="-120"/>
              </a:rPr>
              <a:t>RequestLog</a:t>
            </a:r>
            <a:endParaRPr lang="en-US" sz="1500" dirty="0"/>
          </a:p>
          <a:p>
            <a:pPr algn="ctr" indent="0" marL="0">
              <a:buNone/>
            </a:pPr>
            <a:r>
              <a:rPr lang="en-US" sz="1100" dirty="0">
                <a:solidFill>
                  <a:srgbClr val="33415C"/>
                </a:solidFill>
                <a:latin typeface="Calibri" pitchFamily="34" charset="0"/>
                <a:ea typeface="Calibri" pitchFamily="34" charset="-122"/>
                <a:cs typeface="Calibri" pitchFamily="34" charset="-120"/>
              </a:rPr>
              <a:t>Middleware: id de petición y log de método, ruta, estado y duración</a:t>
            </a:r>
            <a:endParaRPr lang="en-US" sz="1500" dirty="0"/>
          </a:p>
        </p:txBody>
      </p:sp>
      <p:sp>
        <p:nvSpPr>
          <p:cNvPr id="8" name="Shape 6"/>
          <p:cNvSpPr/>
          <p:nvPr/>
        </p:nvSpPr>
        <p:spPr>
          <a:xfrm>
            <a:off x="2606040" y="2395728"/>
            <a:ext cx="228600" cy="914"/>
          </a:xfrm>
          <a:prstGeom prst="line">
            <a:avLst/>
          </a:prstGeom>
          <a:noFill/>
          <a:ln w="25400">
            <a:solidFill>
              <a:srgbClr val="1E5AA8"/>
            </a:solidFill>
            <a:prstDash val="solid"/>
            <a:tailEnd type="triangle"/>
          </a:ln>
        </p:spPr>
      </p:sp>
      <p:sp>
        <p:nvSpPr>
          <p:cNvPr id="9" name="Text 7"/>
          <p:cNvSpPr txBox="1"/>
          <p:nvPr/>
        </p:nvSpPr>
        <p:spPr>
          <a:xfrm>
            <a:off x="2834640" y="1783080"/>
            <a:ext cx="2057400" cy="1234440"/>
          </a:xfrm>
          <a:prstGeom prst="roundRect">
            <a:avLst>
              <a:gd name="adj" fmla="val 5926"/>
            </a:avLst>
          </a:prstGeom>
          <a:solidFill>
            <a:srgbClr val="EAF3FF"/>
          </a:solidFill>
          <a:ln w="12700">
            <a:solidFill>
              <a:srgbClr val="EAF3FF"/>
            </a:solidFill>
          </a:ln>
        </p:spPr>
        <p:txBody>
          <a:bodyPr wrap="square" lIns="76200" tIns="76200" rIns="76200" bIns="76200" rtlCol="0" anchor="ctr"/>
          <a:lstStyle/>
          <a:p>
            <a:pPr algn="ctr" indent="0" marL="0">
              <a:buNone/>
            </a:pPr>
            <a:r>
              <a:rPr lang="en-US" sz="1500" b="1" dirty="0">
                <a:solidFill>
                  <a:srgbClr val="0A1F44"/>
                </a:solidFill>
                <a:latin typeface="Calibri" pitchFamily="34" charset="0"/>
                <a:ea typeface="Calibri" pitchFamily="34" charset="-122"/>
                <a:cs typeface="Calibri" pitchFamily="34" charset="-120"/>
              </a:rPr>
              <a:t>CORS</a:t>
            </a:r>
            <a:endParaRPr lang="en-US" sz="1500" dirty="0"/>
          </a:p>
          <a:p>
            <a:pPr algn="ctr" indent="0" marL="0">
              <a:buNone/>
            </a:pPr>
            <a:r>
              <a:rPr lang="en-US" sz="1100" dirty="0">
                <a:solidFill>
                  <a:srgbClr val="33415C"/>
                </a:solidFill>
                <a:latin typeface="Calibri" pitchFamily="34" charset="0"/>
                <a:ea typeface="Calibri" pitchFamily="34" charset="-122"/>
                <a:cs typeface="Calibri" pitchFamily="34" charset="-120"/>
              </a:rPr>
              <a:t>Middleware: solo orígenes de CORS_ORIGINS</a:t>
            </a:r>
            <a:endParaRPr lang="en-US" sz="1500" dirty="0"/>
          </a:p>
        </p:txBody>
      </p:sp>
      <p:sp>
        <p:nvSpPr>
          <p:cNvPr id="10" name="Shape 8"/>
          <p:cNvSpPr/>
          <p:nvPr/>
        </p:nvSpPr>
        <p:spPr>
          <a:xfrm>
            <a:off x="4892040" y="2395728"/>
            <a:ext cx="228600" cy="914"/>
          </a:xfrm>
          <a:prstGeom prst="line">
            <a:avLst/>
          </a:prstGeom>
          <a:noFill/>
          <a:ln w="25400">
            <a:solidFill>
              <a:srgbClr val="1E5AA8"/>
            </a:solidFill>
            <a:prstDash val="solid"/>
            <a:tailEnd type="triangle"/>
          </a:ln>
        </p:spPr>
      </p:sp>
      <p:sp>
        <p:nvSpPr>
          <p:cNvPr id="11" name="Text 9"/>
          <p:cNvSpPr txBox="1"/>
          <p:nvPr/>
        </p:nvSpPr>
        <p:spPr>
          <a:xfrm>
            <a:off x="5120640" y="1783080"/>
            <a:ext cx="2057400" cy="1234440"/>
          </a:xfrm>
          <a:prstGeom prst="roundRect">
            <a:avLst>
              <a:gd name="adj" fmla="val 5926"/>
            </a:avLst>
          </a:prstGeom>
          <a:solidFill>
            <a:srgbClr val="EAF3FF"/>
          </a:solidFill>
          <a:ln w="12700">
            <a:solidFill>
              <a:srgbClr val="EAF3FF"/>
            </a:solidFill>
          </a:ln>
        </p:spPr>
        <p:txBody>
          <a:bodyPr wrap="square" lIns="76200" tIns="76200" rIns="76200" bIns="76200" rtlCol="0" anchor="ctr"/>
          <a:lstStyle/>
          <a:p>
            <a:pPr algn="ctr" indent="0" marL="0">
              <a:buNone/>
            </a:pPr>
            <a:r>
              <a:rPr lang="en-US" sz="1500" b="1" dirty="0">
                <a:solidFill>
                  <a:srgbClr val="0A1F44"/>
                </a:solidFill>
                <a:latin typeface="Calibri" pitchFamily="34" charset="0"/>
                <a:ea typeface="Calibri" pitchFamily="34" charset="-122"/>
                <a:cs typeface="Calibri" pitchFamily="34" charset="-120"/>
              </a:rPr>
              <a:t>SecurityHeaders</a:t>
            </a:r>
            <a:endParaRPr lang="en-US" sz="1500" dirty="0"/>
          </a:p>
          <a:p>
            <a:pPr algn="ctr" indent="0" marL="0">
              <a:buNone/>
            </a:pPr>
            <a:r>
              <a:rPr lang="en-US" sz="1100" dirty="0">
                <a:solidFill>
                  <a:srgbClr val="33415C"/>
                </a:solidFill>
                <a:latin typeface="Calibri" pitchFamily="34" charset="0"/>
                <a:ea typeface="Calibri" pitchFamily="34" charset="-122"/>
                <a:cs typeface="Calibri" pitchFamily="34" charset="-120"/>
              </a:rPr>
              <a:t>Middleware: nosniff, X-Frame-Options, CSP, HSTS en producción</a:t>
            </a:r>
            <a:endParaRPr lang="en-US" sz="1500" dirty="0"/>
          </a:p>
        </p:txBody>
      </p:sp>
      <p:sp>
        <p:nvSpPr>
          <p:cNvPr id="12" name="Shape 10"/>
          <p:cNvSpPr/>
          <p:nvPr/>
        </p:nvSpPr>
        <p:spPr>
          <a:xfrm>
            <a:off x="7178040" y="2395728"/>
            <a:ext cx="228600" cy="914"/>
          </a:xfrm>
          <a:prstGeom prst="line">
            <a:avLst/>
          </a:prstGeom>
          <a:noFill/>
          <a:ln w="25400">
            <a:solidFill>
              <a:srgbClr val="1E5AA8"/>
            </a:solidFill>
            <a:prstDash val="solid"/>
            <a:tailEnd type="triangle"/>
          </a:ln>
        </p:spPr>
      </p:sp>
      <p:sp>
        <p:nvSpPr>
          <p:cNvPr id="13" name="Text 11"/>
          <p:cNvSpPr txBox="1"/>
          <p:nvPr/>
        </p:nvSpPr>
        <p:spPr>
          <a:xfrm>
            <a:off x="7406640" y="1783080"/>
            <a:ext cx="2057400" cy="1234440"/>
          </a:xfrm>
          <a:prstGeom prst="roundRect">
            <a:avLst>
              <a:gd name="adj" fmla="val 5926"/>
            </a:avLst>
          </a:prstGeom>
          <a:solidFill>
            <a:srgbClr val="EAF3FF"/>
          </a:solidFill>
          <a:ln w="12700">
            <a:solidFill>
              <a:srgbClr val="EAF3FF"/>
            </a:solidFill>
          </a:ln>
        </p:spPr>
        <p:txBody>
          <a:bodyPr wrap="square" lIns="76200" tIns="76200" rIns="76200" bIns="76200" rtlCol="0" anchor="ctr"/>
          <a:lstStyle/>
          <a:p>
            <a:pPr algn="ctr" indent="0" marL="0">
              <a:buNone/>
            </a:pPr>
            <a:r>
              <a:rPr lang="en-US" sz="1500" b="1" dirty="0">
                <a:solidFill>
                  <a:srgbClr val="0A1F44"/>
                </a:solidFill>
                <a:latin typeface="Calibri" pitchFamily="34" charset="0"/>
                <a:ea typeface="Calibri" pitchFamily="34" charset="-122"/>
                <a:cs typeface="Calibri" pitchFamily="34" charset="-120"/>
              </a:rPr>
              <a:t>SlowAPI</a:t>
            </a:r>
            <a:endParaRPr lang="en-US" sz="1500" dirty="0"/>
          </a:p>
          <a:p>
            <a:pPr algn="ctr" indent="0" marL="0">
              <a:buNone/>
            </a:pPr>
            <a:r>
              <a:rPr lang="en-US" sz="1100" dirty="0">
                <a:solidFill>
                  <a:srgbClr val="33415C"/>
                </a:solidFill>
                <a:latin typeface="Calibri" pitchFamily="34" charset="0"/>
                <a:ea typeface="Calibri" pitchFamily="34" charset="-122"/>
                <a:cs typeface="Calibri" pitchFamily="34" charset="-120"/>
              </a:rPr>
              <a:t>Middleware: límite global 120/min por IP, guardado en Redis</a:t>
            </a:r>
            <a:endParaRPr lang="en-US" sz="1500" dirty="0"/>
          </a:p>
        </p:txBody>
      </p:sp>
      <p:sp>
        <p:nvSpPr>
          <p:cNvPr id="14" name="Shape 12"/>
          <p:cNvSpPr/>
          <p:nvPr/>
        </p:nvSpPr>
        <p:spPr>
          <a:xfrm>
            <a:off x="9464040" y="2395728"/>
            <a:ext cx="228600" cy="914"/>
          </a:xfrm>
          <a:prstGeom prst="line">
            <a:avLst/>
          </a:prstGeom>
          <a:noFill/>
          <a:ln w="25400">
            <a:solidFill>
              <a:srgbClr val="1E5AA8"/>
            </a:solidFill>
            <a:prstDash val="solid"/>
            <a:tailEnd type="triangle"/>
          </a:ln>
        </p:spPr>
      </p:sp>
      <p:sp>
        <p:nvSpPr>
          <p:cNvPr id="15" name="Text 13"/>
          <p:cNvSpPr txBox="1"/>
          <p:nvPr/>
        </p:nvSpPr>
        <p:spPr>
          <a:xfrm>
            <a:off x="9692640" y="1783080"/>
            <a:ext cx="2057400" cy="1234440"/>
          </a:xfrm>
          <a:prstGeom prst="roundRect">
            <a:avLst>
              <a:gd name="adj" fmla="val 5926"/>
            </a:avLst>
          </a:prstGeom>
          <a:solidFill>
            <a:srgbClr val="0A1F44"/>
          </a:solidFill>
          <a:ln w="12700">
            <a:solidFill>
              <a:srgbClr val="0A1F44"/>
            </a:solid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Router de FastAPI</a:t>
            </a:r>
            <a:endParaRPr lang="en-US" sz="1500" dirty="0"/>
          </a:p>
          <a:p>
            <a:pPr algn="ctr" indent="0" marL="0">
              <a:buNone/>
            </a:pPr>
            <a:r>
              <a:rPr lang="en-US" sz="1100" dirty="0">
                <a:solidFill>
                  <a:srgbClr val="90C5FF"/>
                </a:solidFill>
                <a:latin typeface="Calibri" pitchFamily="34" charset="0"/>
                <a:ea typeface="Calibri" pitchFamily="34" charset="-122"/>
                <a:cs typeface="Calibri" pitchFamily="34" charset="-120"/>
              </a:rPr>
              <a:t>dependencias, validación y servicio</a:t>
            </a:r>
            <a:endParaRPr lang="en-US" sz="1500" dirty="0"/>
          </a:p>
        </p:txBody>
      </p:sp>
      <p:sp>
        <p:nvSpPr>
          <p:cNvPr id="16" name="Shape 14"/>
          <p:cNvSpPr/>
          <p:nvPr/>
        </p:nvSpPr>
        <p:spPr>
          <a:xfrm>
            <a:off x="548640" y="3291840"/>
            <a:ext cx="5852160" cy="2514600"/>
          </a:xfrm>
          <a:prstGeom prst="roundRect">
            <a:avLst>
              <a:gd name="adj" fmla="val 2909"/>
            </a:avLst>
          </a:prstGeom>
          <a:solidFill>
            <a:srgbClr val="0F2A55"/>
          </a:solidFill>
          <a:ln w="12700">
            <a:solidFill>
              <a:srgbClr val="0F2A55"/>
            </a:solidFill>
            <a:prstDash val="solid"/>
          </a:ln>
        </p:spPr>
      </p:sp>
      <p:sp>
        <p:nvSpPr>
          <p:cNvPr id="17" name="Text 15"/>
          <p:cNvSpPr txBox="1"/>
          <p:nvPr/>
        </p:nvSpPr>
        <p:spPr>
          <a:xfrm>
            <a:off x="685800" y="3401568"/>
            <a:ext cx="5577840" cy="2313432"/>
          </a:xfrm>
          <a:prstGeom prst="rect">
            <a:avLst/>
          </a:prstGeom>
          <a:noFill/>
          <a:ln/>
        </p:spPr>
        <p:txBody>
          <a:bodyPr wrap="square" lIns="0" tIns="0" rIns="0" bIns="0" rtlCol="0" anchor="t"/>
          <a:lstStyle/>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backend/app/main.py</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api = APIRouter(prefix=settings.api_prefix)  # /api/v1</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api.include_router(health.router)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for public_router in (auth.router, users.router,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trips.router, search.router, bookings.router,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chat.router, ...):           # 20 routers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api.include_router(public_router)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for admin_router in (settings_module.admin_router,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audit.admin_router, admin.router, ...):  # 9</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api.include_router(admin_router)</a:t>
            </a:r>
            <a:endParaRPr lang="en-US" sz="1200" dirty="0"/>
          </a:p>
        </p:txBody>
      </p:sp>
      <p:sp>
        <p:nvSpPr>
          <p:cNvPr id="18" name="Text 16"/>
          <p:cNvSpPr txBox="1"/>
          <p:nvPr/>
        </p:nvSpPr>
        <p:spPr>
          <a:xfrm>
            <a:off x="6675120" y="3337560"/>
            <a:ext cx="1554480" cy="731520"/>
          </a:xfrm>
          <a:prstGeom prst="rect">
            <a:avLst/>
          </a:prstGeom>
          <a:noFill/>
          <a:ln/>
        </p:spPr>
        <p:txBody>
          <a:bodyPr wrap="square" lIns="0" tIns="0" rIns="0" bIns="0" rtlCol="0" anchor="ctr"/>
          <a:lstStyle/>
          <a:p>
            <a:pPr algn="ctr" indent="0" marL="0">
              <a:buNone/>
            </a:pPr>
            <a:r>
              <a:rPr lang="en-US" sz="4000" b="1" dirty="0">
                <a:solidFill>
                  <a:srgbClr val="1E5AA8"/>
                </a:solidFill>
                <a:latin typeface="Calibri" pitchFamily="34" charset="0"/>
                <a:ea typeface="Calibri" pitchFamily="34" charset="-122"/>
                <a:cs typeface="Calibri" pitchFamily="34" charset="-120"/>
              </a:rPr>
              <a:t>144</a:t>
            </a:r>
            <a:endParaRPr lang="en-US" sz="4000" dirty="0"/>
          </a:p>
        </p:txBody>
      </p:sp>
      <p:sp>
        <p:nvSpPr>
          <p:cNvPr id="19" name="Text 17"/>
          <p:cNvSpPr txBox="1"/>
          <p:nvPr/>
        </p:nvSpPr>
        <p:spPr>
          <a:xfrm>
            <a:off x="6675120" y="4069080"/>
            <a:ext cx="1554480" cy="548640"/>
          </a:xfrm>
          <a:prstGeom prst="rect">
            <a:avLst/>
          </a:prstGeom>
          <a:noFill/>
          <a:ln/>
        </p:spPr>
        <p:txBody>
          <a:bodyPr wrap="square" lIns="0" tIns="0" rIns="0" bIns="0" rtlCol="0" anchor="ctr"/>
          <a:lstStyle/>
          <a:p>
            <a:pPr algn="ctr" indent="0" marL="0">
              <a:buNone/>
            </a:pPr>
            <a:r>
              <a:rPr lang="en-US" sz="1200" dirty="0">
                <a:solidFill>
                  <a:srgbClr val="33415C"/>
                </a:solidFill>
                <a:latin typeface="Calibri" pitchFamily="34" charset="0"/>
                <a:ea typeface="Calibri" pitchFamily="34" charset="-122"/>
                <a:cs typeface="Calibri" pitchFamily="34" charset="-120"/>
              </a:rPr>
              <a:t>operaciones HTTP en 124 rutas</a:t>
            </a:r>
            <a:endParaRPr lang="en-US" sz="1200" dirty="0"/>
          </a:p>
        </p:txBody>
      </p:sp>
      <p:sp>
        <p:nvSpPr>
          <p:cNvPr id="20" name="Text 18"/>
          <p:cNvSpPr txBox="1"/>
          <p:nvPr/>
        </p:nvSpPr>
        <p:spPr>
          <a:xfrm>
            <a:off x="8366760" y="3337560"/>
            <a:ext cx="1554480" cy="731520"/>
          </a:xfrm>
          <a:prstGeom prst="rect">
            <a:avLst/>
          </a:prstGeom>
          <a:noFill/>
          <a:ln/>
        </p:spPr>
        <p:txBody>
          <a:bodyPr wrap="square" lIns="0" tIns="0" rIns="0" bIns="0" rtlCol="0" anchor="ctr"/>
          <a:lstStyle/>
          <a:p>
            <a:pPr algn="ctr" indent="0" marL="0">
              <a:buNone/>
            </a:pPr>
            <a:r>
              <a:rPr lang="en-US" sz="4000" b="1" dirty="0">
                <a:solidFill>
                  <a:srgbClr val="1E5AA8"/>
                </a:solidFill>
                <a:latin typeface="Calibri" pitchFamily="34" charset="0"/>
                <a:ea typeface="Calibri" pitchFamily="34" charset="-122"/>
                <a:cs typeface="Calibri" pitchFamily="34" charset="-120"/>
              </a:rPr>
              <a:t>29</a:t>
            </a:r>
            <a:endParaRPr lang="en-US" sz="4000" dirty="0"/>
          </a:p>
        </p:txBody>
      </p:sp>
      <p:sp>
        <p:nvSpPr>
          <p:cNvPr id="21" name="Text 19"/>
          <p:cNvSpPr txBox="1"/>
          <p:nvPr/>
        </p:nvSpPr>
        <p:spPr>
          <a:xfrm>
            <a:off x="8366760" y="4069080"/>
            <a:ext cx="1554480" cy="548640"/>
          </a:xfrm>
          <a:prstGeom prst="rect">
            <a:avLst/>
          </a:prstGeom>
          <a:noFill/>
          <a:ln/>
        </p:spPr>
        <p:txBody>
          <a:bodyPr wrap="square" lIns="0" tIns="0" rIns="0" bIns="0" rtlCol="0" anchor="ctr"/>
          <a:lstStyle/>
          <a:p>
            <a:pPr algn="ctr" indent="0" marL="0">
              <a:buNone/>
            </a:pPr>
            <a:r>
              <a:rPr lang="en-US" sz="1200" dirty="0">
                <a:solidFill>
                  <a:srgbClr val="33415C"/>
                </a:solidFill>
                <a:latin typeface="Calibri" pitchFamily="34" charset="0"/>
                <a:ea typeface="Calibri" pitchFamily="34" charset="-122"/>
                <a:cs typeface="Calibri" pitchFamily="34" charset="-120"/>
              </a:rPr>
              <a:t>routers + salud</a:t>
            </a:r>
            <a:endParaRPr lang="en-US" sz="1200" dirty="0"/>
          </a:p>
        </p:txBody>
      </p:sp>
      <p:sp>
        <p:nvSpPr>
          <p:cNvPr id="22" name="Text 20"/>
          <p:cNvSpPr txBox="1"/>
          <p:nvPr/>
        </p:nvSpPr>
        <p:spPr>
          <a:xfrm>
            <a:off x="10058400" y="3337560"/>
            <a:ext cx="1554480" cy="731520"/>
          </a:xfrm>
          <a:prstGeom prst="rect">
            <a:avLst/>
          </a:prstGeom>
          <a:noFill/>
          <a:ln/>
        </p:spPr>
        <p:txBody>
          <a:bodyPr wrap="square" lIns="0" tIns="0" rIns="0" bIns="0" rtlCol="0" anchor="ctr"/>
          <a:lstStyle/>
          <a:p>
            <a:pPr algn="ctr" indent="0" marL="0">
              <a:buNone/>
            </a:pPr>
            <a:r>
              <a:rPr lang="en-US" sz="4000" b="1" dirty="0">
                <a:solidFill>
                  <a:srgbClr val="1E5AA8"/>
                </a:solidFill>
                <a:latin typeface="Calibri" pitchFamily="34" charset="0"/>
                <a:ea typeface="Calibri" pitchFamily="34" charset="-122"/>
                <a:cs typeface="Calibri" pitchFamily="34" charset="-120"/>
              </a:rPr>
              <a:t>1</a:t>
            </a:r>
            <a:endParaRPr lang="en-US" sz="4000" dirty="0"/>
          </a:p>
        </p:txBody>
      </p:sp>
      <p:sp>
        <p:nvSpPr>
          <p:cNvPr id="23" name="Text 21"/>
          <p:cNvSpPr txBox="1"/>
          <p:nvPr/>
        </p:nvSpPr>
        <p:spPr>
          <a:xfrm>
            <a:off x="10058400" y="4069080"/>
            <a:ext cx="1554480" cy="548640"/>
          </a:xfrm>
          <a:prstGeom prst="rect">
            <a:avLst/>
          </a:prstGeom>
          <a:noFill/>
          <a:ln/>
        </p:spPr>
        <p:txBody>
          <a:bodyPr wrap="square" lIns="0" tIns="0" rIns="0" bIns="0" rtlCol="0" anchor="ctr"/>
          <a:lstStyle/>
          <a:p>
            <a:pPr algn="ctr" indent="0" marL="0">
              <a:buNone/>
            </a:pPr>
            <a:r>
              <a:rPr lang="en-US" sz="1200" dirty="0">
                <a:solidFill>
                  <a:srgbClr val="33415C"/>
                </a:solidFill>
                <a:latin typeface="Calibri" pitchFamily="34" charset="0"/>
                <a:ea typeface="Calibri" pitchFamily="34" charset="-122"/>
                <a:cs typeface="Calibri" pitchFamily="34" charset="-120"/>
              </a:rPr>
              <a:t>WebSocket /ws</a:t>
            </a:r>
            <a:endParaRPr lang="en-US" sz="1200" dirty="0"/>
          </a:p>
        </p:txBody>
      </p:sp>
      <p:sp>
        <p:nvSpPr>
          <p:cNvPr id="24" name="Text 22"/>
          <p:cNvSpPr txBox="1"/>
          <p:nvPr/>
        </p:nvSpPr>
        <p:spPr>
          <a:xfrm>
            <a:off x="6675120" y="4846320"/>
            <a:ext cx="4983480" cy="1280160"/>
          </a:xfrm>
          <a:prstGeom prst="rect">
            <a:avLst/>
          </a:prstGeom>
          <a:noFill/>
          <a:ln/>
        </p:spPr>
        <p:txBody>
          <a:bodyPr wrap="square" lIns="0" tIns="0" rIns="0" bIns="0" rtlCol="0" anchor="t"/>
          <a:lstStyle/>
          <a:p>
            <a:pPr indent="0" marL="0">
              <a:buNone/>
            </a:pPr>
            <a:r>
              <a:rPr lang="en-US" sz="1400" dirty="0">
                <a:solidFill>
                  <a:srgbClr val="33415C"/>
                </a:solidFill>
                <a:latin typeface="Calibri" pitchFamily="34" charset="0"/>
                <a:ea typeface="Calibri" pitchFamily="34" charset="-122"/>
                <a:cs typeface="Calibri" pitchFamily="34" charset="-120"/>
              </a:rPr>
              <a:t>Cada router declara su prefijo (/auth, /trips, /admin/semesters…) y FastAPI genera la documentación interactiva en /api/v1/docs a partir de las funciones y sus esquemas Pydantic.</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ENDPOINTS · 1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Rutas de la API agrupadas por módulo</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API</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3291840"/>
                <a:gridCol w="731520"/>
                <a:gridCol w="41148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Módulo (router.py)</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Prefijo</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Ejemplos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bookings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/trips/{id}/bookings · /bookings</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pedir cupo, aceptar, rechazar, cancelar, abordó, ausente</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admin (console + router)</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/admin</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aprobaciones, usuarios, viajes, emergencias, moderación</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auth</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/auth</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register, login, verify-email, 2fa, refresh, logout</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safety</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/me/trusted-contacts · /trips/{id}/…</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contactos, ubicación, compartir, emergencia</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users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/users/me</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perfil, documentos, licencia, sesiones, eliminar cuenta</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trips · series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/trips · /series</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8 + 6</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publicar, editar, cancelar, duplicar, iniciar, finalizar</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vehicles · places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/vehicles · /places</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7 + 6</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CRUD de vehículos y foto · catálogo de lugares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chat · notifications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/conversations · /notifications</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6 + 4</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mensajes, no leídos, avisos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semesters · settings · legal · pico_placa</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/meta · /admin/…</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configuración del superadmin</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waitlist · ratings · stats · tickets</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varios</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lista de espera, calificar, estadísticas, ticket pagado</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A1F44"/>
                          </a:solidFill>
                          <a:latin typeface="Calibri" pitchFamily="34" charset="0"/>
                          <a:ea typeface="Calibri" pitchFamily="34" charset="-122"/>
                          <a:cs typeface="Calibri" pitchFamily="34" charset="-120"/>
                        </a:rPr>
                        <a:t>search · routing · audit · health</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onsolas" pitchFamily="34" charset="0"/>
                          <a:ea typeface="Consolas" pitchFamily="34" charset="-122"/>
                          <a:cs typeface="Consolas" pitchFamily="34" charset="-120"/>
                        </a:rPr>
                        <a:t>/search · /routing · /admin/audit · /health</a:t>
                      </a:r>
                      <a:endParaRPr lang="en-US" sz="12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buscar viajes, vista previa de ruta, auditoría, salud</a:t>
                      </a:r>
                      <a:endParaRPr lang="en-US" sz="12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bl>
          </a:graphicData>
        </a:graphic>
      </p:graphicFrame>
      <p:sp>
        <p:nvSpPr>
          <p:cNvPr id="7" name="Text 4"/>
          <p:cNvSpPr txBox="1"/>
          <p:nvPr/>
        </p:nvSpPr>
        <p:spPr>
          <a:xfrm>
            <a:off x="548640" y="5715000"/>
            <a:ext cx="11064240" cy="548640"/>
          </a:xfrm>
          <a:prstGeom prst="rect">
            <a:avLst/>
          </a:prstGeom>
          <a:noFill/>
          <a:ln/>
        </p:spPr>
        <p:txBody>
          <a:bodyPr wrap="square" lIns="0" tIns="0" rIns="0" bIns="0" rtlCol="0" anchor="ctr"/>
          <a:lstStyle/>
          <a:p>
            <a:pPr indent="0" marL="0">
              <a:buNone/>
            </a:pPr>
            <a:r>
              <a:rPr lang="en-US" sz="1300" dirty="0">
                <a:solidFill>
                  <a:srgbClr val="0A1F44"/>
                </a:solidFill>
                <a:latin typeface="Calibri" pitchFamily="34" charset="0"/>
                <a:ea typeface="Calibri" pitchFamily="34" charset="-122"/>
                <a:cs typeface="Calibri" pitchFamily="34" charset="-120"/>
              </a:rPr>
              <a:t>Total: 144 operaciones HTTP (63 GET, 63 POST, 10 PATCH, 2 PUT, 6 DELETE) en 124 rutas, todas bajo /api/v1, más el WebSocket /ws. Lista completa con esquemas en /api/v1/docs y en docs/API.md.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ENDPOINTS · 2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Endpoints clave en detalle</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API</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06040"/>
                <a:gridCol w="1965960"/>
                <a:gridCol w="2103120"/>
                <a:gridCol w="1783080"/>
                <a:gridCol w="1600200"/>
                <a:gridCol w="10058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Método y ruta</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Archivo · función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Recibe y valida</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Servicio</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Base de datos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Responde</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r>
              <a:tr h="0">
                <a:tc>
                  <a:txBody>
                    <a:bodyPr/>
                    <a:lstStyle/>
                    <a:p>
                      <a:pPr indent="0" marL="0">
                        <a:buNone/>
                      </a:pPr>
                      <a:r>
                        <a:rPr lang="en-US" sz="1100" b="1" dirty="0">
                          <a:solidFill>
                            <a:srgbClr val="0A1F44"/>
                          </a:solidFill>
                          <a:latin typeface="Consolas" pitchFamily="34" charset="0"/>
                          <a:ea typeface="Consolas" pitchFamily="34" charset="-122"/>
                          <a:cs typeface="Consolas" pitchFamily="34" charset="-120"/>
                        </a:rPr>
                        <a:t>POST /auth/login</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auth/router.py · login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LoginRequest (correo, contraseña); 10/min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AuthService.login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lee users; crea user_sessions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200 AuthResult + cookie de sesión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100" b="1" dirty="0">
                          <a:solidFill>
                            <a:srgbClr val="0A1F44"/>
                          </a:solidFill>
                          <a:latin typeface="Consolas" pitchFamily="34" charset="0"/>
                          <a:ea typeface="Consolas" pitchFamily="34" charset="-122"/>
                          <a:cs typeface="Consolas" pitchFamily="34" charset="-120"/>
                        </a:rPr>
                        <a:t>POST /trips</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trips/router.py · publish_trip</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TripCreate: lugares, salida, vehículo, puestos, aporte; 20/min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TripService.create</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inserta trips y trip_stops (ruta PostGIS)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201 TripOut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A1F44"/>
                          </a:solidFill>
                          <a:latin typeface="Consolas" pitchFamily="34" charset="0"/>
                          <a:ea typeface="Consolas" pitchFamily="34" charset="-122"/>
                          <a:cs typeface="Consolas" pitchFamily="34" charset="-120"/>
                        </a:rPr>
                        <a:t>GET /search/trips</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search/router.py · search_trips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SearchQuery: origen, destino, fecha, hora, puestos; 60/min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SearchService.search</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SELECT con ST_Distance y ST_LineLocatePoint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200 lista de SearchResult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100" b="1" dirty="0">
                          <a:solidFill>
                            <a:srgbClr val="0A1F44"/>
                          </a:solidFill>
                          <a:latin typeface="Consolas" pitchFamily="34" charset="0"/>
                          <a:ea typeface="Consolas" pitchFamily="34" charset="-122"/>
                          <a:cs typeface="Consolas" pitchFamily="34" charset="-120"/>
                        </a:rPr>
                        <a:t>POST /trips/{trip_id}/bookings</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bookings/router.py · request_booking</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BookingCreate: puestos, recogida, bajada, preferencias; 20/min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BookingService.request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inserta bookings y notifications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201 BookingOut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A1F44"/>
                          </a:solidFill>
                          <a:latin typeface="Consolas" pitchFamily="34" charset="0"/>
                          <a:ea typeface="Consolas" pitchFamily="34" charset="-122"/>
                          <a:cs typeface="Consolas" pitchFamily="34" charset="-120"/>
                        </a:rPr>
                        <a:t>POST /bookings/{booking_id}/accept</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bookings/router.py · accept_booking</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solo el conductor dueño (Driver)</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BookingService.accept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SELECT … FOR UPDATE; actualiza bookings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200 BookingOut</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100" b="1" dirty="0">
                          <a:solidFill>
                            <a:srgbClr val="0A1F44"/>
                          </a:solidFill>
                          <a:latin typeface="Consolas" pitchFamily="34" charset="0"/>
                          <a:ea typeface="Consolas" pitchFamily="34" charset="-122"/>
                          <a:cs typeface="Consolas" pitchFamily="34" charset="-120"/>
                        </a:rPr>
                        <a:t>POST /admin/approvals/{id}/approve</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admin/router.py · approve</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solo administradores (AdminActor)</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ApprovalService.approve</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actualiza documento y users.status; audit_log</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800600"/>
            <a:ext cx="11064240" cy="457200"/>
          </a:xfrm>
          <a:prstGeom prst="rect">
            <a:avLst/>
          </a:prstGeom>
          <a:noFill/>
          <a:ln/>
        </p:spPr>
        <p:txBody>
          <a:bodyPr wrap="square" lIns="0" tIns="0" rIns="0" bIns="0" rtlCol="0" anchor="ctr"/>
          <a:lstStyle/>
          <a:p>
            <a:pPr indent="0" marL="0">
              <a:buNone/>
            </a:pPr>
            <a:r>
              <a:rPr lang="en-US" sz="1400" dirty="0">
                <a:solidFill>
                  <a:srgbClr val="0A1F44"/>
                </a:solidFill>
                <a:latin typeface="Calibri" pitchFamily="34" charset="0"/>
                <a:ea typeface="Calibri" pitchFamily="34" charset="-122"/>
                <a:cs typeface="Calibri" pitchFamily="34" charset="-120"/>
              </a:rPr>
              <a:t>Todas las rutas van precedidas de /api/v1. Si una validación falla, la API responde con el formato de error común (ver diapositiva 19).</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FLUJO: PEDIR CUPO · 1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Conexiones internas: las capas de una petición</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Backend</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11</a:t>
            </a:r>
            <a:endParaRPr lang="en-US" sz="1100" dirty="0"/>
          </a:p>
        </p:txBody>
      </p:sp>
      <p:sp>
        <p:nvSpPr>
          <p:cNvPr id="6" name="Text 4"/>
          <p:cNvSpPr txBox="1"/>
          <p:nvPr/>
        </p:nvSpPr>
        <p:spPr>
          <a:xfrm>
            <a:off x="548640" y="1371600"/>
            <a:ext cx="2514600" cy="658368"/>
          </a:xfrm>
          <a:prstGeom prst="roundRect">
            <a:avLst>
              <a:gd name="adj" fmla="val 1111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router.py</a:t>
            </a:r>
            <a:endParaRPr lang="en-US" sz="1300" dirty="0"/>
          </a:p>
        </p:txBody>
      </p:sp>
      <p:sp>
        <p:nvSpPr>
          <p:cNvPr id="7" name="Text 5"/>
          <p:cNvSpPr txBox="1"/>
          <p:nvPr/>
        </p:nvSpPr>
        <p:spPr>
          <a:xfrm>
            <a:off x="3200400" y="1371600"/>
            <a:ext cx="4754880" cy="658368"/>
          </a:xfrm>
          <a:prstGeom prst="rect">
            <a:avLst/>
          </a:prstGeom>
          <a:noFill/>
          <a:ln/>
        </p:spPr>
        <p:txBody>
          <a:bodyPr wrap="square" lIns="0" tIns="0" rIns="0" bIns="0" rtlCol="0" anchor="ctr"/>
          <a:lstStyle/>
          <a:p>
            <a:pPr indent="0" marL="0">
              <a:buNone/>
            </a:pPr>
            <a:r>
              <a:rPr lang="en-US" sz="1100" dirty="0">
                <a:solidFill>
                  <a:srgbClr val="1E5AA8"/>
                </a:solidFill>
                <a:latin typeface="Consolas" pitchFamily="34" charset="0"/>
                <a:ea typeface="Consolas" pitchFamily="34" charset="-122"/>
                <a:cs typeface="Consolas" pitchFamily="34" charset="-120"/>
              </a:rPr>
              <a:t>request_booking(trip_id, body, user, session)</a:t>
            </a:r>
            <a:endParaRPr lang="en-US" sz="1100" dirty="0"/>
          </a:p>
          <a:p>
            <a:pPr indent="0" marL="0">
              <a:buNone/>
            </a:pPr>
            <a:r>
              <a:rPr lang="en-US" sz="1200" dirty="0">
                <a:solidFill>
                  <a:srgbClr val="33415C"/>
                </a:solidFill>
                <a:latin typeface="Calibri" pitchFamily="34" charset="0"/>
                <a:ea typeface="Calibri" pitchFamily="34" charset="-122"/>
                <a:cs typeface="Calibri" pitchFamily="34" charset="-120"/>
              </a:rPr>
              <a:t>Recibe la petición HTTP. No decide reglas.</a:t>
            </a:r>
            <a:endParaRPr lang="en-US" sz="1100" dirty="0"/>
          </a:p>
        </p:txBody>
      </p:sp>
      <p:sp>
        <p:nvSpPr>
          <p:cNvPr id="8" name="Shape 6"/>
          <p:cNvSpPr/>
          <p:nvPr/>
        </p:nvSpPr>
        <p:spPr>
          <a:xfrm>
            <a:off x="1801368" y="2029968"/>
            <a:ext cx="914" cy="128016"/>
          </a:xfrm>
          <a:prstGeom prst="line">
            <a:avLst/>
          </a:prstGeom>
          <a:noFill/>
          <a:ln w="19050">
            <a:solidFill>
              <a:srgbClr val="1E5AA8"/>
            </a:solidFill>
            <a:prstDash val="solid"/>
            <a:tailEnd type="triangle"/>
          </a:ln>
        </p:spPr>
      </p:sp>
      <p:sp>
        <p:nvSpPr>
          <p:cNvPr id="9" name="Text 7"/>
          <p:cNvSpPr txBox="1"/>
          <p:nvPr/>
        </p:nvSpPr>
        <p:spPr>
          <a:xfrm>
            <a:off x="548640" y="2157984"/>
            <a:ext cx="2514600" cy="658368"/>
          </a:xfrm>
          <a:prstGeom prst="roundRect">
            <a:avLst>
              <a:gd name="adj" fmla="val 1111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core/auth.py · core/deps.py</a:t>
            </a:r>
            <a:endParaRPr lang="en-US" sz="1300" dirty="0"/>
          </a:p>
        </p:txBody>
      </p:sp>
      <p:sp>
        <p:nvSpPr>
          <p:cNvPr id="10" name="Text 8"/>
          <p:cNvSpPr txBox="1"/>
          <p:nvPr/>
        </p:nvSpPr>
        <p:spPr>
          <a:xfrm>
            <a:off x="3200400" y="2157984"/>
            <a:ext cx="4754880" cy="658368"/>
          </a:xfrm>
          <a:prstGeom prst="rect">
            <a:avLst/>
          </a:prstGeom>
          <a:noFill/>
          <a:ln/>
        </p:spPr>
        <p:txBody>
          <a:bodyPr wrap="square" lIns="0" tIns="0" rIns="0" bIns="0" rtlCol="0" anchor="ctr"/>
          <a:lstStyle/>
          <a:p>
            <a:pPr indent="0" marL="0">
              <a:buNone/>
            </a:pPr>
            <a:r>
              <a:rPr lang="en-US" sz="1100" dirty="0">
                <a:solidFill>
                  <a:srgbClr val="1E5AA8"/>
                </a:solidFill>
                <a:latin typeface="Consolas" pitchFamily="34" charset="0"/>
                <a:ea typeface="Consolas" pitchFamily="34" charset="-122"/>
                <a:cs typeface="Consolas" pitchFamily="34" charset="-120"/>
              </a:rPr>
              <a:t>Passenger = require_roles(PASSENGER) · DbSession = Depends(get_session)</a:t>
            </a:r>
            <a:endParaRPr lang="en-US" sz="1100" dirty="0"/>
          </a:p>
          <a:p>
            <a:pPr indent="0" marL="0">
              <a:buNone/>
            </a:pPr>
            <a:r>
              <a:rPr lang="en-US" sz="1200" dirty="0">
                <a:solidFill>
                  <a:srgbClr val="33415C"/>
                </a:solidFill>
                <a:latin typeface="Calibri" pitchFamily="34" charset="0"/>
                <a:ea typeface="Calibri" pitchFamily="34" charset="-122"/>
                <a:cs typeface="Calibri" pitchFamily="34" charset="-120"/>
              </a:rPr>
              <a:t>Dependencias: identifica al usuario por el token y abre una sesión de base de datos.</a:t>
            </a:r>
            <a:endParaRPr lang="en-US" sz="1100" dirty="0"/>
          </a:p>
        </p:txBody>
      </p:sp>
      <p:sp>
        <p:nvSpPr>
          <p:cNvPr id="11" name="Shape 9"/>
          <p:cNvSpPr/>
          <p:nvPr/>
        </p:nvSpPr>
        <p:spPr>
          <a:xfrm>
            <a:off x="1801368" y="2816352"/>
            <a:ext cx="914" cy="128016"/>
          </a:xfrm>
          <a:prstGeom prst="line">
            <a:avLst/>
          </a:prstGeom>
          <a:noFill/>
          <a:ln w="19050">
            <a:solidFill>
              <a:srgbClr val="1E5AA8"/>
            </a:solidFill>
            <a:prstDash val="solid"/>
            <a:tailEnd type="triangle"/>
          </a:ln>
        </p:spPr>
      </p:sp>
      <p:sp>
        <p:nvSpPr>
          <p:cNvPr id="12" name="Text 10"/>
          <p:cNvSpPr txBox="1"/>
          <p:nvPr/>
        </p:nvSpPr>
        <p:spPr>
          <a:xfrm>
            <a:off x="548640" y="2944368"/>
            <a:ext cx="2514600" cy="658368"/>
          </a:xfrm>
          <a:prstGeom prst="roundRect">
            <a:avLst>
              <a:gd name="adj" fmla="val 1111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schemas.py</a:t>
            </a:r>
            <a:endParaRPr lang="en-US" sz="1300" dirty="0"/>
          </a:p>
        </p:txBody>
      </p:sp>
      <p:sp>
        <p:nvSpPr>
          <p:cNvPr id="13" name="Text 11"/>
          <p:cNvSpPr txBox="1"/>
          <p:nvPr/>
        </p:nvSpPr>
        <p:spPr>
          <a:xfrm>
            <a:off x="3200400" y="2944368"/>
            <a:ext cx="4754880" cy="658368"/>
          </a:xfrm>
          <a:prstGeom prst="rect">
            <a:avLst/>
          </a:prstGeom>
          <a:noFill/>
          <a:ln/>
        </p:spPr>
        <p:txBody>
          <a:bodyPr wrap="square" lIns="0" tIns="0" rIns="0" bIns="0" rtlCol="0" anchor="ctr"/>
          <a:lstStyle/>
          <a:p>
            <a:pPr indent="0" marL="0">
              <a:buNone/>
            </a:pPr>
            <a:r>
              <a:rPr lang="en-US" sz="1100" dirty="0">
                <a:solidFill>
                  <a:srgbClr val="1E5AA8"/>
                </a:solidFill>
                <a:latin typeface="Consolas" pitchFamily="34" charset="0"/>
                <a:ea typeface="Consolas" pitchFamily="34" charset="-122"/>
                <a:cs typeface="Consolas" pitchFamily="34" charset="-120"/>
              </a:rPr>
              <a:t>BookingCreate(PointsIn): seats, pickup_place_id, dropoff_place_id, preferences</a:t>
            </a:r>
            <a:endParaRPr lang="en-US" sz="1100" dirty="0"/>
          </a:p>
          <a:p>
            <a:pPr indent="0" marL="0">
              <a:buNone/>
            </a:pPr>
            <a:r>
              <a:rPr lang="en-US" sz="1200" dirty="0">
                <a:solidFill>
                  <a:srgbClr val="33415C"/>
                </a:solidFill>
                <a:latin typeface="Calibri" pitchFamily="34" charset="0"/>
                <a:ea typeface="Calibri" pitchFamily="34" charset="-122"/>
                <a:cs typeface="Calibri" pitchFamily="34" charset="-120"/>
              </a:rPr>
              <a:t>Pydantic valida tipos y rangos; si falla → 422 VALIDATION_ERROR.</a:t>
            </a:r>
            <a:endParaRPr lang="en-US" sz="1100" dirty="0"/>
          </a:p>
        </p:txBody>
      </p:sp>
      <p:sp>
        <p:nvSpPr>
          <p:cNvPr id="14" name="Shape 12"/>
          <p:cNvSpPr/>
          <p:nvPr/>
        </p:nvSpPr>
        <p:spPr>
          <a:xfrm>
            <a:off x="1801368" y="3602736"/>
            <a:ext cx="914" cy="128016"/>
          </a:xfrm>
          <a:prstGeom prst="line">
            <a:avLst/>
          </a:prstGeom>
          <a:noFill/>
          <a:ln w="19050">
            <a:solidFill>
              <a:srgbClr val="1E5AA8"/>
            </a:solidFill>
            <a:prstDash val="solid"/>
            <a:tailEnd type="triangle"/>
          </a:ln>
        </p:spPr>
      </p:sp>
      <p:sp>
        <p:nvSpPr>
          <p:cNvPr id="15" name="Text 13"/>
          <p:cNvSpPr txBox="1"/>
          <p:nvPr/>
        </p:nvSpPr>
        <p:spPr>
          <a:xfrm>
            <a:off x="548640" y="3730752"/>
            <a:ext cx="2514600" cy="658368"/>
          </a:xfrm>
          <a:prstGeom prst="roundRect">
            <a:avLst>
              <a:gd name="adj" fmla="val 11111"/>
            </a:avLst>
          </a:prstGeom>
          <a:solidFill>
            <a:srgbClr val="0A1F44"/>
          </a:solidFill>
          <a:ln w="12700">
            <a:solidFill>
              <a:srgbClr val="0A1F44"/>
            </a:solidFill>
          </a:ln>
        </p:spPr>
        <p:txBody>
          <a:bodyPr wrap="square" lIns="76200" tIns="76200" rIns="76200" bIns="7620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service.py</a:t>
            </a:r>
            <a:endParaRPr lang="en-US" sz="1300" dirty="0"/>
          </a:p>
        </p:txBody>
      </p:sp>
      <p:sp>
        <p:nvSpPr>
          <p:cNvPr id="16" name="Text 14"/>
          <p:cNvSpPr txBox="1"/>
          <p:nvPr/>
        </p:nvSpPr>
        <p:spPr>
          <a:xfrm>
            <a:off x="3200400" y="3730752"/>
            <a:ext cx="4754880" cy="658368"/>
          </a:xfrm>
          <a:prstGeom prst="rect">
            <a:avLst/>
          </a:prstGeom>
          <a:noFill/>
          <a:ln/>
        </p:spPr>
        <p:txBody>
          <a:bodyPr wrap="square" lIns="0" tIns="0" rIns="0" bIns="0" rtlCol="0" anchor="ctr"/>
          <a:lstStyle/>
          <a:p>
            <a:pPr indent="0" marL="0">
              <a:buNone/>
            </a:pPr>
            <a:r>
              <a:rPr lang="en-US" sz="1100" dirty="0">
                <a:solidFill>
                  <a:srgbClr val="1E5AA8"/>
                </a:solidFill>
                <a:latin typeface="Consolas" pitchFamily="34" charset="0"/>
                <a:ea typeface="Consolas" pitchFamily="34" charset="-122"/>
                <a:cs typeface="Consolas" pitchFamily="34" charset="-120"/>
              </a:rPr>
              <a:t>BookingService.request(passenger, trip_id, data)</a:t>
            </a:r>
            <a:endParaRPr lang="en-US" sz="1100" dirty="0"/>
          </a:p>
          <a:p>
            <a:pPr indent="0" marL="0">
              <a:buNone/>
            </a:pPr>
            <a:r>
              <a:rPr lang="en-US" sz="1200" dirty="0">
                <a:solidFill>
                  <a:srgbClr val="33415C"/>
                </a:solidFill>
                <a:latin typeface="Calibri" pitchFamily="34" charset="0"/>
                <a:ea typeface="Calibri" pitchFamily="34" charset="-122"/>
                <a:cs typeface="Calibri" pitchFamily="34" charset="-120"/>
              </a:rPr>
              <a:t>Reglas: viaje reservable, solo mujeres, sanción, reserva duplicada, cupo.</a:t>
            </a:r>
            <a:endParaRPr lang="en-US" sz="1100" dirty="0"/>
          </a:p>
        </p:txBody>
      </p:sp>
      <p:sp>
        <p:nvSpPr>
          <p:cNvPr id="17" name="Shape 15"/>
          <p:cNvSpPr/>
          <p:nvPr/>
        </p:nvSpPr>
        <p:spPr>
          <a:xfrm>
            <a:off x="1801368" y="4389120"/>
            <a:ext cx="914" cy="128016"/>
          </a:xfrm>
          <a:prstGeom prst="line">
            <a:avLst/>
          </a:prstGeom>
          <a:noFill/>
          <a:ln w="19050">
            <a:solidFill>
              <a:srgbClr val="1E5AA8"/>
            </a:solidFill>
            <a:prstDash val="solid"/>
            <a:tailEnd type="triangle"/>
          </a:ln>
        </p:spPr>
      </p:sp>
      <p:sp>
        <p:nvSpPr>
          <p:cNvPr id="18" name="Text 16"/>
          <p:cNvSpPr txBox="1"/>
          <p:nvPr/>
        </p:nvSpPr>
        <p:spPr>
          <a:xfrm>
            <a:off x="548640" y="4517136"/>
            <a:ext cx="2514600" cy="658368"/>
          </a:xfrm>
          <a:prstGeom prst="roundRect">
            <a:avLst>
              <a:gd name="adj" fmla="val 1111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queries.py · core/db.py</a:t>
            </a:r>
            <a:endParaRPr lang="en-US" sz="1300" dirty="0"/>
          </a:p>
        </p:txBody>
      </p:sp>
      <p:sp>
        <p:nvSpPr>
          <p:cNvPr id="19" name="Text 17"/>
          <p:cNvSpPr txBox="1"/>
          <p:nvPr/>
        </p:nvSpPr>
        <p:spPr>
          <a:xfrm>
            <a:off x="3200400" y="4517136"/>
            <a:ext cx="4754880" cy="658368"/>
          </a:xfrm>
          <a:prstGeom prst="rect">
            <a:avLst/>
          </a:prstGeom>
          <a:noFill/>
          <a:ln/>
        </p:spPr>
        <p:txBody>
          <a:bodyPr wrap="square" lIns="0" tIns="0" rIns="0" bIns="0" rtlCol="0" anchor="ctr"/>
          <a:lstStyle/>
          <a:p>
            <a:pPr indent="0" marL="0">
              <a:buNone/>
            </a:pPr>
            <a:r>
              <a:rPr lang="en-US" sz="1100" dirty="0">
                <a:solidFill>
                  <a:srgbClr val="1E5AA8"/>
                </a:solidFill>
                <a:latin typeface="Consolas" pitchFamily="34" charset="0"/>
                <a:ea typeface="Consolas" pitchFamily="34" charset="-122"/>
                <a:cs typeface="Consolas" pitchFamily="34" charset="-120"/>
              </a:rPr>
              <a:t>seats_left(session, trip) · add_unique(session, booking, error)</a:t>
            </a:r>
            <a:endParaRPr lang="en-US" sz="1100" dirty="0"/>
          </a:p>
          <a:p>
            <a:pPr indent="0" marL="0">
              <a:buNone/>
            </a:pPr>
            <a:r>
              <a:rPr lang="en-US" sz="1200" dirty="0">
                <a:solidFill>
                  <a:srgbClr val="33415C"/>
                </a:solidFill>
                <a:latin typeface="Calibri" pitchFamily="34" charset="0"/>
                <a:ea typeface="Calibri" pitchFamily="34" charset="-122"/>
                <a:cs typeface="Calibri" pitchFamily="34" charset="-120"/>
              </a:rPr>
              <a:t>Consultas reutilizables e inserción protegida con savepoint.</a:t>
            </a:r>
            <a:endParaRPr lang="en-US" sz="1100" dirty="0"/>
          </a:p>
        </p:txBody>
      </p:sp>
      <p:sp>
        <p:nvSpPr>
          <p:cNvPr id="20" name="Shape 18"/>
          <p:cNvSpPr/>
          <p:nvPr/>
        </p:nvSpPr>
        <p:spPr>
          <a:xfrm>
            <a:off x="1801368" y="5175504"/>
            <a:ext cx="914" cy="128016"/>
          </a:xfrm>
          <a:prstGeom prst="line">
            <a:avLst/>
          </a:prstGeom>
          <a:noFill/>
          <a:ln w="19050">
            <a:solidFill>
              <a:srgbClr val="1E5AA8"/>
            </a:solidFill>
            <a:prstDash val="solid"/>
            <a:tailEnd type="triangle"/>
          </a:ln>
        </p:spPr>
      </p:sp>
      <p:sp>
        <p:nvSpPr>
          <p:cNvPr id="21" name="Text 19"/>
          <p:cNvSpPr txBox="1"/>
          <p:nvPr/>
        </p:nvSpPr>
        <p:spPr>
          <a:xfrm>
            <a:off x="548640" y="5303520"/>
            <a:ext cx="2514600" cy="658368"/>
          </a:xfrm>
          <a:prstGeom prst="roundRect">
            <a:avLst>
              <a:gd name="adj" fmla="val 1111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models.py → PostgreSQL</a:t>
            </a:r>
            <a:endParaRPr lang="en-US" sz="1300" dirty="0"/>
          </a:p>
        </p:txBody>
      </p:sp>
      <p:sp>
        <p:nvSpPr>
          <p:cNvPr id="22" name="Text 20"/>
          <p:cNvSpPr txBox="1"/>
          <p:nvPr/>
        </p:nvSpPr>
        <p:spPr>
          <a:xfrm>
            <a:off x="3200400" y="5303520"/>
            <a:ext cx="4754880" cy="658368"/>
          </a:xfrm>
          <a:prstGeom prst="rect">
            <a:avLst/>
          </a:prstGeom>
          <a:noFill/>
          <a:ln/>
        </p:spPr>
        <p:txBody>
          <a:bodyPr wrap="square" lIns="0" tIns="0" rIns="0" bIns="0" rtlCol="0" anchor="ctr"/>
          <a:lstStyle/>
          <a:p>
            <a:pPr indent="0" marL="0">
              <a:buNone/>
            </a:pPr>
            <a:r>
              <a:rPr lang="en-US" sz="1100" dirty="0">
                <a:solidFill>
                  <a:srgbClr val="1E5AA8"/>
                </a:solidFill>
                <a:latin typeface="Consolas" pitchFamily="34" charset="0"/>
                <a:ea typeface="Consolas" pitchFamily="34" charset="-122"/>
                <a:cs typeface="Consolas" pitchFamily="34" charset="-120"/>
              </a:rPr>
              <a:t>Booking, Notification · session.commit()</a:t>
            </a:r>
            <a:endParaRPr lang="en-US" sz="1100" dirty="0"/>
          </a:p>
          <a:p>
            <a:pPr indent="0" marL="0">
              <a:buNone/>
            </a:pPr>
            <a:r>
              <a:rPr lang="en-US" sz="1200" dirty="0">
                <a:solidFill>
                  <a:srgbClr val="33415C"/>
                </a:solidFill>
                <a:latin typeface="Calibri" pitchFamily="34" charset="0"/>
                <a:ea typeface="Calibri" pitchFamily="34" charset="-122"/>
                <a:cs typeface="Calibri" pitchFamily="34" charset="-120"/>
              </a:rPr>
              <a:t>INSERT en bookings y notifications en una sola transacción.</a:t>
            </a:r>
            <a:endParaRPr lang="en-US" sz="1100" dirty="0"/>
          </a:p>
        </p:txBody>
      </p:sp>
      <p:sp>
        <p:nvSpPr>
          <p:cNvPr id="23" name="Text 21"/>
          <p:cNvSpPr txBox="1"/>
          <p:nvPr/>
        </p:nvSpPr>
        <p:spPr>
          <a:xfrm>
            <a:off x="8229600" y="1371600"/>
            <a:ext cx="3429000" cy="2148840"/>
          </a:xfrm>
          <a:prstGeom prst="roundRect">
            <a:avLst>
              <a:gd name="adj" fmla="val 3404"/>
            </a:avLst>
          </a:prstGeom>
          <a:solidFill>
            <a:srgbClr val="E3F5EE"/>
          </a:solidFill>
          <a:ln w="12700">
            <a:solidFill>
              <a:srgbClr val="0B7556"/>
            </a:solidFill>
          </a:ln>
        </p:spPr>
        <p:txBody>
          <a:bodyPr wrap="square" lIns="127000" tIns="127000" rIns="127000" bIns="127000" rtlCol="0" anchor="t"/>
          <a:lstStyle/>
          <a:p>
            <a:pPr algn="l" indent="0" marL="0">
              <a:buNone/>
            </a:pPr>
            <a:r>
              <a:rPr lang="en-US" sz="1500" b="1" dirty="0">
                <a:solidFill>
                  <a:srgbClr val="0A1F44"/>
                </a:solidFill>
                <a:latin typeface="Calibri" pitchFamily="34" charset="0"/>
                <a:ea typeface="Calibri" pitchFamily="34" charset="-122"/>
                <a:cs typeface="Calibri" pitchFamily="34" charset="-120"/>
              </a:rPr>
              <a:t>Si todo va bien</a:t>
            </a:r>
            <a:endParaRPr lang="en-US" sz="1500" dirty="0"/>
          </a:p>
          <a:p>
            <a:pPr algn="l" indent="0" marL="0">
              <a:buNone/>
            </a:pPr>
            <a:r>
              <a:rPr lang="en-US" sz="1200" dirty="0">
                <a:solidFill>
                  <a:srgbClr val="33415C"/>
                </a:solidFill>
                <a:latin typeface="Calibri" pitchFamily="34" charset="0"/>
                <a:ea typeface="Calibri" pitchFamily="34" charset="-122"/>
                <a:cs typeface="Calibri" pitchFamily="34" charset="-120"/>
              </a:rPr>
              <a:t>commit() confirma la transacción → el evento de aviso se publica en Redis → el conductor lo recibe por WebSocket → la API responde 201 con BookingOut (JSON)</a:t>
            </a:r>
            <a:endParaRPr lang="en-US" sz="1500" dirty="0"/>
          </a:p>
        </p:txBody>
      </p:sp>
      <p:sp>
        <p:nvSpPr>
          <p:cNvPr id="24" name="Text 22"/>
          <p:cNvSpPr txBox="1"/>
          <p:nvPr/>
        </p:nvSpPr>
        <p:spPr>
          <a:xfrm>
            <a:off x="8229600" y="3703320"/>
            <a:ext cx="3429000" cy="2514600"/>
          </a:xfrm>
          <a:prstGeom prst="roundRect">
            <a:avLst>
              <a:gd name="adj" fmla="val 2909"/>
            </a:avLst>
          </a:prstGeom>
          <a:solidFill>
            <a:srgbClr val="FDECEA"/>
          </a:solidFill>
          <a:ln w="12700">
            <a:solidFill>
              <a:srgbClr val="BA372A"/>
            </a:solidFill>
          </a:ln>
        </p:spPr>
        <p:txBody>
          <a:bodyPr wrap="square" lIns="127000" tIns="127000" rIns="127000" bIns="127000" rtlCol="0" anchor="t"/>
          <a:lstStyle/>
          <a:p>
            <a:pPr algn="l" indent="0" marL="0">
              <a:buNone/>
            </a:pPr>
            <a:r>
              <a:rPr lang="en-US" sz="1500" b="1" dirty="0">
                <a:solidFill>
                  <a:srgbClr val="0A1F44"/>
                </a:solidFill>
                <a:latin typeface="Calibri" pitchFamily="34" charset="0"/>
                <a:ea typeface="Calibri" pitchFamily="34" charset="-122"/>
                <a:cs typeface="Calibri" pitchFamily="34" charset="-120"/>
              </a:rPr>
              <a:t>Si algo falla</a:t>
            </a:r>
            <a:endParaRPr lang="en-US" sz="1500" dirty="0"/>
          </a:p>
          <a:p>
            <a:pPr algn="l" indent="0" marL="0">
              <a:buNone/>
            </a:pPr>
            <a:r>
              <a:rPr lang="en-US" sz="1200" dirty="0">
                <a:solidFill>
                  <a:srgbClr val="33415C"/>
                </a:solidFill>
                <a:latin typeface="Calibri" pitchFamily="34" charset="0"/>
                <a:ea typeface="Calibri" pitchFamily="34" charset="-122"/>
                <a:cs typeface="Calibri" pitchFamily="34" charset="-120"/>
              </a:rPr>
              <a:t>El servicio lanza AppError, por ejemplo AppError("TRIP_FULL", 409, {seats_available}). No hubo commit: la sesión se cierra y la base no cambia. app_error_handler (core/errors.py) lo convierte en {code, message, details} y el frontend muestra el texto de errors.TRIP_FULL.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FLUJO: ACEPTAR · 2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Secuencia: el conductor acepta una reserva</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Backend</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12</a:t>
            </a:r>
            <a:endParaRPr lang="en-US" sz="1100" dirty="0"/>
          </a:p>
        </p:txBody>
      </p:sp>
      <p:sp>
        <p:nvSpPr>
          <p:cNvPr id="6" name="Text 4"/>
          <p:cNvSpPr txBox="1"/>
          <p:nvPr/>
        </p:nvSpPr>
        <p:spPr>
          <a:xfrm>
            <a:off x="365760" y="1325880"/>
            <a:ext cx="1554480" cy="566928"/>
          </a:xfrm>
          <a:prstGeom prst="roundRect">
            <a:avLst>
              <a:gd name="adj" fmla="val 1290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Conductor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(Angular)</a:t>
            </a:r>
            <a:endParaRPr lang="en-US" sz="1200" dirty="0"/>
          </a:p>
        </p:txBody>
      </p:sp>
      <p:sp>
        <p:nvSpPr>
          <p:cNvPr id="7" name="Shape 5"/>
          <p:cNvSpPr/>
          <p:nvPr/>
        </p:nvSpPr>
        <p:spPr>
          <a:xfrm>
            <a:off x="1143000" y="1892808"/>
            <a:ext cx="914" cy="4297680"/>
          </a:xfrm>
          <a:prstGeom prst="line">
            <a:avLst/>
          </a:prstGeom>
          <a:noFill/>
          <a:ln w="15875">
            <a:solidFill>
              <a:srgbClr val="C9D7EE"/>
            </a:solidFill>
            <a:prstDash val="dash"/>
          </a:ln>
        </p:spPr>
      </p:sp>
      <p:sp>
        <p:nvSpPr>
          <p:cNvPr id="8" name="Text 6"/>
          <p:cNvSpPr txBox="1"/>
          <p:nvPr/>
        </p:nvSpPr>
        <p:spPr>
          <a:xfrm>
            <a:off x="2286000" y="1325880"/>
            <a:ext cx="1554480" cy="566928"/>
          </a:xfrm>
          <a:prstGeom prst="roundRect">
            <a:avLst>
              <a:gd name="adj" fmla="val 1290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router.py</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accept_booking</a:t>
            </a:r>
            <a:endParaRPr lang="en-US" sz="1200" dirty="0"/>
          </a:p>
        </p:txBody>
      </p:sp>
      <p:sp>
        <p:nvSpPr>
          <p:cNvPr id="9" name="Shape 7"/>
          <p:cNvSpPr/>
          <p:nvPr/>
        </p:nvSpPr>
        <p:spPr>
          <a:xfrm>
            <a:off x="3063240" y="1892808"/>
            <a:ext cx="914" cy="4297680"/>
          </a:xfrm>
          <a:prstGeom prst="line">
            <a:avLst/>
          </a:prstGeom>
          <a:noFill/>
          <a:ln w="15875">
            <a:solidFill>
              <a:srgbClr val="C9D7EE"/>
            </a:solidFill>
            <a:prstDash val="dash"/>
          </a:ln>
        </p:spPr>
      </p:sp>
      <p:sp>
        <p:nvSpPr>
          <p:cNvPr id="10" name="Text 8"/>
          <p:cNvSpPr txBox="1"/>
          <p:nvPr/>
        </p:nvSpPr>
        <p:spPr>
          <a:xfrm>
            <a:off x="4206240" y="1325880"/>
            <a:ext cx="1554480" cy="566928"/>
          </a:xfrm>
          <a:prstGeom prst="roundRect">
            <a:avLst>
              <a:gd name="adj" fmla="val 1290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BookingService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.accept</a:t>
            </a:r>
            <a:endParaRPr lang="en-US" sz="1200" dirty="0"/>
          </a:p>
        </p:txBody>
      </p:sp>
      <p:sp>
        <p:nvSpPr>
          <p:cNvPr id="11" name="Shape 9"/>
          <p:cNvSpPr/>
          <p:nvPr/>
        </p:nvSpPr>
        <p:spPr>
          <a:xfrm>
            <a:off x="4983480" y="1892808"/>
            <a:ext cx="914" cy="4297680"/>
          </a:xfrm>
          <a:prstGeom prst="line">
            <a:avLst/>
          </a:prstGeom>
          <a:noFill/>
          <a:ln w="15875">
            <a:solidFill>
              <a:srgbClr val="C9D7EE"/>
            </a:solidFill>
            <a:prstDash val="dash"/>
          </a:ln>
        </p:spPr>
      </p:sp>
      <p:sp>
        <p:nvSpPr>
          <p:cNvPr id="12" name="Text 10"/>
          <p:cNvSpPr txBox="1"/>
          <p:nvPr/>
        </p:nvSpPr>
        <p:spPr>
          <a:xfrm>
            <a:off x="6126480" y="1325880"/>
            <a:ext cx="1554480" cy="566928"/>
          </a:xfrm>
          <a:prstGeom prst="roundRect">
            <a:avLst>
              <a:gd name="adj" fmla="val 1290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13" name="Shape 11"/>
          <p:cNvSpPr/>
          <p:nvPr/>
        </p:nvSpPr>
        <p:spPr>
          <a:xfrm>
            <a:off x="6903720" y="1892808"/>
            <a:ext cx="914" cy="4297680"/>
          </a:xfrm>
          <a:prstGeom prst="line">
            <a:avLst/>
          </a:prstGeom>
          <a:noFill/>
          <a:ln w="15875">
            <a:solidFill>
              <a:srgbClr val="C9D7EE"/>
            </a:solidFill>
            <a:prstDash val="dash"/>
          </a:ln>
        </p:spPr>
      </p:sp>
      <p:sp>
        <p:nvSpPr>
          <p:cNvPr id="14" name="Text 12"/>
          <p:cNvSpPr txBox="1"/>
          <p:nvPr/>
        </p:nvSpPr>
        <p:spPr>
          <a:xfrm>
            <a:off x="8046720" y="1325880"/>
            <a:ext cx="1554480" cy="566928"/>
          </a:xfrm>
          <a:prstGeom prst="roundRect">
            <a:avLst>
              <a:gd name="adj" fmla="val 1290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Redis</a:t>
            </a:r>
            <a:endParaRPr lang="en-US" sz="1200" dirty="0"/>
          </a:p>
        </p:txBody>
      </p:sp>
      <p:sp>
        <p:nvSpPr>
          <p:cNvPr id="15" name="Shape 13"/>
          <p:cNvSpPr/>
          <p:nvPr/>
        </p:nvSpPr>
        <p:spPr>
          <a:xfrm>
            <a:off x="8823960" y="1892808"/>
            <a:ext cx="914" cy="4297680"/>
          </a:xfrm>
          <a:prstGeom prst="line">
            <a:avLst/>
          </a:prstGeom>
          <a:noFill/>
          <a:ln w="15875">
            <a:solidFill>
              <a:srgbClr val="C9D7EE"/>
            </a:solidFill>
            <a:prstDash val="dash"/>
          </a:ln>
        </p:spPr>
      </p:sp>
      <p:sp>
        <p:nvSpPr>
          <p:cNvPr id="16" name="Text 14"/>
          <p:cNvSpPr txBox="1"/>
          <p:nvPr/>
        </p:nvSpPr>
        <p:spPr>
          <a:xfrm>
            <a:off x="9966960" y="1325880"/>
            <a:ext cx="1554480" cy="566928"/>
          </a:xfrm>
          <a:prstGeom prst="roundRect">
            <a:avLst>
              <a:gd name="adj" fmla="val 1290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Pasajero</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(WebSocket)</a:t>
            </a:r>
            <a:endParaRPr lang="en-US" sz="1200" dirty="0"/>
          </a:p>
        </p:txBody>
      </p:sp>
      <p:sp>
        <p:nvSpPr>
          <p:cNvPr id="17" name="Shape 15"/>
          <p:cNvSpPr/>
          <p:nvPr/>
        </p:nvSpPr>
        <p:spPr>
          <a:xfrm>
            <a:off x="10744200" y="1892808"/>
            <a:ext cx="914" cy="4297680"/>
          </a:xfrm>
          <a:prstGeom prst="line">
            <a:avLst/>
          </a:prstGeom>
          <a:noFill/>
          <a:ln w="15875">
            <a:solidFill>
              <a:srgbClr val="C9D7EE"/>
            </a:solidFill>
            <a:prstDash val="dash"/>
          </a:ln>
        </p:spPr>
      </p:sp>
      <p:sp>
        <p:nvSpPr>
          <p:cNvPr id="18" name="Shape 16"/>
          <p:cNvSpPr/>
          <p:nvPr/>
        </p:nvSpPr>
        <p:spPr>
          <a:xfrm>
            <a:off x="1143000" y="2148840"/>
            <a:ext cx="1920240" cy="914"/>
          </a:xfrm>
          <a:prstGeom prst="line">
            <a:avLst/>
          </a:prstGeom>
          <a:noFill/>
          <a:ln w="19050">
            <a:solidFill>
              <a:srgbClr val="1E5AA8"/>
            </a:solidFill>
            <a:prstDash val="solid"/>
            <a:tailEnd type="triangle"/>
          </a:ln>
        </p:spPr>
      </p:sp>
      <p:sp>
        <p:nvSpPr>
          <p:cNvPr id="19" name="Text 17"/>
          <p:cNvSpPr txBox="1"/>
          <p:nvPr/>
        </p:nvSpPr>
        <p:spPr>
          <a:xfrm>
            <a:off x="731520" y="1901952"/>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POST /bookings/{id}/accept</a:t>
            </a:r>
            <a:endParaRPr lang="en-US" sz="1000" dirty="0"/>
          </a:p>
        </p:txBody>
      </p:sp>
      <p:sp>
        <p:nvSpPr>
          <p:cNvPr id="20" name="Shape 18"/>
          <p:cNvSpPr/>
          <p:nvPr/>
        </p:nvSpPr>
        <p:spPr>
          <a:xfrm>
            <a:off x="3063240" y="2551176"/>
            <a:ext cx="1920240" cy="914"/>
          </a:xfrm>
          <a:prstGeom prst="line">
            <a:avLst/>
          </a:prstGeom>
          <a:noFill/>
          <a:ln w="19050">
            <a:solidFill>
              <a:srgbClr val="1E5AA8"/>
            </a:solidFill>
            <a:prstDash val="solid"/>
            <a:tailEnd type="triangle"/>
          </a:ln>
        </p:spPr>
      </p:sp>
      <p:sp>
        <p:nvSpPr>
          <p:cNvPr id="21" name="Text 19"/>
          <p:cNvSpPr txBox="1"/>
          <p:nvPr/>
        </p:nvSpPr>
        <p:spPr>
          <a:xfrm>
            <a:off x="2651760" y="2304288"/>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service.accept(driver, booking_id)</a:t>
            </a:r>
            <a:endParaRPr lang="en-US" sz="1000" dirty="0"/>
          </a:p>
        </p:txBody>
      </p:sp>
      <p:sp>
        <p:nvSpPr>
          <p:cNvPr id="22" name="Shape 20"/>
          <p:cNvSpPr/>
          <p:nvPr/>
        </p:nvSpPr>
        <p:spPr>
          <a:xfrm>
            <a:off x="4983480" y="2953512"/>
            <a:ext cx="1920240" cy="914"/>
          </a:xfrm>
          <a:prstGeom prst="line">
            <a:avLst/>
          </a:prstGeom>
          <a:noFill/>
          <a:ln w="19050">
            <a:solidFill>
              <a:srgbClr val="1E5AA8"/>
            </a:solidFill>
            <a:prstDash val="solid"/>
            <a:tailEnd type="triangle"/>
          </a:ln>
        </p:spPr>
      </p:sp>
      <p:sp>
        <p:nvSpPr>
          <p:cNvPr id="23" name="Text 21"/>
          <p:cNvSpPr txBox="1"/>
          <p:nvPr/>
        </p:nvSpPr>
        <p:spPr>
          <a:xfrm>
            <a:off x="4572000" y="2706624"/>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get_for_driver: ¿es su viaje?</a:t>
            </a:r>
            <a:endParaRPr lang="en-US" sz="1000" dirty="0"/>
          </a:p>
        </p:txBody>
      </p:sp>
      <p:sp>
        <p:nvSpPr>
          <p:cNvPr id="24" name="Shape 22"/>
          <p:cNvSpPr/>
          <p:nvPr/>
        </p:nvSpPr>
        <p:spPr>
          <a:xfrm>
            <a:off x="4983480" y="3355848"/>
            <a:ext cx="1920240" cy="914"/>
          </a:xfrm>
          <a:prstGeom prst="line">
            <a:avLst/>
          </a:prstGeom>
          <a:noFill/>
          <a:ln w="19050">
            <a:solidFill>
              <a:srgbClr val="1E5AA8"/>
            </a:solidFill>
            <a:prstDash val="solid"/>
            <a:tailEnd type="triangle"/>
          </a:ln>
        </p:spPr>
      </p:sp>
      <p:sp>
        <p:nvSpPr>
          <p:cNvPr id="25" name="Text 23"/>
          <p:cNvSpPr txBox="1"/>
          <p:nvPr/>
        </p:nvSpPr>
        <p:spPr>
          <a:xfrm>
            <a:off x="4572000" y="3108960"/>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lock_trip: SELECT … FOR UPDATE</a:t>
            </a:r>
            <a:endParaRPr lang="en-US" sz="1000" dirty="0"/>
          </a:p>
        </p:txBody>
      </p:sp>
      <p:sp>
        <p:nvSpPr>
          <p:cNvPr id="26" name="Shape 24"/>
          <p:cNvSpPr/>
          <p:nvPr/>
        </p:nvSpPr>
        <p:spPr>
          <a:xfrm>
            <a:off x="4983480" y="3758184"/>
            <a:ext cx="1920240" cy="914"/>
          </a:xfrm>
          <a:prstGeom prst="line">
            <a:avLst/>
          </a:prstGeom>
          <a:noFill/>
          <a:ln w="19050">
            <a:solidFill>
              <a:srgbClr val="1E5AA8"/>
            </a:solidFill>
            <a:prstDash val="solid"/>
            <a:tailEnd type="triangle"/>
          </a:ln>
        </p:spPr>
      </p:sp>
      <p:sp>
        <p:nvSpPr>
          <p:cNvPr id="27" name="Text 25"/>
          <p:cNvSpPr txBox="1"/>
          <p:nvPr/>
        </p:nvSpPr>
        <p:spPr>
          <a:xfrm>
            <a:off x="4572000" y="3511296"/>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seats_left: puestos aceptados</a:t>
            </a:r>
            <a:endParaRPr lang="en-US" sz="1000" dirty="0"/>
          </a:p>
        </p:txBody>
      </p:sp>
      <p:sp>
        <p:nvSpPr>
          <p:cNvPr id="28" name="Shape 26"/>
          <p:cNvSpPr/>
          <p:nvPr/>
        </p:nvSpPr>
        <p:spPr>
          <a:xfrm>
            <a:off x="4983480" y="4160520"/>
            <a:ext cx="1920240" cy="914"/>
          </a:xfrm>
          <a:prstGeom prst="line">
            <a:avLst/>
          </a:prstGeom>
          <a:noFill/>
          <a:ln w="19050">
            <a:solidFill>
              <a:srgbClr val="1E5AA8"/>
            </a:solidFill>
            <a:prstDash val="solid"/>
            <a:tailEnd type="triangle"/>
          </a:ln>
        </p:spPr>
      </p:sp>
      <p:sp>
        <p:nvSpPr>
          <p:cNvPr id="29" name="Text 27"/>
          <p:cNvSpPr txBox="1"/>
          <p:nvPr/>
        </p:nvSpPr>
        <p:spPr>
          <a:xfrm>
            <a:off x="4572000" y="3913632"/>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UPDATE booking accepted + INSERT aviso</a:t>
            </a:r>
            <a:endParaRPr lang="en-US" sz="1000" dirty="0"/>
          </a:p>
        </p:txBody>
      </p:sp>
      <p:sp>
        <p:nvSpPr>
          <p:cNvPr id="30" name="Shape 28"/>
          <p:cNvSpPr/>
          <p:nvPr/>
        </p:nvSpPr>
        <p:spPr>
          <a:xfrm>
            <a:off x="4983480" y="4562856"/>
            <a:ext cx="1920240" cy="914"/>
          </a:xfrm>
          <a:prstGeom prst="line">
            <a:avLst/>
          </a:prstGeom>
          <a:noFill/>
          <a:ln w="19050">
            <a:solidFill>
              <a:srgbClr val="1E5AA8"/>
            </a:solidFill>
            <a:prstDash val="solid"/>
            <a:tailEnd type="triangle"/>
          </a:ln>
        </p:spPr>
      </p:sp>
      <p:sp>
        <p:nvSpPr>
          <p:cNvPr id="31" name="Text 29"/>
          <p:cNvSpPr txBox="1"/>
          <p:nvPr/>
        </p:nvSpPr>
        <p:spPr>
          <a:xfrm>
            <a:off x="4572000" y="4315968"/>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COMMIT (libera el bloqueo)</a:t>
            </a:r>
            <a:endParaRPr lang="en-US" sz="1000" dirty="0"/>
          </a:p>
        </p:txBody>
      </p:sp>
      <p:sp>
        <p:nvSpPr>
          <p:cNvPr id="32" name="Shape 30"/>
          <p:cNvSpPr/>
          <p:nvPr/>
        </p:nvSpPr>
        <p:spPr>
          <a:xfrm>
            <a:off x="6903720" y="4965192"/>
            <a:ext cx="1920240" cy="914"/>
          </a:xfrm>
          <a:prstGeom prst="line">
            <a:avLst/>
          </a:prstGeom>
          <a:noFill/>
          <a:ln w="19050">
            <a:solidFill>
              <a:srgbClr val="1E5AA8"/>
            </a:solidFill>
            <a:prstDash val="solid"/>
            <a:tailEnd type="triangle"/>
          </a:ln>
        </p:spPr>
      </p:sp>
      <p:sp>
        <p:nvSpPr>
          <p:cNvPr id="33" name="Text 31"/>
          <p:cNvSpPr txBox="1"/>
          <p:nvPr/>
        </p:nvSpPr>
        <p:spPr>
          <a:xfrm>
            <a:off x="6492240" y="4718304"/>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after_commit: PUBLISH user:{pasajero}</a:t>
            </a:r>
            <a:endParaRPr lang="en-US" sz="1000" dirty="0"/>
          </a:p>
        </p:txBody>
      </p:sp>
      <p:sp>
        <p:nvSpPr>
          <p:cNvPr id="34" name="Shape 32"/>
          <p:cNvSpPr/>
          <p:nvPr/>
        </p:nvSpPr>
        <p:spPr>
          <a:xfrm>
            <a:off x="8823960" y="5367528"/>
            <a:ext cx="1920240" cy="914"/>
          </a:xfrm>
          <a:prstGeom prst="line">
            <a:avLst/>
          </a:prstGeom>
          <a:noFill/>
          <a:ln w="19050">
            <a:solidFill>
              <a:srgbClr val="1E5AA8"/>
            </a:solidFill>
            <a:prstDash val="solid"/>
            <a:tailEnd type="triangle"/>
          </a:ln>
        </p:spPr>
      </p:sp>
      <p:sp>
        <p:nvSpPr>
          <p:cNvPr id="35" name="Text 33"/>
          <p:cNvSpPr txBox="1"/>
          <p:nvPr/>
        </p:nvSpPr>
        <p:spPr>
          <a:xfrm>
            <a:off x="8412480" y="5120640"/>
            <a:ext cx="274320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evento 'notification'</a:t>
            </a:r>
            <a:endParaRPr lang="en-US" sz="1000" dirty="0"/>
          </a:p>
        </p:txBody>
      </p:sp>
      <p:sp>
        <p:nvSpPr>
          <p:cNvPr id="36" name="Shape 34"/>
          <p:cNvSpPr/>
          <p:nvPr/>
        </p:nvSpPr>
        <p:spPr>
          <a:xfrm flipH="1">
            <a:off x="1143000" y="5769864"/>
            <a:ext cx="3840480" cy="914"/>
          </a:xfrm>
          <a:prstGeom prst="line">
            <a:avLst/>
          </a:prstGeom>
          <a:noFill/>
          <a:ln w="19050">
            <a:solidFill>
              <a:srgbClr val="0B7556"/>
            </a:solidFill>
            <a:prstDash val="dash"/>
            <a:tailEnd type="triangle"/>
          </a:ln>
        </p:spPr>
      </p:sp>
      <p:sp>
        <p:nvSpPr>
          <p:cNvPr id="37" name="Text 35"/>
          <p:cNvSpPr txBox="1"/>
          <p:nvPr/>
        </p:nvSpPr>
        <p:spPr>
          <a:xfrm>
            <a:off x="1143000" y="5522976"/>
            <a:ext cx="3840480" cy="219456"/>
          </a:xfrm>
          <a:prstGeom prst="rect">
            <a:avLst/>
          </a:prstGeom>
          <a:noFill/>
          <a:ln/>
        </p:spPr>
        <p:txBody>
          <a:bodyPr wrap="square" lIns="0" tIns="0" rIns="0" bIns="0" rtlCol="0" anchor="ctr"/>
          <a:lstStyle/>
          <a:p>
            <a:pPr algn="ctr" indent="0" marL="0">
              <a:buNone/>
            </a:pPr>
            <a:r>
              <a:rPr lang="en-US" sz="1000" dirty="0">
                <a:solidFill>
                  <a:srgbClr val="0A1F44"/>
                </a:solidFill>
                <a:latin typeface="Consolas" pitchFamily="34" charset="0"/>
                <a:ea typeface="Consolas" pitchFamily="34" charset="-122"/>
                <a:cs typeface="Consolas" pitchFamily="34" charset="-120"/>
              </a:rPr>
              <a:t>200 BookingOut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CONEXIÓN · 1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Cómo se conecta el backend a PostgreSQL</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Base de datos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13</a:t>
            </a:r>
            <a:endParaRPr lang="en-US" sz="1100" dirty="0"/>
          </a:p>
        </p:txBody>
      </p:sp>
      <p:sp>
        <p:nvSpPr>
          <p:cNvPr id="6" name="Text 4"/>
          <p:cNvSpPr txBox="1"/>
          <p:nvPr/>
        </p:nvSpPr>
        <p:spPr>
          <a:xfrm>
            <a:off x="548640" y="1371600"/>
            <a:ext cx="1719072" cy="1417320"/>
          </a:xfrm>
          <a:prstGeom prst="roundRect">
            <a:avLst>
              <a:gd name="adj" fmla="val 5161"/>
            </a:avLst>
          </a:prstGeom>
          <a:solidFill>
            <a:srgbClr val="FFF4D6"/>
          </a:solidFill>
          <a:ln w="12700">
            <a:solidFill>
              <a:srgbClr val="FFF4D6"/>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.env</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DATABASE_URL=</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postgresql+asyncpg://</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usuario:****@db</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:5432/carpool</a:t>
            </a:r>
            <a:endParaRPr lang="en-US" sz="1300" dirty="0"/>
          </a:p>
        </p:txBody>
      </p:sp>
      <p:sp>
        <p:nvSpPr>
          <p:cNvPr id="7" name="Shape 5"/>
          <p:cNvSpPr/>
          <p:nvPr/>
        </p:nvSpPr>
        <p:spPr>
          <a:xfrm>
            <a:off x="2267712" y="2075688"/>
            <a:ext cx="146304" cy="914"/>
          </a:xfrm>
          <a:prstGeom prst="line">
            <a:avLst/>
          </a:prstGeom>
          <a:noFill/>
          <a:ln w="25400">
            <a:solidFill>
              <a:srgbClr val="1E5AA8"/>
            </a:solidFill>
            <a:prstDash val="solid"/>
            <a:tailEnd type="triangle"/>
          </a:ln>
        </p:spPr>
      </p:sp>
      <p:sp>
        <p:nvSpPr>
          <p:cNvPr id="8" name="Text 6"/>
          <p:cNvSpPr txBox="1"/>
          <p:nvPr/>
        </p:nvSpPr>
        <p:spPr>
          <a:xfrm>
            <a:off x="2414016" y="1371600"/>
            <a:ext cx="1719072" cy="1417320"/>
          </a:xfrm>
          <a:prstGeom prst="roundRect">
            <a:avLst>
              <a:gd name="adj" fmla="val 516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core/config.py</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Settings</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.database_url</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(Pydantic valida)</a:t>
            </a:r>
            <a:endParaRPr lang="en-US" sz="1300" dirty="0"/>
          </a:p>
        </p:txBody>
      </p:sp>
      <p:sp>
        <p:nvSpPr>
          <p:cNvPr id="9" name="Shape 7"/>
          <p:cNvSpPr/>
          <p:nvPr/>
        </p:nvSpPr>
        <p:spPr>
          <a:xfrm>
            <a:off x="4133088" y="2075688"/>
            <a:ext cx="146304" cy="914"/>
          </a:xfrm>
          <a:prstGeom prst="line">
            <a:avLst/>
          </a:prstGeom>
          <a:noFill/>
          <a:ln w="25400">
            <a:solidFill>
              <a:srgbClr val="1E5AA8"/>
            </a:solidFill>
            <a:prstDash val="solid"/>
            <a:tailEnd type="triangle"/>
          </a:ln>
        </p:spPr>
      </p:sp>
      <p:sp>
        <p:nvSpPr>
          <p:cNvPr id="10" name="Text 8"/>
          <p:cNvSpPr txBox="1"/>
          <p:nvPr/>
        </p:nvSpPr>
        <p:spPr>
          <a:xfrm>
            <a:off x="4279392" y="1371600"/>
            <a:ext cx="1719072" cy="1417320"/>
          </a:xfrm>
          <a:prstGeom prst="roundRect">
            <a:avLst>
              <a:gd name="adj" fmla="val 516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core/db.py</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engine =</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create_async_engine</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(url, pool_pre_ping)</a:t>
            </a:r>
            <a:endParaRPr lang="en-US" sz="1300" dirty="0"/>
          </a:p>
        </p:txBody>
      </p:sp>
      <p:sp>
        <p:nvSpPr>
          <p:cNvPr id="11" name="Shape 9"/>
          <p:cNvSpPr/>
          <p:nvPr/>
        </p:nvSpPr>
        <p:spPr>
          <a:xfrm>
            <a:off x="5998464" y="2075688"/>
            <a:ext cx="146304" cy="914"/>
          </a:xfrm>
          <a:prstGeom prst="line">
            <a:avLst/>
          </a:prstGeom>
          <a:noFill/>
          <a:ln w="25400">
            <a:solidFill>
              <a:srgbClr val="1E5AA8"/>
            </a:solidFill>
            <a:prstDash val="solid"/>
            <a:tailEnd type="triangle"/>
          </a:ln>
        </p:spPr>
      </p:sp>
      <p:sp>
        <p:nvSpPr>
          <p:cNvPr id="12" name="Text 10"/>
          <p:cNvSpPr txBox="1"/>
          <p:nvPr/>
        </p:nvSpPr>
        <p:spPr>
          <a:xfrm>
            <a:off x="6144768" y="1371600"/>
            <a:ext cx="1719072" cy="1417320"/>
          </a:xfrm>
          <a:prstGeom prst="roundRect">
            <a:avLst>
              <a:gd name="adj" fmla="val 516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core/db.py</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SessionLocal =</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async_sessionmaker</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(engine)</a:t>
            </a:r>
            <a:endParaRPr lang="en-US" sz="1300" dirty="0"/>
          </a:p>
        </p:txBody>
      </p:sp>
      <p:sp>
        <p:nvSpPr>
          <p:cNvPr id="13" name="Shape 11"/>
          <p:cNvSpPr/>
          <p:nvPr/>
        </p:nvSpPr>
        <p:spPr>
          <a:xfrm>
            <a:off x="7863840" y="2075688"/>
            <a:ext cx="146304" cy="914"/>
          </a:xfrm>
          <a:prstGeom prst="line">
            <a:avLst/>
          </a:prstGeom>
          <a:noFill/>
          <a:ln w="25400">
            <a:solidFill>
              <a:srgbClr val="1E5AA8"/>
            </a:solidFill>
            <a:prstDash val="solid"/>
            <a:tailEnd type="triangle"/>
          </a:ln>
        </p:spPr>
      </p:sp>
      <p:sp>
        <p:nvSpPr>
          <p:cNvPr id="14" name="Text 12"/>
          <p:cNvSpPr txBox="1"/>
          <p:nvPr/>
        </p:nvSpPr>
        <p:spPr>
          <a:xfrm>
            <a:off x="8010144" y="1371600"/>
            <a:ext cx="1719072" cy="1417320"/>
          </a:xfrm>
          <a:prstGeom prst="roundRect">
            <a:avLst>
              <a:gd name="adj" fmla="val 516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core/deps.py</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DbSession =</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Depends(</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get_session)</a:t>
            </a:r>
            <a:endParaRPr lang="en-US" sz="1300" dirty="0"/>
          </a:p>
        </p:txBody>
      </p:sp>
      <p:sp>
        <p:nvSpPr>
          <p:cNvPr id="15" name="Shape 13"/>
          <p:cNvSpPr/>
          <p:nvPr/>
        </p:nvSpPr>
        <p:spPr>
          <a:xfrm>
            <a:off x="9729216" y="2075688"/>
            <a:ext cx="146304" cy="914"/>
          </a:xfrm>
          <a:prstGeom prst="line">
            <a:avLst/>
          </a:prstGeom>
          <a:noFill/>
          <a:ln w="25400">
            <a:solidFill>
              <a:srgbClr val="1E5AA8"/>
            </a:solidFill>
            <a:prstDash val="solid"/>
            <a:tailEnd type="triangle"/>
          </a:ln>
        </p:spPr>
      </p:sp>
      <p:sp>
        <p:nvSpPr>
          <p:cNvPr id="16" name="Text 14"/>
          <p:cNvSpPr txBox="1"/>
          <p:nvPr/>
        </p:nvSpPr>
        <p:spPr>
          <a:xfrm>
            <a:off x="9875520" y="1371600"/>
            <a:ext cx="1719072" cy="1417320"/>
          </a:xfrm>
          <a:prstGeom prst="roundRect">
            <a:avLst>
              <a:gd name="adj" fmla="val 5161"/>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onsolas" pitchFamily="34" charset="0"/>
                <a:ea typeface="Consolas" pitchFamily="34" charset="-122"/>
                <a:cs typeface="Consolas" pitchFamily="34" charset="-120"/>
              </a:rPr>
              <a:t>service.py</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self.session</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.execute · .add</a:t>
            </a:r>
            <a:endParaRPr lang="en-US" sz="1300" dirty="0"/>
          </a:p>
          <a:p>
            <a:pPr algn="ctr" indent="0" marL="0">
              <a:buNone/>
            </a:pPr>
            <a:r>
              <a:rPr lang="en-US" sz="1000" dirty="0">
                <a:solidFill>
                  <a:srgbClr val="33415C"/>
                </a:solidFill>
                <a:latin typeface="Consolas" pitchFamily="34" charset="0"/>
                <a:ea typeface="Consolas" pitchFamily="34" charset="-122"/>
                <a:cs typeface="Consolas" pitchFamily="34" charset="-120"/>
              </a:rPr>
              <a:t>.commit</a:t>
            </a:r>
            <a:endParaRPr lang="en-US" sz="1300" dirty="0"/>
          </a:p>
        </p:txBody>
      </p:sp>
      <p:sp>
        <p:nvSpPr>
          <p:cNvPr id="17" name="Shape 15"/>
          <p:cNvSpPr/>
          <p:nvPr/>
        </p:nvSpPr>
        <p:spPr>
          <a:xfrm>
            <a:off x="548640" y="3063240"/>
            <a:ext cx="5669280" cy="2834640"/>
          </a:xfrm>
          <a:prstGeom prst="roundRect">
            <a:avLst>
              <a:gd name="adj" fmla="val 2581"/>
            </a:avLst>
          </a:prstGeom>
          <a:solidFill>
            <a:srgbClr val="0F2A55"/>
          </a:solidFill>
          <a:ln w="12700">
            <a:solidFill>
              <a:srgbClr val="0F2A55"/>
            </a:solidFill>
            <a:prstDash val="solid"/>
          </a:ln>
        </p:spPr>
      </p:sp>
      <p:sp>
        <p:nvSpPr>
          <p:cNvPr id="18" name="Text 16"/>
          <p:cNvSpPr txBox="1"/>
          <p:nvPr/>
        </p:nvSpPr>
        <p:spPr>
          <a:xfrm>
            <a:off x="685800" y="3172968"/>
            <a:ext cx="5394960" cy="2633472"/>
          </a:xfrm>
          <a:prstGeom prst="rect">
            <a:avLst/>
          </a:prstGeom>
          <a:noFill/>
          <a:ln/>
        </p:spPr>
        <p:txBody>
          <a:bodyPr wrap="square" lIns="0" tIns="0" rIns="0" bIns="0" rtlCol="0" anchor="t"/>
          <a:lstStyle/>
          <a:p>
            <a:pPr indent="0" marL="0">
              <a:lnSpc>
                <a:spcPct val="105000"/>
              </a:lnSpc>
              <a:buNone/>
            </a:pPr>
            <a:r>
              <a:rPr lang="en-US" sz="1300" dirty="0">
                <a:solidFill>
                  <a:srgbClr val="3DDBA7"/>
                </a:solidFill>
                <a:latin typeface="Consolas" pitchFamily="34" charset="0"/>
                <a:ea typeface="Consolas" pitchFamily="34" charset="-122"/>
                <a:cs typeface="Consolas" pitchFamily="34" charset="-120"/>
              </a:rPr>
              <a:t># backend/app/core/db.py</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engine = create_async_engine(</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get_settings().database_url,</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pool_pre_ping=True)</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SessionLocal = async_sessionmaker(</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engine, expire_on_commit=False)</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async def get_session():</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async with SessionLocal() as session:</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yield session</a:t>
            </a:r>
            <a:endParaRPr lang="en-US" sz="1300" dirty="0"/>
          </a:p>
        </p:txBody>
      </p:sp>
      <p:sp>
        <p:nvSpPr>
          <p:cNvPr id="19" name="Text 17"/>
          <p:cNvSpPr txBox="1"/>
          <p:nvPr/>
        </p:nvSpPr>
        <p:spPr>
          <a:xfrm>
            <a:off x="6446520" y="3063240"/>
            <a:ext cx="5212080" cy="3200400"/>
          </a:xfrm>
          <a:prstGeom prst="rect">
            <a:avLst/>
          </a:prstGeom>
          <a:noFill/>
          <a:ln/>
        </p:spPr>
        <p:txBody>
          <a:bodyPr wrap="square" lIns="0" tIns="0" rIns="0" bIns="0" rtlCol="0" anchor="t"/>
          <a:lstStyle/>
          <a:p>
            <a:pPr marL="228600" indent="-228600">
              <a:spcAft>
                <a:spcPts val="600"/>
              </a:spcAft>
              <a:buSzPct val="100000"/>
              <a:buChar char="•"/>
            </a:pPr>
            <a:r>
              <a:rPr lang="en-US" sz="1300" b="1" dirty="0">
                <a:solidFill>
                  <a:srgbClr val="0A1F44"/>
                </a:solidFill>
                <a:latin typeface="Calibri" pitchFamily="34" charset="0"/>
                <a:ea typeface="Calibri" pitchFamily="34" charset="-122"/>
                <a:cs typeface="Calibri" pitchFamily="34" charset="-120"/>
              </a:rPr>
              <a:t>create_async_engine</a:t>
            </a:r>
            <a:pPr indent="0" marL="0">
              <a:buNone/>
            </a:pPr>
            <a:r>
              <a:rPr lang="en-US" sz="1300" dirty="0">
                <a:solidFill>
                  <a:srgbClr val="33415C"/>
                </a:solidFill>
                <a:latin typeface="Calibri" pitchFamily="34" charset="0"/>
                <a:ea typeface="Calibri" pitchFamily="34" charset="-122"/>
                <a:cs typeface="Calibri" pitchFamily="34" charset="-120"/>
              </a:rPr>
              <a:t> — crea el motor y su pool de conexiones a partir de la URL; asyncpg es el driver.</a:t>
            </a:r>
            <a:endParaRPr lang="en-US" sz="1300" dirty="0"/>
          </a:p>
          <a:p>
            <a:pPr marL="228600" indent="-228600">
              <a:spcAft>
                <a:spcPts val="600"/>
              </a:spcAft>
              <a:buSzPct val="100000"/>
              <a:buChar char="•"/>
            </a:pPr>
            <a:r>
              <a:rPr lang="en-US" sz="1300" b="1" dirty="0">
                <a:solidFill>
                  <a:srgbClr val="0A1F44"/>
                </a:solidFill>
                <a:latin typeface="Calibri" pitchFamily="34" charset="0"/>
                <a:ea typeface="Calibri" pitchFamily="34" charset="-122"/>
                <a:cs typeface="Calibri" pitchFamily="34" charset="-120"/>
              </a:rPr>
              <a:t>pool_pre_ping=True</a:t>
            </a:r>
            <a:pPr indent="0" marL="0">
              <a:buNone/>
            </a:pPr>
            <a:r>
              <a:rPr lang="en-US" sz="1300" dirty="0">
                <a:solidFill>
                  <a:srgbClr val="33415C"/>
                </a:solidFill>
                <a:latin typeface="Calibri" pitchFamily="34" charset="0"/>
                <a:ea typeface="Calibri" pitchFamily="34" charset="-122"/>
                <a:cs typeface="Calibri" pitchFamily="34" charset="-120"/>
              </a:rPr>
              <a:t> — antes de usar una conexión del pool comprueba que siga viva.</a:t>
            </a:r>
            <a:endParaRPr lang="en-US" sz="1300" dirty="0"/>
          </a:p>
          <a:p>
            <a:pPr marL="228600" indent="-228600">
              <a:spcAft>
                <a:spcPts val="600"/>
              </a:spcAft>
              <a:buSzPct val="100000"/>
              <a:buChar char="•"/>
            </a:pPr>
            <a:r>
              <a:rPr lang="en-US" sz="1300" b="1" dirty="0">
                <a:solidFill>
                  <a:srgbClr val="0A1F44"/>
                </a:solidFill>
                <a:latin typeface="Calibri" pitchFamily="34" charset="0"/>
                <a:ea typeface="Calibri" pitchFamily="34" charset="-122"/>
                <a:cs typeface="Calibri" pitchFamily="34" charset="-120"/>
              </a:rPr>
              <a:t>async_sessionmaker</a:t>
            </a:r>
            <a:pPr indent="0" marL="0">
              <a:buNone/>
            </a:pPr>
            <a:r>
              <a:rPr lang="en-US" sz="1300" dirty="0">
                <a:solidFill>
                  <a:srgbClr val="33415C"/>
                </a:solidFill>
                <a:latin typeface="Calibri" pitchFamily="34" charset="0"/>
                <a:ea typeface="Calibri" pitchFamily="34" charset="-122"/>
                <a:cs typeface="Calibri" pitchFamily="34" charset="-120"/>
              </a:rPr>
              <a:t> — fábrica de sesiones; expire_on_commit=False deja leer los objetos tras el commit.</a:t>
            </a:r>
            <a:endParaRPr lang="en-US" sz="1300" dirty="0"/>
          </a:p>
          <a:p>
            <a:pPr marL="228600" indent="-228600">
              <a:spcAft>
                <a:spcPts val="600"/>
              </a:spcAft>
              <a:buSzPct val="100000"/>
              <a:buChar char="•"/>
            </a:pPr>
            <a:r>
              <a:rPr lang="en-US" sz="1300" b="1" dirty="0">
                <a:solidFill>
                  <a:srgbClr val="0A1F44"/>
                </a:solidFill>
                <a:latin typeface="Calibri" pitchFamily="34" charset="0"/>
                <a:ea typeface="Calibri" pitchFamily="34" charset="-122"/>
                <a:cs typeface="Calibri" pitchFamily="34" charset="-120"/>
              </a:rPr>
              <a:t>get_session()</a:t>
            </a:r>
            <a:pPr indent="0" marL="0">
              <a:buNone/>
            </a:pPr>
            <a:r>
              <a:rPr lang="en-US" sz="1300" dirty="0">
                <a:solidFill>
                  <a:srgbClr val="33415C"/>
                </a:solidFill>
                <a:latin typeface="Calibri" pitchFamily="34" charset="0"/>
                <a:ea typeface="Calibri" pitchFamily="34" charset="-122"/>
                <a:cs typeface="Calibri" pitchFamily="34" charset="-120"/>
              </a:rPr>
              <a:t> — abre una sesión por petición y la cierra al terminar (async with).</a:t>
            </a:r>
            <a:endParaRPr lang="en-US" sz="1300" dirty="0"/>
          </a:p>
          <a:p>
            <a:pPr marL="228600" indent="-228600">
              <a:spcAft>
                <a:spcPts val="600"/>
              </a:spcAft>
              <a:buSzPct val="100000"/>
              <a:buChar char="•"/>
            </a:pPr>
            <a:r>
              <a:rPr lang="en-US" sz="1300" b="1" dirty="0">
                <a:solidFill>
                  <a:srgbClr val="0A1F44"/>
                </a:solidFill>
                <a:latin typeface="Calibri" pitchFamily="34" charset="0"/>
                <a:ea typeface="Calibri" pitchFamily="34" charset="-122"/>
                <a:cs typeface="Calibri" pitchFamily="34" charset="-120"/>
              </a:rPr>
              <a:t>yield session</a:t>
            </a:r>
            <a:pPr indent="0" marL="0">
              <a:buNone/>
            </a:pPr>
            <a:r>
              <a:rPr lang="en-US" sz="1300" dirty="0">
                <a:solidFill>
                  <a:srgbClr val="33415C"/>
                </a:solidFill>
                <a:latin typeface="Calibri" pitchFamily="34" charset="0"/>
                <a:ea typeface="Calibri" pitchFamily="34" charset="-122"/>
                <a:cs typeface="Calibri" pitchFamily="34" charset="-120"/>
              </a:rPr>
              <a:t> — FastAPI la inyecta en la ruta como DbSession y la cierra al responder.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CONEXIÓN · 2 DE 2</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Consultas, transacciones y credenciales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Base de datos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14</a:t>
            </a:r>
            <a:endParaRPr lang="en-US" sz="1100" dirty="0"/>
          </a:p>
        </p:txBody>
      </p:sp>
      <p:sp>
        <p:nvSpPr>
          <p:cNvPr id="6" name="Text 4"/>
          <p:cNvSpPr txBox="1"/>
          <p:nvPr/>
        </p:nvSpPr>
        <p:spPr>
          <a:xfrm>
            <a:off x="548640" y="1371600"/>
            <a:ext cx="1691640" cy="685800"/>
          </a:xfrm>
          <a:prstGeom prst="roundRect">
            <a:avLst>
              <a:gd name="adj" fmla="val 10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alibri" pitchFamily="34" charset="0"/>
                <a:ea typeface="Calibri" pitchFamily="34" charset="-122"/>
                <a:cs typeface="Calibri" pitchFamily="34" charset="-120"/>
              </a:rPr>
              <a:t>Petición HTTP</a:t>
            </a:r>
            <a:endParaRPr lang="en-US" sz="1300" dirty="0"/>
          </a:p>
        </p:txBody>
      </p:sp>
      <p:sp>
        <p:nvSpPr>
          <p:cNvPr id="7" name="Shape 5"/>
          <p:cNvSpPr/>
          <p:nvPr/>
        </p:nvSpPr>
        <p:spPr>
          <a:xfrm>
            <a:off x="2240280" y="1572768"/>
            <a:ext cx="201168" cy="914"/>
          </a:xfrm>
          <a:prstGeom prst="line">
            <a:avLst/>
          </a:prstGeom>
          <a:noFill/>
          <a:ln w="25400">
            <a:solidFill>
              <a:srgbClr val="1E5AA8"/>
            </a:solidFill>
            <a:prstDash val="solid"/>
            <a:tailEnd type="triangle"/>
          </a:ln>
        </p:spPr>
      </p:sp>
      <p:sp>
        <p:nvSpPr>
          <p:cNvPr id="8" name="Text 6"/>
          <p:cNvSpPr txBox="1"/>
          <p:nvPr/>
        </p:nvSpPr>
        <p:spPr>
          <a:xfrm>
            <a:off x="2441448" y="1371600"/>
            <a:ext cx="1691640" cy="685800"/>
          </a:xfrm>
          <a:prstGeom prst="roundRect">
            <a:avLst>
              <a:gd name="adj" fmla="val 10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alibri" pitchFamily="34" charset="0"/>
                <a:ea typeface="Calibri" pitchFamily="34" charset="-122"/>
                <a:cs typeface="Calibri" pitchFamily="34" charset="-120"/>
              </a:rPr>
              <a:t>router.py</a:t>
            </a:r>
            <a:endParaRPr lang="en-US" sz="1300" dirty="0"/>
          </a:p>
        </p:txBody>
      </p:sp>
      <p:sp>
        <p:nvSpPr>
          <p:cNvPr id="9" name="Shape 7"/>
          <p:cNvSpPr/>
          <p:nvPr/>
        </p:nvSpPr>
        <p:spPr>
          <a:xfrm>
            <a:off x="4133088" y="1572768"/>
            <a:ext cx="201168" cy="914"/>
          </a:xfrm>
          <a:prstGeom prst="line">
            <a:avLst/>
          </a:prstGeom>
          <a:noFill/>
          <a:ln w="25400">
            <a:solidFill>
              <a:srgbClr val="1E5AA8"/>
            </a:solidFill>
            <a:prstDash val="solid"/>
            <a:tailEnd type="triangle"/>
          </a:ln>
        </p:spPr>
      </p:sp>
      <p:sp>
        <p:nvSpPr>
          <p:cNvPr id="10" name="Text 8"/>
          <p:cNvSpPr txBox="1"/>
          <p:nvPr/>
        </p:nvSpPr>
        <p:spPr>
          <a:xfrm>
            <a:off x="4334256" y="1371600"/>
            <a:ext cx="1691640" cy="685800"/>
          </a:xfrm>
          <a:prstGeom prst="roundRect">
            <a:avLst>
              <a:gd name="adj" fmla="val 10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alibri" pitchFamily="34" charset="0"/>
                <a:ea typeface="Calibri" pitchFamily="34" charset="-122"/>
                <a:cs typeface="Calibri" pitchFamily="34" charset="-120"/>
              </a:rPr>
              <a:t>service.py</a:t>
            </a:r>
            <a:endParaRPr lang="en-US" sz="1300" dirty="0"/>
          </a:p>
        </p:txBody>
      </p:sp>
      <p:sp>
        <p:nvSpPr>
          <p:cNvPr id="11" name="Shape 9"/>
          <p:cNvSpPr/>
          <p:nvPr/>
        </p:nvSpPr>
        <p:spPr>
          <a:xfrm>
            <a:off x="6025896" y="1572768"/>
            <a:ext cx="201168" cy="914"/>
          </a:xfrm>
          <a:prstGeom prst="line">
            <a:avLst/>
          </a:prstGeom>
          <a:noFill/>
          <a:ln w="25400">
            <a:solidFill>
              <a:srgbClr val="1E5AA8"/>
            </a:solidFill>
            <a:prstDash val="solid"/>
            <a:tailEnd type="triangle"/>
          </a:ln>
        </p:spPr>
      </p:sp>
      <p:sp>
        <p:nvSpPr>
          <p:cNvPr id="12" name="Text 10"/>
          <p:cNvSpPr txBox="1"/>
          <p:nvPr/>
        </p:nvSpPr>
        <p:spPr>
          <a:xfrm>
            <a:off x="6227064" y="1371600"/>
            <a:ext cx="1691640" cy="685800"/>
          </a:xfrm>
          <a:prstGeom prst="roundRect">
            <a:avLst>
              <a:gd name="adj" fmla="val 10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alibri" pitchFamily="34" charset="0"/>
                <a:ea typeface="Calibri" pitchFamily="34" charset="-122"/>
                <a:cs typeface="Calibri" pitchFamily="34" charset="-120"/>
              </a:rPr>
              <a:t>SQLAlchemy</a:t>
            </a:r>
            <a:endParaRPr lang="en-US" sz="1300" dirty="0"/>
          </a:p>
          <a:p>
            <a:pPr algn="ctr" indent="0" marL="0">
              <a:buNone/>
            </a:pPr>
            <a:r>
              <a:rPr lang="en-US" sz="1300" b="1" dirty="0">
                <a:solidFill>
                  <a:srgbClr val="0A1F44"/>
                </a:solidFill>
                <a:latin typeface="Calibri" pitchFamily="34" charset="0"/>
                <a:ea typeface="Calibri" pitchFamily="34" charset="-122"/>
                <a:cs typeface="Calibri" pitchFamily="34" charset="-120"/>
              </a:rPr>
              <a:t>select / add</a:t>
            </a:r>
            <a:endParaRPr lang="en-US" sz="1300" dirty="0"/>
          </a:p>
        </p:txBody>
      </p:sp>
      <p:sp>
        <p:nvSpPr>
          <p:cNvPr id="13" name="Shape 11"/>
          <p:cNvSpPr/>
          <p:nvPr/>
        </p:nvSpPr>
        <p:spPr>
          <a:xfrm>
            <a:off x="7918704" y="1572768"/>
            <a:ext cx="201168" cy="914"/>
          </a:xfrm>
          <a:prstGeom prst="line">
            <a:avLst/>
          </a:prstGeom>
          <a:noFill/>
          <a:ln w="25400">
            <a:solidFill>
              <a:srgbClr val="1E5AA8"/>
            </a:solidFill>
            <a:prstDash val="solid"/>
            <a:tailEnd type="triangle"/>
          </a:ln>
        </p:spPr>
      </p:sp>
      <p:sp>
        <p:nvSpPr>
          <p:cNvPr id="14" name="Text 12"/>
          <p:cNvSpPr txBox="1"/>
          <p:nvPr/>
        </p:nvSpPr>
        <p:spPr>
          <a:xfrm>
            <a:off x="8119872" y="1371600"/>
            <a:ext cx="1691640" cy="685800"/>
          </a:xfrm>
          <a:prstGeom prst="roundRect">
            <a:avLst>
              <a:gd name="adj" fmla="val 10667"/>
            </a:avLst>
          </a:prstGeom>
          <a:solidFill>
            <a:srgbClr val="EAF3FF"/>
          </a:solidFill>
          <a:ln w="12700">
            <a:solidFill>
              <a:srgbClr val="EAF3FF"/>
            </a:solidFill>
          </a:ln>
        </p:spPr>
        <p:txBody>
          <a:bodyPr wrap="square" lIns="76200" tIns="76200" rIns="76200" bIns="76200" rtlCol="0" anchor="ctr"/>
          <a:lstStyle/>
          <a:p>
            <a:pPr algn="ctr" indent="0" marL="0">
              <a:buNone/>
            </a:pPr>
            <a:r>
              <a:rPr lang="en-US" sz="1300" b="1" dirty="0">
                <a:solidFill>
                  <a:srgbClr val="0A1F44"/>
                </a:solidFill>
                <a:latin typeface="Calibri" pitchFamily="34" charset="0"/>
                <a:ea typeface="Calibri" pitchFamily="34" charset="-122"/>
                <a:cs typeface="Calibri" pitchFamily="34" charset="-120"/>
              </a:rPr>
              <a:t>asyncpg</a:t>
            </a:r>
            <a:endParaRPr lang="en-US" sz="1300" dirty="0"/>
          </a:p>
        </p:txBody>
      </p:sp>
      <p:sp>
        <p:nvSpPr>
          <p:cNvPr id="15" name="Shape 13"/>
          <p:cNvSpPr/>
          <p:nvPr/>
        </p:nvSpPr>
        <p:spPr>
          <a:xfrm>
            <a:off x="9811512" y="1572768"/>
            <a:ext cx="201168" cy="914"/>
          </a:xfrm>
          <a:prstGeom prst="line">
            <a:avLst/>
          </a:prstGeom>
          <a:noFill/>
          <a:ln w="25400">
            <a:solidFill>
              <a:srgbClr val="1E5AA8"/>
            </a:solidFill>
            <a:prstDash val="solid"/>
            <a:tailEnd type="triangle"/>
          </a:ln>
        </p:spPr>
      </p:sp>
      <p:sp>
        <p:nvSpPr>
          <p:cNvPr id="16" name="Text 14"/>
          <p:cNvSpPr txBox="1"/>
          <p:nvPr/>
        </p:nvSpPr>
        <p:spPr>
          <a:xfrm>
            <a:off x="10012680" y="1371600"/>
            <a:ext cx="1691640" cy="685800"/>
          </a:xfrm>
          <a:prstGeom prst="roundRect">
            <a:avLst>
              <a:gd name="adj" fmla="val 10667"/>
            </a:avLst>
          </a:prstGeom>
          <a:solidFill>
            <a:srgbClr val="0B7556"/>
          </a:solidFill>
          <a:ln w="12700">
            <a:solidFill>
              <a:srgbClr val="0B7556"/>
            </a:solidFill>
          </a:ln>
        </p:spPr>
        <p:txBody>
          <a:bodyPr wrap="square" lIns="76200" tIns="76200" rIns="76200" bIns="762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PostgreSQL</a:t>
            </a:r>
            <a:endParaRPr lang="en-US" sz="1300" dirty="0"/>
          </a:p>
        </p:txBody>
      </p:sp>
      <p:sp>
        <p:nvSpPr>
          <p:cNvPr id="17" name="Shape 15"/>
          <p:cNvSpPr/>
          <p:nvPr/>
        </p:nvSpPr>
        <p:spPr>
          <a:xfrm flipH="1">
            <a:off x="1371600" y="2194560"/>
            <a:ext cx="8686800" cy="914"/>
          </a:xfrm>
          <a:prstGeom prst="line">
            <a:avLst/>
          </a:prstGeom>
          <a:noFill/>
          <a:ln w="25400">
            <a:solidFill>
              <a:srgbClr val="0B7556"/>
            </a:solidFill>
            <a:prstDash val="dash"/>
            <a:tailEnd type="triangle"/>
          </a:ln>
        </p:spPr>
      </p:sp>
      <p:sp>
        <p:nvSpPr>
          <p:cNvPr id="18" name="Text 16"/>
          <p:cNvSpPr txBox="1"/>
          <p:nvPr/>
        </p:nvSpPr>
        <p:spPr>
          <a:xfrm>
            <a:off x="2514600" y="2423160"/>
            <a:ext cx="6400800" cy="237744"/>
          </a:xfrm>
          <a:prstGeom prst="rect">
            <a:avLst/>
          </a:prstGeom>
          <a:noFill/>
          <a:ln/>
        </p:spPr>
        <p:txBody>
          <a:bodyPr wrap="square" lIns="0" tIns="0" rIns="0" bIns="0" rtlCol="0" anchor="ctr"/>
          <a:lstStyle/>
          <a:p>
            <a:pPr algn="ctr" indent="0" marL="0">
              <a:buNone/>
            </a:pPr>
            <a:r>
              <a:rPr lang="en-US" sz="1100" dirty="0">
                <a:solidFill>
                  <a:srgbClr val="0B7556"/>
                </a:solidFill>
                <a:latin typeface="Calibri" pitchFamily="34" charset="0"/>
                <a:ea typeface="Calibri" pitchFamily="34" charset="-122"/>
                <a:cs typeface="Calibri" pitchFamily="34" charset="-120"/>
              </a:rPr>
              <a:t>filas → objetos del modelo → esquema Pydantic (BookingOut) → JSON</a:t>
            </a:r>
            <a:endParaRPr lang="en-US" sz="1100" dirty="0"/>
          </a:p>
        </p:txBody>
      </p:sp>
      <p:sp>
        <p:nvSpPr>
          <p:cNvPr id="19" name="Text 17"/>
          <p:cNvSpPr txBox="1"/>
          <p:nvPr/>
        </p:nvSpPr>
        <p:spPr>
          <a:xfrm>
            <a:off x="548640" y="2898648"/>
            <a:ext cx="548640" cy="54864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8"/>
          <p:cNvSpPr txBox="1"/>
          <p:nvPr/>
        </p:nvSpPr>
        <p:spPr>
          <a:xfrm>
            <a:off x="1234440" y="2788920"/>
            <a:ext cx="5120640" cy="777240"/>
          </a:xfrm>
          <a:prstGeom prst="rect">
            <a:avLst/>
          </a:prstGeom>
          <a:noFill/>
          <a:ln/>
        </p:spPr>
        <p:txBody>
          <a:bodyPr wrap="square" lIns="0" tIns="0" rIns="0" bIns="0" rtlCol="0" anchor="ctr"/>
          <a:lstStyle/>
          <a:p>
            <a:pPr indent="0" marL="0">
              <a:buNone/>
            </a:pPr>
            <a:r>
              <a:rPr lang="en-US" sz="1400" b="1" dirty="0">
                <a:solidFill>
                  <a:srgbClr val="0A1F44"/>
                </a:solidFill>
                <a:latin typeface="Calibri" pitchFamily="34" charset="0"/>
                <a:ea typeface="Calibri" pitchFamily="34" charset="-122"/>
                <a:cs typeface="Calibri" pitchFamily="34" charset="-120"/>
              </a:rPr>
              <a:t>Crear  </a:t>
            </a:r>
            <a:pPr indent="0" marL="0">
              <a:buNone/>
            </a:pPr>
            <a:r>
              <a:rPr lang="en-US" sz="1100" dirty="0">
                <a:solidFill>
                  <a:srgbClr val="5B6B85"/>
                </a:solidFill>
                <a:latin typeface="Calibri" pitchFamily="34" charset="0"/>
                <a:ea typeface="Calibri" pitchFamily="34" charset="-122"/>
                <a:cs typeface="Calibri" pitchFamily="34" charset="-120"/>
              </a:rPr>
              <a:t>TripService.create</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self.session.add(trip)</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await self.session.commit()</a:t>
            </a:r>
            <a:endParaRPr lang="en-US" sz="1400" dirty="0"/>
          </a:p>
        </p:txBody>
      </p:sp>
      <p:sp>
        <p:nvSpPr>
          <p:cNvPr id="21" name="Text 19"/>
          <p:cNvSpPr txBox="1"/>
          <p:nvPr/>
        </p:nvSpPr>
        <p:spPr>
          <a:xfrm>
            <a:off x="548640" y="3767328"/>
            <a:ext cx="548640" cy="54864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2" name="Text 20"/>
          <p:cNvSpPr txBox="1"/>
          <p:nvPr/>
        </p:nvSpPr>
        <p:spPr>
          <a:xfrm>
            <a:off x="1234440" y="3657600"/>
            <a:ext cx="5120640" cy="777240"/>
          </a:xfrm>
          <a:prstGeom prst="rect">
            <a:avLst/>
          </a:prstGeom>
          <a:noFill/>
          <a:ln/>
        </p:spPr>
        <p:txBody>
          <a:bodyPr wrap="square" lIns="0" tIns="0" rIns="0" bIns="0" rtlCol="0" anchor="ctr"/>
          <a:lstStyle/>
          <a:p>
            <a:pPr indent="0" marL="0">
              <a:buNone/>
            </a:pPr>
            <a:r>
              <a:rPr lang="en-US" sz="1400" b="1" dirty="0">
                <a:solidFill>
                  <a:srgbClr val="0A1F44"/>
                </a:solidFill>
                <a:latin typeface="Calibri" pitchFamily="34" charset="0"/>
                <a:ea typeface="Calibri" pitchFamily="34" charset="-122"/>
                <a:cs typeface="Calibri" pitchFamily="34" charset="-120"/>
              </a:rPr>
              <a:t>Consultar  </a:t>
            </a:r>
            <a:pPr indent="0" marL="0">
              <a:buNone/>
            </a:pPr>
            <a:r>
              <a:rPr lang="en-US" sz="1100" dirty="0">
                <a:solidFill>
                  <a:srgbClr val="5B6B85"/>
                </a:solidFill>
                <a:latin typeface="Calibri" pitchFamily="34" charset="0"/>
                <a:ea typeface="Calibri" pitchFamily="34" charset="-122"/>
                <a:cs typeface="Calibri" pitchFamily="34" charset="-120"/>
              </a:rPr>
              <a:t>lock_trip · get_for_driver</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select(Trip).where(Trip.id == trip_id)</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await session.get(Booking, id)</a:t>
            </a:r>
            <a:endParaRPr lang="en-US" sz="1400" dirty="0"/>
          </a:p>
        </p:txBody>
      </p:sp>
      <p:sp>
        <p:nvSpPr>
          <p:cNvPr id="23" name="Text 21"/>
          <p:cNvSpPr txBox="1"/>
          <p:nvPr/>
        </p:nvSpPr>
        <p:spPr>
          <a:xfrm>
            <a:off x="548640" y="4636008"/>
            <a:ext cx="548640" cy="54864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4" name="Text 22"/>
          <p:cNvSpPr txBox="1"/>
          <p:nvPr/>
        </p:nvSpPr>
        <p:spPr>
          <a:xfrm>
            <a:off x="1234440" y="4526280"/>
            <a:ext cx="5120640" cy="777240"/>
          </a:xfrm>
          <a:prstGeom prst="rect">
            <a:avLst/>
          </a:prstGeom>
          <a:noFill/>
          <a:ln/>
        </p:spPr>
        <p:txBody>
          <a:bodyPr wrap="square" lIns="0" tIns="0" rIns="0" bIns="0" rtlCol="0" anchor="ctr"/>
          <a:lstStyle/>
          <a:p>
            <a:pPr indent="0" marL="0">
              <a:buNone/>
            </a:pPr>
            <a:r>
              <a:rPr lang="en-US" sz="1400" b="1" dirty="0">
                <a:solidFill>
                  <a:srgbClr val="0A1F44"/>
                </a:solidFill>
                <a:latin typeface="Calibri" pitchFamily="34" charset="0"/>
                <a:ea typeface="Calibri" pitchFamily="34" charset="-122"/>
                <a:cs typeface="Calibri" pitchFamily="34" charset="-120"/>
              </a:rPr>
              <a:t>Actualizar  </a:t>
            </a:r>
            <a:pPr indent="0" marL="0">
              <a:buNone/>
            </a:pPr>
            <a:r>
              <a:rPr lang="en-US" sz="1100" dirty="0">
                <a:solidFill>
                  <a:srgbClr val="5B6B85"/>
                </a:solidFill>
                <a:latin typeface="Calibri" pitchFamily="34" charset="0"/>
                <a:ea typeface="Calibri" pitchFamily="34" charset="-122"/>
                <a:cs typeface="Calibri" pitchFamily="34" charset="-120"/>
              </a:rPr>
              <a:t>BookingService.accept</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booking.status = BookingStatus.ACCEPTED</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await self.session.commit()</a:t>
            </a:r>
            <a:endParaRPr lang="en-US" sz="1400" dirty="0"/>
          </a:p>
        </p:txBody>
      </p:sp>
      <p:sp>
        <p:nvSpPr>
          <p:cNvPr id="25" name="Text 23"/>
          <p:cNvSpPr txBox="1"/>
          <p:nvPr/>
        </p:nvSpPr>
        <p:spPr>
          <a:xfrm>
            <a:off x="548640" y="5504688"/>
            <a:ext cx="548640" cy="54864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26" name="Text 24"/>
          <p:cNvSpPr txBox="1"/>
          <p:nvPr/>
        </p:nvSpPr>
        <p:spPr>
          <a:xfrm>
            <a:off x="1234440" y="5394960"/>
            <a:ext cx="5120640" cy="777240"/>
          </a:xfrm>
          <a:prstGeom prst="rect">
            <a:avLst/>
          </a:prstGeom>
          <a:noFill/>
          <a:ln/>
        </p:spPr>
        <p:txBody>
          <a:bodyPr wrap="square" lIns="0" tIns="0" rIns="0" bIns="0" rtlCol="0" anchor="ctr"/>
          <a:lstStyle/>
          <a:p>
            <a:pPr indent="0" marL="0">
              <a:buNone/>
            </a:pPr>
            <a:r>
              <a:rPr lang="en-US" sz="1400" b="1" dirty="0">
                <a:solidFill>
                  <a:srgbClr val="0A1F44"/>
                </a:solidFill>
                <a:latin typeface="Calibri" pitchFamily="34" charset="0"/>
                <a:ea typeface="Calibri" pitchFamily="34" charset="-122"/>
                <a:cs typeface="Calibri" pitchFamily="34" charset="-120"/>
              </a:rPr>
              <a:t>Eliminar  </a:t>
            </a:r>
            <a:pPr indent="0" marL="0">
              <a:buNone/>
            </a:pPr>
            <a:r>
              <a:rPr lang="en-US" sz="1100" dirty="0">
                <a:solidFill>
                  <a:srgbClr val="5B6B85"/>
                </a:solidFill>
                <a:latin typeface="Calibri" pitchFamily="34" charset="0"/>
                <a:ea typeface="Calibri" pitchFamily="34" charset="-122"/>
                <a:cs typeface="Calibri" pitchFamily="34" charset="-120"/>
              </a:rPr>
              <a:t>SafetyService · borrado lógico</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await self.session.delete(contacto)</a:t>
            </a:r>
            <a:endParaRPr lang="en-US" sz="1400" dirty="0"/>
          </a:p>
          <a:p>
            <a:pPr indent="0" marL="0">
              <a:buNone/>
            </a:pPr>
            <a:r>
              <a:rPr lang="en-US" sz="1100" dirty="0">
                <a:solidFill>
                  <a:srgbClr val="1E5AA8"/>
                </a:solidFill>
                <a:latin typeface="Consolas" pitchFamily="34" charset="0"/>
                <a:ea typeface="Consolas" pitchFamily="34" charset="-122"/>
                <a:cs typeface="Consolas" pitchFamily="34" charset="-120"/>
              </a:rPr>
              <a:t>users, vehicles, trips: deleted_at (lógico)</a:t>
            </a:r>
            <a:endParaRPr lang="en-US" sz="1400" dirty="0"/>
          </a:p>
        </p:txBody>
      </p:sp>
      <p:sp>
        <p:nvSpPr>
          <p:cNvPr id="27" name="Text 25"/>
          <p:cNvSpPr txBox="1"/>
          <p:nvPr/>
        </p:nvSpPr>
        <p:spPr>
          <a:xfrm>
            <a:off x="6629400" y="2788920"/>
            <a:ext cx="5029200" cy="1645920"/>
          </a:xfrm>
          <a:prstGeom prst="roundRect">
            <a:avLst>
              <a:gd name="adj" fmla="val 4444"/>
            </a:avLst>
          </a:prstGeom>
          <a:solidFill>
            <a:srgbClr val="F5F9FF"/>
          </a:solidFill>
          <a:ln w="12700">
            <a:solidFill>
              <a:srgbClr val="C9D7EE"/>
            </a:solidFill>
          </a:ln>
        </p:spPr>
        <p:txBody>
          <a:bodyPr wrap="square" lIns="127000" tIns="127000" rIns="127000" bIns="127000" rtlCol="0" anchor="t"/>
          <a:lstStyle/>
          <a:p>
            <a:pPr algn="l" indent="0" marL="0">
              <a:buNone/>
            </a:pPr>
            <a:r>
              <a:rPr lang="en-US" sz="1500" b="1" dirty="0">
                <a:solidFill>
                  <a:srgbClr val="0A1F44"/>
                </a:solidFill>
                <a:latin typeface="Calibri" pitchFamily="34" charset="0"/>
                <a:ea typeface="Calibri" pitchFamily="34" charset="-122"/>
                <a:cs typeface="Calibri" pitchFamily="34" charset="-120"/>
              </a:rPr>
              <a:t>Transacciones</a:t>
            </a:r>
            <a:endParaRPr lang="en-US" sz="1500" dirty="0"/>
          </a:p>
          <a:p>
            <a:pPr algn="l" indent="0" marL="0">
              <a:buNone/>
            </a:pPr>
            <a:r>
              <a:rPr lang="en-US" sz="1200" dirty="0">
                <a:solidFill>
                  <a:srgbClr val="33415C"/>
                </a:solidFill>
                <a:latin typeface="Calibri" pitchFamily="34" charset="0"/>
                <a:ea typeface="Calibri" pitchFamily="34" charset="-122"/>
                <a:cs typeface="Calibri" pitchFamily="34" charset="-120"/>
              </a:rPr>
              <a:t>Una sesión por petición; el servicio decide cuándo hacer commit. Si hay un error antes, nada se guarda. add_unique usa un savepoint (begin_nested) y lock_trip bloquea la fila con FOR UPDATE.</a:t>
            </a:r>
            <a:endParaRPr lang="en-US" sz="1500" dirty="0"/>
          </a:p>
        </p:txBody>
      </p:sp>
      <p:sp>
        <p:nvSpPr>
          <p:cNvPr id="28" name="Text 26"/>
          <p:cNvSpPr txBox="1"/>
          <p:nvPr/>
        </p:nvSpPr>
        <p:spPr>
          <a:xfrm>
            <a:off x="6629400" y="4572000"/>
            <a:ext cx="5029200" cy="1691640"/>
          </a:xfrm>
          <a:prstGeom prst="roundRect">
            <a:avLst>
              <a:gd name="adj" fmla="val 4324"/>
            </a:avLst>
          </a:prstGeom>
          <a:solidFill>
            <a:srgbClr val="FFF4D6"/>
          </a:solidFill>
          <a:ln w="12700">
            <a:solidFill>
              <a:srgbClr val="865C00"/>
            </a:solidFill>
          </a:ln>
        </p:spPr>
        <p:txBody>
          <a:bodyPr wrap="square" lIns="127000" tIns="127000" rIns="127000" bIns="127000" rtlCol="0" anchor="t"/>
          <a:lstStyle/>
          <a:p>
            <a:pPr algn="l" indent="0" marL="0">
              <a:buNone/>
            </a:pPr>
            <a:r>
              <a:rPr lang="en-US" sz="1500" b="1" dirty="0">
                <a:solidFill>
                  <a:srgbClr val="0A1F44"/>
                </a:solidFill>
                <a:latin typeface="Calibri" pitchFamily="34" charset="0"/>
                <a:ea typeface="Calibri" pitchFamily="34" charset="-122"/>
                <a:cs typeface="Calibri" pitchFamily="34" charset="-120"/>
              </a:rPr>
              <a:t>Credenciales protegidas</a:t>
            </a:r>
            <a:endParaRPr lang="en-US" sz="1500" dirty="0"/>
          </a:p>
          <a:p>
            <a:pPr algn="l" indent="0" marL="0">
              <a:buNone/>
            </a:pPr>
            <a:r>
              <a:rPr lang="en-US" sz="1200" dirty="0">
                <a:solidFill>
                  <a:srgbClr val="33415C"/>
                </a:solidFill>
                <a:latin typeface="Calibri" pitchFamily="34" charset="0"/>
                <a:ea typeface="Calibri" pitchFamily="34" charset="-122"/>
                <a:cs typeface="Calibri" pitchFamily="34" charset="-120"/>
              </a:rPr>
              <a:t>.env no se versiona (.gitignore); solo .env.example sin valores. En producción no arranca con claves de ejemplo. El puerto 5432 solo se publica en desarrollo (docker-compose.dev.yml).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ENTIDADES Y RELACIONES</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Modelo de datos: 35 tablas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Base de datos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15</a:t>
            </a:r>
            <a:endParaRPr lang="en-US" sz="1100" dirty="0"/>
          </a:p>
        </p:txBody>
      </p:sp>
      <p:sp>
        <p:nvSpPr>
          <p:cNvPr id="6" name="Text 4"/>
          <p:cNvSpPr txBox="1"/>
          <p:nvPr/>
        </p:nvSpPr>
        <p:spPr>
          <a:xfrm>
            <a:off x="548640" y="1371600"/>
            <a:ext cx="4480560" cy="850392"/>
          </a:xfrm>
          <a:prstGeom prst="roundRect">
            <a:avLst>
              <a:gd name="adj" fmla="val 860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alibri" pitchFamily="34" charset="0"/>
                <a:ea typeface="Calibri" pitchFamily="34" charset="-122"/>
                <a:cs typeface="Calibri" pitchFamily="34" charset="-120"/>
              </a:rPr>
              <a:t>Usuarios y acceso</a:t>
            </a:r>
            <a:endParaRPr lang="en-US" sz="1300" dirty="0"/>
          </a:p>
          <a:p>
            <a:pPr algn="l" indent="0" marL="0">
              <a:buNone/>
            </a:pPr>
            <a:r>
              <a:rPr lang="en-US" sz="1100" dirty="0">
                <a:solidFill>
                  <a:srgbClr val="33415C"/>
                </a:solidFill>
                <a:latin typeface="Consolas" pitchFamily="34" charset="0"/>
                <a:ea typeface="Consolas" pitchFamily="34" charset="-122"/>
                <a:cs typeface="Consolas" pitchFamily="34" charset="-120"/>
              </a:rPr>
              <a:t>users · user_sessions · auth_codes · notifications · trusted_contacts · user_stats · suspensions</a:t>
            </a:r>
            <a:endParaRPr lang="en-US" sz="1300" dirty="0"/>
          </a:p>
        </p:txBody>
      </p:sp>
      <p:sp>
        <p:nvSpPr>
          <p:cNvPr id="7" name="Text 5"/>
          <p:cNvSpPr txBox="1"/>
          <p:nvPr/>
        </p:nvSpPr>
        <p:spPr>
          <a:xfrm>
            <a:off x="548640" y="2313432"/>
            <a:ext cx="4480560" cy="850392"/>
          </a:xfrm>
          <a:prstGeom prst="roundRect">
            <a:avLst>
              <a:gd name="adj" fmla="val 860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alibri" pitchFamily="34" charset="0"/>
                <a:ea typeface="Calibri" pitchFamily="34" charset="-122"/>
                <a:cs typeface="Calibri" pitchFamily="34" charset="-120"/>
              </a:rPr>
              <a:t>Documentos y legal</a:t>
            </a:r>
            <a:endParaRPr lang="en-US" sz="1300" dirty="0"/>
          </a:p>
          <a:p>
            <a:pPr algn="l" indent="0" marL="0">
              <a:buNone/>
            </a:pPr>
            <a:r>
              <a:rPr lang="en-US" sz="1100" dirty="0">
                <a:solidFill>
                  <a:srgbClr val="33415C"/>
                </a:solidFill>
                <a:latin typeface="Consolas" pitchFamily="34" charset="0"/>
                <a:ea typeface="Consolas" pitchFamily="34" charset="-122"/>
                <a:cs typeface="Consolas" pitchFamily="34" charset="-120"/>
              </a:rPr>
              <a:t>identity_documents · driver_licenses · semesters · legal_documents · terms_acceptances</a:t>
            </a:r>
            <a:endParaRPr lang="en-US" sz="1300" dirty="0"/>
          </a:p>
        </p:txBody>
      </p:sp>
      <p:sp>
        <p:nvSpPr>
          <p:cNvPr id="8" name="Text 6"/>
          <p:cNvSpPr txBox="1"/>
          <p:nvPr/>
        </p:nvSpPr>
        <p:spPr>
          <a:xfrm>
            <a:off x="548640" y="3255264"/>
            <a:ext cx="4480560" cy="850392"/>
          </a:xfrm>
          <a:prstGeom prst="roundRect">
            <a:avLst>
              <a:gd name="adj" fmla="val 860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alibri" pitchFamily="34" charset="0"/>
                <a:ea typeface="Calibri" pitchFamily="34" charset="-122"/>
                <a:cs typeface="Calibri" pitchFamily="34" charset="-120"/>
              </a:rPr>
              <a:t>Vehículos, lugares y viajes</a:t>
            </a:r>
            <a:endParaRPr lang="en-US" sz="1300" dirty="0"/>
          </a:p>
          <a:p>
            <a:pPr algn="l" indent="0" marL="0">
              <a:buNone/>
            </a:pPr>
            <a:r>
              <a:rPr lang="en-US" sz="1100" dirty="0">
                <a:solidFill>
                  <a:srgbClr val="33415C"/>
                </a:solidFill>
                <a:latin typeface="Consolas" pitchFamily="34" charset="0"/>
                <a:ea typeface="Consolas" pitchFamily="34" charset="-122"/>
                <a:cs typeface="Consolas" pitchFamily="34" charset="-120"/>
              </a:rPr>
              <a:t>vehicles · places · pico_placa_rules · trips · trip_stops · trip_rules · trip_series · series_stops · traffic_factors</a:t>
            </a:r>
            <a:endParaRPr lang="en-US" sz="1300" dirty="0"/>
          </a:p>
        </p:txBody>
      </p:sp>
      <p:sp>
        <p:nvSpPr>
          <p:cNvPr id="9" name="Text 7"/>
          <p:cNvSpPr txBox="1"/>
          <p:nvPr/>
        </p:nvSpPr>
        <p:spPr>
          <a:xfrm>
            <a:off x="548640" y="4197096"/>
            <a:ext cx="4480560" cy="850392"/>
          </a:xfrm>
          <a:prstGeom prst="roundRect">
            <a:avLst>
              <a:gd name="adj" fmla="val 860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alibri" pitchFamily="34" charset="0"/>
                <a:ea typeface="Calibri" pitchFamily="34" charset="-122"/>
                <a:cs typeface="Calibri" pitchFamily="34" charset="-120"/>
              </a:rPr>
              <a:t>Reservas</a:t>
            </a:r>
            <a:endParaRPr lang="en-US" sz="1300" dirty="0"/>
          </a:p>
          <a:p>
            <a:pPr algn="l" indent="0" marL="0">
              <a:buNone/>
            </a:pPr>
            <a:r>
              <a:rPr lang="en-US" sz="1100" dirty="0">
                <a:solidFill>
                  <a:srgbClr val="33415C"/>
                </a:solidFill>
                <a:latin typeface="Consolas" pitchFamily="34" charset="0"/>
                <a:ea typeface="Consolas" pitchFamily="34" charset="-122"/>
                <a:cs typeface="Consolas" pitchFamily="34" charset="-120"/>
              </a:rPr>
              <a:t>bookings · series_subscriptions · waitlist_entries · cancellation_requests · tickets</a:t>
            </a:r>
            <a:endParaRPr lang="en-US" sz="1300" dirty="0"/>
          </a:p>
        </p:txBody>
      </p:sp>
      <p:sp>
        <p:nvSpPr>
          <p:cNvPr id="10" name="Text 8"/>
          <p:cNvSpPr txBox="1"/>
          <p:nvPr/>
        </p:nvSpPr>
        <p:spPr>
          <a:xfrm>
            <a:off x="548640" y="5138928"/>
            <a:ext cx="4480560" cy="850392"/>
          </a:xfrm>
          <a:prstGeom prst="roundRect">
            <a:avLst>
              <a:gd name="adj" fmla="val 8602"/>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alibri" pitchFamily="34" charset="0"/>
                <a:ea typeface="Calibri" pitchFamily="34" charset="-122"/>
                <a:cs typeface="Calibri" pitchFamily="34" charset="-120"/>
              </a:rPr>
              <a:t>Comunidad y control</a:t>
            </a:r>
            <a:endParaRPr lang="en-US" sz="1300" dirty="0"/>
          </a:p>
          <a:p>
            <a:pPr algn="l" indent="0" marL="0">
              <a:buNone/>
            </a:pPr>
            <a:r>
              <a:rPr lang="en-US" sz="1100" dirty="0">
                <a:solidFill>
                  <a:srgbClr val="33415C"/>
                </a:solidFill>
                <a:latin typeface="Consolas" pitchFamily="34" charset="0"/>
                <a:ea typeface="Consolas" pitchFamily="34" charset="-122"/>
                <a:cs typeface="Consolas" pitchFamily="34" charset="-120"/>
              </a:rPr>
              <a:t>ratings · rating_scores · conversations · conversation_members · messages · emergency_events · share_links · system_settings · audit_log</a:t>
            </a:r>
            <a:endParaRPr lang="en-US" sz="1300" dirty="0"/>
          </a:p>
        </p:txBody>
      </p:sp>
      <p:sp>
        <p:nvSpPr>
          <p:cNvPr id="11" name="Text 9"/>
          <p:cNvSpPr txBox="1"/>
          <p:nvPr/>
        </p:nvSpPr>
        <p:spPr>
          <a:xfrm>
            <a:off x="7086600" y="1417320"/>
            <a:ext cx="1463040" cy="548640"/>
          </a:xfrm>
          <a:prstGeom prst="roundRect">
            <a:avLst>
              <a:gd name="adj" fmla="val 1333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users</a:t>
            </a:r>
            <a:endParaRPr lang="en-US" sz="1200" dirty="0"/>
          </a:p>
        </p:txBody>
      </p:sp>
      <p:sp>
        <p:nvSpPr>
          <p:cNvPr id="12" name="Text 10"/>
          <p:cNvSpPr txBox="1"/>
          <p:nvPr/>
        </p:nvSpPr>
        <p:spPr>
          <a:xfrm>
            <a:off x="5349240" y="2743200"/>
            <a:ext cx="1463040" cy="548640"/>
          </a:xfrm>
          <a:prstGeom prst="roundRect">
            <a:avLst>
              <a:gd name="adj" fmla="val 13333"/>
            </a:avLst>
          </a:prstGeom>
          <a:solidFill>
            <a:srgbClr val="EAF3FF"/>
          </a:solidFill>
          <a:ln w="12700">
            <a:solidFill>
              <a:srgbClr val="EAF3FF"/>
            </a:solidFill>
          </a:ln>
        </p:spPr>
        <p:txBody>
          <a:bodyPr wrap="square" lIns="76200" tIns="76200" rIns="76200" bIns="76200" rtlCol="0" anchor="ctr"/>
          <a:lstStyle/>
          <a:p>
            <a:pPr algn="ctr" indent="0" marL="0">
              <a:buNone/>
            </a:pPr>
            <a:r>
              <a:rPr lang="en-US" sz="1200" b="1" dirty="0">
                <a:solidFill>
                  <a:srgbClr val="0A1F44"/>
                </a:solidFill>
                <a:latin typeface="Consolas" pitchFamily="34" charset="0"/>
                <a:ea typeface="Consolas" pitchFamily="34" charset="-122"/>
                <a:cs typeface="Consolas" pitchFamily="34" charset="-120"/>
              </a:rPr>
              <a:t>vehicles</a:t>
            </a:r>
            <a:endParaRPr lang="en-US" sz="1200" dirty="0"/>
          </a:p>
        </p:txBody>
      </p:sp>
      <p:sp>
        <p:nvSpPr>
          <p:cNvPr id="13" name="Text 11"/>
          <p:cNvSpPr txBox="1"/>
          <p:nvPr/>
        </p:nvSpPr>
        <p:spPr>
          <a:xfrm>
            <a:off x="7086600" y="2743200"/>
            <a:ext cx="1463040" cy="548640"/>
          </a:xfrm>
          <a:prstGeom prst="roundRect">
            <a:avLst>
              <a:gd name="adj" fmla="val 13333"/>
            </a:avLst>
          </a:prstGeom>
          <a:solidFill>
            <a:srgbClr val="0A1F44"/>
          </a:solidFill>
          <a:ln w="12700">
            <a:solidFill>
              <a:srgbClr val="0A1F44"/>
            </a:solidFill>
          </a:ln>
        </p:spPr>
        <p:txBody>
          <a:bodyPr wrap="square" lIns="76200" tIns="76200" rIns="76200" bIns="7620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trips</a:t>
            </a:r>
            <a:endParaRPr lang="en-US" sz="1200" dirty="0"/>
          </a:p>
        </p:txBody>
      </p:sp>
      <p:sp>
        <p:nvSpPr>
          <p:cNvPr id="14" name="Text 12"/>
          <p:cNvSpPr txBox="1"/>
          <p:nvPr/>
        </p:nvSpPr>
        <p:spPr>
          <a:xfrm>
            <a:off x="10195560" y="2743200"/>
            <a:ext cx="1463040" cy="548640"/>
          </a:xfrm>
          <a:prstGeom prst="roundRect">
            <a:avLst>
              <a:gd name="adj" fmla="val 13333"/>
            </a:avLst>
          </a:prstGeom>
          <a:solidFill>
            <a:srgbClr val="EAF3FF"/>
          </a:solidFill>
          <a:ln w="12700">
            <a:solidFill>
              <a:srgbClr val="EAF3FF"/>
            </a:solidFill>
          </a:ln>
        </p:spPr>
        <p:txBody>
          <a:bodyPr wrap="square" lIns="76200" tIns="76200" rIns="76200" bIns="76200" rtlCol="0" anchor="ctr"/>
          <a:lstStyle/>
          <a:p>
            <a:pPr algn="ctr" indent="0" marL="0">
              <a:buNone/>
            </a:pPr>
            <a:r>
              <a:rPr lang="en-US" sz="1200" b="1" dirty="0">
                <a:solidFill>
                  <a:srgbClr val="0A1F44"/>
                </a:solidFill>
                <a:latin typeface="Consolas" pitchFamily="34" charset="0"/>
                <a:ea typeface="Consolas" pitchFamily="34" charset="-122"/>
                <a:cs typeface="Consolas" pitchFamily="34" charset="-120"/>
              </a:rPr>
              <a:t>places</a:t>
            </a:r>
            <a:endParaRPr lang="en-US" sz="1200" dirty="0"/>
          </a:p>
        </p:txBody>
      </p:sp>
      <p:sp>
        <p:nvSpPr>
          <p:cNvPr id="15" name="Text 13"/>
          <p:cNvSpPr txBox="1"/>
          <p:nvPr/>
        </p:nvSpPr>
        <p:spPr>
          <a:xfrm>
            <a:off x="8641080" y="2743200"/>
            <a:ext cx="1463040" cy="548640"/>
          </a:xfrm>
          <a:prstGeom prst="roundRect">
            <a:avLst>
              <a:gd name="adj" fmla="val 13333"/>
            </a:avLst>
          </a:prstGeom>
          <a:solidFill>
            <a:srgbClr val="EAF3FF"/>
          </a:solidFill>
          <a:ln w="12700">
            <a:solidFill>
              <a:srgbClr val="EAF3FF"/>
            </a:solidFill>
          </a:ln>
        </p:spPr>
        <p:txBody>
          <a:bodyPr wrap="square" lIns="76200" tIns="76200" rIns="76200" bIns="76200" rtlCol="0" anchor="ctr"/>
          <a:lstStyle/>
          <a:p>
            <a:pPr algn="ctr" indent="0" marL="0">
              <a:buNone/>
            </a:pPr>
            <a:r>
              <a:rPr lang="en-US" sz="1200" b="1" dirty="0">
                <a:solidFill>
                  <a:srgbClr val="0A1F44"/>
                </a:solidFill>
                <a:latin typeface="Consolas" pitchFamily="34" charset="0"/>
                <a:ea typeface="Consolas" pitchFamily="34" charset="-122"/>
                <a:cs typeface="Consolas" pitchFamily="34" charset="-120"/>
              </a:rPr>
              <a:t>trip_stops</a:t>
            </a:r>
            <a:endParaRPr lang="en-US" sz="1200" dirty="0"/>
          </a:p>
        </p:txBody>
      </p:sp>
      <p:sp>
        <p:nvSpPr>
          <p:cNvPr id="16" name="Text 14"/>
          <p:cNvSpPr txBox="1"/>
          <p:nvPr/>
        </p:nvSpPr>
        <p:spPr>
          <a:xfrm>
            <a:off x="7086600" y="4160520"/>
            <a:ext cx="1463040" cy="548640"/>
          </a:xfrm>
          <a:prstGeom prst="roundRect">
            <a:avLst>
              <a:gd name="adj" fmla="val 13333"/>
            </a:avLst>
          </a:prstGeom>
          <a:solidFill>
            <a:srgbClr val="EAF3FF"/>
          </a:solidFill>
          <a:ln w="12700">
            <a:solidFill>
              <a:srgbClr val="EAF3FF"/>
            </a:solidFill>
          </a:ln>
        </p:spPr>
        <p:txBody>
          <a:bodyPr wrap="square" lIns="76200" tIns="76200" rIns="76200" bIns="76200" rtlCol="0" anchor="ctr"/>
          <a:lstStyle/>
          <a:p>
            <a:pPr algn="ctr" indent="0" marL="0">
              <a:buNone/>
            </a:pPr>
            <a:r>
              <a:rPr lang="en-US" sz="1200" b="1" dirty="0">
                <a:solidFill>
                  <a:srgbClr val="0A1F44"/>
                </a:solidFill>
                <a:latin typeface="Consolas" pitchFamily="34" charset="0"/>
                <a:ea typeface="Consolas" pitchFamily="34" charset="-122"/>
                <a:cs typeface="Consolas" pitchFamily="34" charset="-120"/>
              </a:rPr>
              <a:t>bookings</a:t>
            </a:r>
            <a:endParaRPr lang="en-US" sz="1200" dirty="0"/>
          </a:p>
        </p:txBody>
      </p:sp>
      <p:sp>
        <p:nvSpPr>
          <p:cNvPr id="17" name="Text 15"/>
          <p:cNvSpPr txBox="1"/>
          <p:nvPr/>
        </p:nvSpPr>
        <p:spPr>
          <a:xfrm>
            <a:off x="5349240" y="4160520"/>
            <a:ext cx="1463040" cy="548640"/>
          </a:xfrm>
          <a:prstGeom prst="roundRect">
            <a:avLst>
              <a:gd name="adj" fmla="val 13333"/>
            </a:avLst>
          </a:prstGeom>
          <a:solidFill>
            <a:srgbClr val="EAF3FF"/>
          </a:solidFill>
          <a:ln w="12700">
            <a:solidFill>
              <a:srgbClr val="EAF3FF"/>
            </a:solidFill>
          </a:ln>
        </p:spPr>
        <p:txBody>
          <a:bodyPr wrap="square" lIns="76200" tIns="76200" rIns="76200" bIns="76200" rtlCol="0" anchor="ctr"/>
          <a:lstStyle/>
          <a:p>
            <a:pPr algn="ctr" indent="0" marL="0">
              <a:buNone/>
            </a:pPr>
            <a:r>
              <a:rPr lang="en-US" sz="1200" b="1" dirty="0">
                <a:solidFill>
                  <a:srgbClr val="0A1F44"/>
                </a:solidFill>
                <a:latin typeface="Consolas" pitchFamily="34" charset="0"/>
                <a:ea typeface="Consolas" pitchFamily="34" charset="-122"/>
                <a:cs typeface="Consolas" pitchFamily="34" charset="-120"/>
              </a:rPr>
              <a:t>ratings</a:t>
            </a:r>
            <a:endParaRPr lang="en-US" sz="1200" dirty="0"/>
          </a:p>
        </p:txBody>
      </p:sp>
      <p:sp>
        <p:nvSpPr>
          <p:cNvPr id="18" name="Text 16"/>
          <p:cNvSpPr txBox="1"/>
          <p:nvPr/>
        </p:nvSpPr>
        <p:spPr>
          <a:xfrm>
            <a:off x="8823960" y="4160520"/>
            <a:ext cx="1463040" cy="548640"/>
          </a:xfrm>
          <a:prstGeom prst="roundRect">
            <a:avLst>
              <a:gd name="adj" fmla="val 13333"/>
            </a:avLst>
          </a:prstGeom>
          <a:solidFill>
            <a:srgbClr val="EAF3FF"/>
          </a:solidFill>
          <a:ln w="12700">
            <a:solidFill>
              <a:srgbClr val="EAF3FF"/>
            </a:solidFill>
          </a:ln>
        </p:spPr>
        <p:txBody>
          <a:bodyPr wrap="square" lIns="76200" tIns="76200" rIns="76200" bIns="76200" rtlCol="0" anchor="ctr"/>
          <a:lstStyle/>
          <a:p>
            <a:pPr algn="ctr" indent="0" marL="0">
              <a:buNone/>
            </a:pPr>
            <a:r>
              <a:rPr lang="en-US" sz="1200" b="1" dirty="0">
                <a:solidFill>
                  <a:srgbClr val="0A1F44"/>
                </a:solidFill>
                <a:latin typeface="Consolas" pitchFamily="34" charset="0"/>
                <a:ea typeface="Consolas" pitchFamily="34" charset="-122"/>
                <a:cs typeface="Consolas" pitchFamily="34" charset="-120"/>
              </a:rPr>
              <a:t>messages</a:t>
            </a:r>
            <a:endParaRPr lang="en-US" sz="1200" dirty="0"/>
          </a:p>
        </p:txBody>
      </p:sp>
      <p:sp>
        <p:nvSpPr>
          <p:cNvPr id="19" name="Shape 17"/>
          <p:cNvSpPr/>
          <p:nvPr/>
        </p:nvSpPr>
        <p:spPr>
          <a:xfrm>
            <a:off x="7818120" y="1965960"/>
            <a:ext cx="914" cy="777240"/>
          </a:xfrm>
          <a:prstGeom prst="line">
            <a:avLst/>
          </a:prstGeom>
          <a:noFill/>
          <a:ln w="15875">
            <a:solidFill>
              <a:srgbClr val="1E5AA8"/>
            </a:solidFill>
            <a:prstDash val="solid"/>
            <a:tailEnd type="triangle"/>
          </a:ln>
        </p:spPr>
      </p:sp>
      <p:sp>
        <p:nvSpPr>
          <p:cNvPr id="20" name="Text 18"/>
          <p:cNvSpPr txBox="1"/>
          <p:nvPr/>
        </p:nvSpPr>
        <p:spPr>
          <a:xfrm>
            <a:off x="7635240" y="2189988"/>
            <a:ext cx="1371600" cy="237744"/>
          </a:xfrm>
          <a:prstGeom prst="rect">
            <a:avLst/>
          </a:prstGeom>
          <a:noFill/>
          <a:ln/>
        </p:spPr>
        <p:txBody>
          <a:bodyPr wrap="square" lIns="0" tIns="0" rIns="0" bIns="0" rtlCol="0" anchor="ctr"/>
          <a:lstStyle/>
          <a:p>
            <a:pPr algn="ctr" indent="0" marL="0">
              <a:buNone/>
            </a:pPr>
            <a:r>
              <a:rPr lang="en-US" sz="1000" dirty="0">
                <a:solidFill>
                  <a:srgbClr val="33415C"/>
                </a:solidFill>
                <a:latin typeface="Consolas" pitchFamily="34" charset="0"/>
                <a:ea typeface="Consolas" pitchFamily="34" charset="-122"/>
                <a:cs typeface="Consolas" pitchFamily="34" charset="-120"/>
              </a:rPr>
              <a:t>driver_id</a:t>
            </a:r>
            <a:endParaRPr lang="en-US" sz="1000" dirty="0"/>
          </a:p>
        </p:txBody>
      </p:sp>
      <p:sp>
        <p:nvSpPr>
          <p:cNvPr id="21" name="Shape 19"/>
          <p:cNvSpPr/>
          <p:nvPr/>
        </p:nvSpPr>
        <p:spPr>
          <a:xfrm flipH="1">
            <a:off x="6080760" y="1965960"/>
            <a:ext cx="1737360" cy="777240"/>
          </a:xfrm>
          <a:prstGeom prst="line">
            <a:avLst/>
          </a:prstGeom>
          <a:noFill/>
          <a:ln w="15875">
            <a:solidFill>
              <a:srgbClr val="1E5AA8"/>
            </a:solidFill>
            <a:prstDash val="solid"/>
            <a:tailEnd type="triangle"/>
          </a:ln>
        </p:spPr>
      </p:sp>
      <p:sp>
        <p:nvSpPr>
          <p:cNvPr id="22" name="Text 20"/>
          <p:cNvSpPr txBox="1"/>
          <p:nvPr/>
        </p:nvSpPr>
        <p:spPr>
          <a:xfrm>
            <a:off x="5897880" y="2080260"/>
            <a:ext cx="1371600" cy="237744"/>
          </a:xfrm>
          <a:prstGeom prst="rect">
            <a:avLst/>
          </a:prstGeom>
          <a:noFill/>
          <a:ln/>
        </p:spPr>
        <p:txBody>
          <a:bodyPr wrap="square" lIns="0" tIns="0" rIns="0" bIns="0" rtlCol="0" anchor="ctr"/>
          <a:lstStyle/>
          <a:p>
            <a:pPr algn="ctr" indent="0" marL="0">
              <a:buNone/>
            </a:pPr>
            <a:r>
              <a:rPr lang="en-US" sz="1000" dirty="0">
                <a:solidFill>
                  <a:srgbClr val="33415C"/>
                </a:solidFill>
                <a:latin typeface="Consolas" pitchFamily="34" charset="0"/>
                <a:ea typeface="Consolas" pitchFamily="34" charset="-122"/>
                <a:cs typeface="Consolas" pitchFamily="34" charset="-120"/>
              </a:rPr>
              <a:t>owner_id</a:t>
            </a:r>
            <a:endParaRPr lang="en-US" sz="1000" dirty="0"/>
          </a:p>
        </p:txBody>
      </p:sp>
      <p:sp>
        <p:nvSpPr>
          <p:cNvPr id="23" name="Shape 21"/>
          <p:cNvSpPr/>
          <p:nvPr/>
        </p:nvSpPr>
        <p:spPr>
          <a:xfrm>
            <a:off x="6812280" y="3017520"/>
            <a:ext cx="274320" cy="914"/>
          </a:xfrm>
          <a:prstGeom prst="line">
            <a:avLst/>
          </a:prstGeom>
          <a:noFill/>
          <a:ln w="15875">
            <a:solidFill>
              <a:srgbClr val="1E5AA8"/>
            </a:solidFill>
            <a:prstDash val="solid"/>
            <a:tailEnd type="triangle"/>
          </a:ln>
        </p:spPr>
      </p:sp>
      <p:sp>
        <p:nvSpPr>
          <p:cNvPr id="24" name="Shape 22"/>
          <p:cNvSpPr/>
          <p:nvPr/>
        </p:nvSpPr>
        <p:spPr>
          <a:xfrm>
            <a:off x="7818120" y="3291840"/>
            <a:ext cx="914" cy="868680"/>
          </a:xfrm>
          <a:prstGeom prst="line">
            <a:avLst/>
          </a:prstGeom>
          <a:noFill/>
          <a:ln w="15875">
            <a:solidFill>
              <a:srgbClr val="1E5AA8"/>
            </a:solidFill>
            <a:prstDash val="solid"/>
            <a:tailEnd type="triangle"/>
          </a:ln>
        </p:spPr>
      </p:sp>
      <p:sp>
        <p:nvSpPr>
          <p:cNvPr id="25" name="Text 23"/>
          <p:cNvSpPr txBox="1"/>
          <p:nvPr/>
        </p:nvSpPr>
        <p:spPr>
          <a:xfrm>
            <a:off x="7589520" y="3561588"/>
            <a:ext cx="1371600" cy="237744"/>
          </a:xfrm>
          <a:prstGeom prst="rect">
            <a:avLst/>
          </a:prstGeom>
          <a:noFill/>
          <a:ln/>
        </p:spPr>
        <p:txBody>
          <a:bodyPr wrap="square" lIns="0" tIns="0" rIns="0" bIns="0" rtlCol="0" anchor="ctr"/>
          <a:lstStyle/>
          <a:p>
            <a:pPr algn="ctr" indent="0" marL="0">
              <a:buNone/>
            </a:pPr>
            <a:r>
              <a:rPr lang="en-US" sz="1000" dirty="0">
                <a:solidFill>
                  <a:srgbClr val="33415C"/>
                </a:solidFill>
                <a:latin typeface="Consolas" pitchFamily="34" charset="0"/>
                <a:ea typeface="Consolas" pitchFamily="34" charset="-122"/>
                <a:cs typeface="Consolas" pitchFamily="34" charset="-120"/>
              </a:rPr>
              <a:t>trip_id</a:t>
            </a:r>
            <a:endParaRPr lang="en-US" sz="1000" dirty="0"/>
          </a:p>
        </p:txBody>
      </p:sp>
      <p:sp>
        <p:nvSpPr>
          <p:cNvPr id="26" name="Shape 24"/>
          <p:cNvSpPr/>
          <p:nvPr/>
        </p:nvSpPr>
        <p:spPr>
          <a:xfrm>
            <a:off x="8549640" y="3017520"/>
            <a:ext cx="91440" cy="914"/>
          </a:xfrm>
          <a:prstGeom prst="line">
            <a:avLst/>
          </a:prstGeom>
          <a:noFill/>
          <a:ln w="15875">
            <a:solidFill>
              <a:srgbClr val="1E5AA8"/>
            </a:solidFill>
            <a:prstDash val="solid"/>
            <a:tailEnd type="triangle"/>
          </a:ln>
        </p:spPr>
      </p:sp>
      <p:sp>
        <p:nvSpPr>
          <p:cNvPr id="27" name="Shape 25"/>
          <p:cNvSpPr/>
          <p:nvPr/>
        </p:nvSpPr>
        <p:spPr>
          <a:xfrm flipH="1">
            <a:off x="10104120" y="3017520"/>
            <a:ext cx="91440" cy="914"/>
          </a:xfrm>
          <a:prstGeom prst="line">
            <a:avLst/>
          </a:prstGeom>
          <a:noFill/>
          <a:ln w="15875">
            <a:solidFill>
              <a:srgbClr val="1E5AA8"/>
            </a:solidFill>
            <a:prstDash val="solid"/>
            <a:tailEnd type="triangle"/>
          </a:ln>
        </p:spPr>
      </p:sp>
      <p:sp>
        <p:nvSpPr>
          <p:cNvPr id="28" name="Shape 26"/>
          <p:cNvSpPr/>
          <p:nvPr/>
        </p:nvSpPr>
        <p:spPr>
          <a:xfrm flipH="1">
            <a:off x="6080760" y="3291840"/>
            <a:ext cx="1737360" cy="868680"/>
          </a:xfrm>
          <a:prstGeom prst="line">
            <a:avLst/>
          </a:prstGeom>
          <a:noFill/>
          <a:ln w="15875">
            <a:solidFill>
              <a:srgbClr val="1E5AA8"/>
            </a:solidFill>
            <a:prstDash val="solid"/>
            <a:tailEnd type="triangle"/>
          </a:ln>
        </p:spPr>
      </p:sp>
      <p:sp>
        <p:nvSpPr>
          <p:cNvPr id="29" name="Text 27"/>
          <p:cNvSpPr txBox="1"/>
          <p:nvPr/>
        </p:nvSpPr>
        <p:spPr>
          <a:xfrm>
            <a:off x="5760720" y="3561588"/>
            <a:ext cx="1371600" cy="237744"/>
          </a:xfrm>
          <a:prstGeom prst="rect">
            <a:avLst/>
          </a:prstGeom>
          <a:noFill/>
          <a:ln/>
        </p:spPr>
        <p:txBody>
          <a:bodyPr wrap="square" lIns="0" tIns="0" rIns="0" bIns="0" rtlCol="0" anchor="ctr"/>
          <a:lstStyle/>
          <a:p>
            <a:pPr algn="ctr" indent="0" marL="0">
              <a:buNone/>
            </a:pPr>
            <a:r>
              <a:rPr lang="en-US" sz="1000" dirty="0">
                <a:solidFill>
                  <a:srgbClr val="33415C"/>
                </a:solidFill>
                <a:latin typeface="Consolas" pitchFamily="34" charset="0"/>
                <a:ea typeface="Consolas" pitchFamily="34" charset="-122"/>
                <a:cs typeface="Consolas" pitchFamily="34" charset="-120"/>
              </a:rPr>
              <a:t>trip_id</a:t>
            </a:r>
            <a:endParaRPr lang="en-US" sz="1000" dirty="0"/>
          </a:p>
        </p:txBody>
      </p:sp>
      <p:sp>
        <p:nvSpPr>
          <p:cNvPr id="30" name="Shape 28"/>
          <p:cNvSpPr/>
          <p:nvPr/>
        </p:nvSpPr>
        <p:spPr>
          <a:xfrm>
            <a:off x="7818120" y="3291840"/>
            <a:ext cx="1737360" cy="868680"/>
          </a:xfrm>
          <a:prstGeom prst="line">
            <a:avLst/>
          </a:prstGeom>
          <a:noFill/>
          <a:ln w="15875">
            <a:solidFill>
              <a:srgbClr val="1E5AA8"/>
            </a:solidFill>
            <a:prstDash val="solid"/>
            <a:tailEnd type="triangle"/>
          </a:ln>
        </p:spPr>
      </p:sp>
      <p:sp>
        <p:nvSpPr>
          <p:cNvPr id="31" name="Text 29"/>
          <p:cNvSpPr txBox="1"/>
          <p:nvPr/>
        </p:nvSpPr>
        <p:spPr>
          <a:xfrm>
            <a:off x="5349240" y="4892040"/>
            <a:ext cx="6309360" cy="548640"/>
          </a:xfrm>
          <a:prstGeom prst="rect">
            <a:avLst/>
          </a:prstGeom>
          <a:noFill/>
          <a:ln/>
        </p:spPr>
        <p:txBody>
          <a:bodyPr wrap="square" lIns="0" tIns="0" rIns="0" bIns="0" rtlCol="0" anchor="ctr"/>
          <a:lstStyle/>
          <a:p>
            <a:pPr indent="0" marL="0">
              <a:buNone/>
            </a:pPr>
            <a:r>
              <a:rPr lang="en-US" sz="1100" dirty="0">
                <a:solidFill>
                  <a:srgbClr val="33415C"/>
                </a:solidFill>
                <a:latin typeface="Calibri" pitchFamily="34" charset="0"/>
                <a:ea typeface="Calibri" pitchFamily="34" charset="-122"/>
                <a:cs typeface="Calibri" pitchFamily="34" charset="-120"/>
              </a:rPr>
              <a:t>Flecha = 1 a muchos (la llave foránea está en la tabla de la punta). bookings también apunta a users (passenger_id); ratings a users (author_id y target_id).</a:t>
            </a:r>
            <a:endParaRPr lang="en-US" sz="1100" dirty="0"/>
          </a:p>
        </p:txBody>
      </p:sp>
      <p:sp>
        <p:nvSpPr>
          <p:cNvPr id="32" name="Text 30"/>
          <p:cNvSpPr txBox="1"/>
          <p:nvPr/>
        </p:nvSpPr>
        <p:spPr>
          <a:xfrm>
            <a:off x="5349240" y="5486400"/>
            <a:ext cx="6309360" cy="777240"/>
          </a:xfrm>
          <a:prstGeom prst="roundRect">
            <a:avLst>
              <a:gd name="adj" fmla="val 9412"/>
            </a:avLst>
          </a:prstGeom>
          <a:solidFill>
            <a:srgbClr val="E3F5EE"/>
          </a:solidFill>
          <a:ln w="12700">
            <a:solidFill>
              <a:srgbClr val="0B7556"/>
            </a:solidFill>
          </a:ln>
        </p:spPr>
        <p:txBody>
          <a:bodyPr wrap="square" lIns="101600" tIns="101600" rIns="101600" bIns="101600" rtlCol="0" anchor="ctr"/>
          <a:lstStyle/>
          <a:p>
            <a:pPr algn="l" indent="0" marL="0">
              <a:buNone/>
            </a:pPr>
            <a:r>
              <a:rPr lang="en-US" sz="1300" b="1" dirty="0">
                <a:solidFill>
                  <a:srgbClr val="0A1F44"/>
                </a:solidFill>
                <a:latin typeface="Calibri" pitchFamily="34" charset="0"/>
                <a:ea typeface="Calibri" pitchFamily="34" charset="-122"/>
                <a:cs typeface="Calibri" pitchFamily="34" charset="-120"/>
              </a:rPr>
              <a:t>En todas las tablas</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PK UUID (salvo system_settings y tablas puente) · created_at, updated_at · created_by, updated_by → users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FRONTEND → BACKEND → BASE DE DATOS</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Flujo: registro e inicio de sesión</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Flujos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16</a:t>
            </a:r>
            <a:endParaRPr lang="en-US" sz="1100" dirty="0"/>
          </a:p>
        </p:txBody>
      </p:sp>
      <p:sp>
        <p:nvSpPr>
          <p:cNvPr id="6" name="Text 4"/>
          <p:cNvSpPr txBox="1"/>
          <p:nvPr/>
        </p:nvSpPr>
        <p:spPr>
          <a:xfrm>
            <a:off x="548640" y="1325880"/>
            <a:ext cx="3520440" cy="411480"/>
          </a:xfrm>
          <a:prstGeom prst="roundRect">
            <a:avLst>
              <a:gd name="adj" fmla="val 17778"/>
            </a:avLst>
          </a:prstGeom>
          <a:solidFill>
            <a:srgbClr val="1E5AA8"/>
          </a:solidFill>
          <a:ln w="12700">
            <a:solidFill>
              <a:srgbClr val="1E5AA8"/>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Frontend (Angular)</a:t>
            </a:r>
            <a:endParaRPr lang="en-US" sz="1400" dirty="0"/>
          </a:p>
        </p:txBody>
      </p:sp>
      <p:sp>
        <p:nvSpPr>
          <p:cNvPr id="7" name="Text 5"/>
          <p:cNvSpPr txBox="1"/>
          <p:nvPr/>
        </p:nvSpPr>
        <p:spPr>
          <a:xfrm>
            <a:off x="4343400" y="1325880"/>
            <a:ext cx="3520440" cy="411480"/>
          </a:xfrm>
          <a:prstGeom prst="roundRect">
            <a:avLst>
              <a:gd name="adj" fmla="val 17778"/>
            </a:avLst>
          </a:prstGeom>
          <a:solidFill>
            <a:srgbClr val="0A1F44"/>
          </a:solidFill>
          <a:ln w="12700">
            <a:solidFill>
              <a:srgbClr val="0A1F44"/>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 (FastAPI)</a:t>
            </a:r>
            <a:endParaRPr lang="en-US" sz="1400" dirty="0"/>
          </a:p>
        </p:txBody>
      </p:sp>
      <p:sp>
        <p:nvSpPr>
          <p:cNvPr id="8" name="Text 6"/>
          <p:cNvSpPr txBox="1"/>
          <p:nvPr/>
        </p:nvSpPr>
        <p:spPr>
          <a:xfrm>
            <a:off x="8138160" y="1325880"/>
            <a:ext cx="3520440" cy="411480"/>
          </a:xfrm>
          <a:prstGeom prst="roundRect">
            <a:avLst>
              <a:gd name="adj" fmla="val 17778"/>
            </a:avLst>
          </a:prstGeom>
          <a:solidFill>
            <a:srgbClr val="0B7556"/>
          </a:solidFill>
          <a:ln w="12700">
            <a:solidFill>
              <a:srgbClr val="0B7556"/>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 de datos</a:t>
            </a:r>
            <a:endParaRPr lang="en-US" sz="1400" dirty="0"/>
          </a:p>
        </p:txBody>
      </p:sp>
      <p:sp>
        <p:nvSpPr>
          <p:cNvPr id="9" name="Text 7"/>
          <p:cNvSpPr txBox="1"/>
          <p:nvPr/>
        </p:nvSpPr>
        <p:spPr>
          <a:xfrm>
            <a:off x="548640" y="187452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register.ts → auth.service.ts</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formulario en 4 pasos + carné</a:t>
            </a:r>
            <a:endParaRPr lang="en-US" sz="1200" dirty="0"/>
          </a:p>
        </p:txBody>
      </p:sp>
      <p:sp>
        <p:nvSpPr>
          <p:cNvPr id="10" name="Shape 8"/>
          <p:cNvSpPr/>
          <p:nvPr/>
        </p:nvSpPr>
        <p:spPr>
          <a:xfrm>
            <a:off x="4069080" y="2350008"/>
            <a:ext cx="274320" cy="914"/>
          </a:xfrm>
          <a:prstGeom prst="line">
            <a:avLst/>
          </a:prstGeom>
          <a:noFill/>
          <a:ln w="19050">
            <a:solidFill>
              <a:srgbClr val="1E5AA8"/>
            </a:solidFill>
            <a:prstDash val="solid"/>
            <a:tailEnd type="triangle"/>
          </a:ln>
        </p:spPr>
      </p:sp>
      <p:sp>
        <p:nvSpPr>
          <p:cNvPr id="11" name="Text 9"/>
          <p:cNvSpPr txBox="1"/>
          <p:nvPr/>
        </p:nvSpPr>
        <p:spPr>
          <a:xfrm>
            <a:off x="4343400" y="187452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onsolas" pitchFamily="34" charset="0"/>
                <a:ea typeface="Consolas" pitchFamily="34" charset="-122"/>
                <a:cs typeface="Consolas" pitchFamily="34" charset="-120"/>
              </a:rPr>
              <a:t>POST /auth/register (multipart)</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AuthService.register: correo .edu.co, términos, política de contraseña</a:t>
            </a:r>
            <a:endParaRPr lang="en-US" sz="1200" dirty="0"/>
          </a:p>
        </p:txBody>
      </p:sp>
      <p:sp>
        <p:nvSpPr>
          <p:cNvPr id="12" name="Shape 10"/>
          <p:cNvSpPr/>
          <p:nvPr/>
        </p:nvSpPr>
        <p:spPr>
          <a:xfrm>
            <a:off x="7863840" y="2350008"/>
            <a:ext cx="274320" cy="914"/>
          </a:xfrm>
          <a:prstGeom prst="line">
            <a:avLst/>
          </a:prstGeom>
          <a:noFill/>
          <a:ln w="19050">
            <a:solidFill>
              <a:srgbClr val="1E5AA8"/>
            </a:solidFill>
            <a:prstDash val="solid"/>
            <a:tailEnd type="triangle"/>
          </a:ln>
        </p:spPr>
      </p:sp>
      <p:sp>
        <p:nvSpPr>
          <p:cNvPr id="13" name="Text 11"/>
          <p:cNvSpPr txBox="1"/>
          <p:nvPr/>
        </p:nvSpPr>
        <p:spPr>
          <a:xfrm>
            <a:off x="8138160" y="187452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INSERT users (pending_email), identity_documents, terms_acceptances, auth_codes; el worker envía el correo</a:t>
            </a:r>
            <a:endParaRPr lang="en-US" sz="1200" dirty="0"/>
          </a:p>
        </p:txBody>
      </p:sp>
      <p:sp>
        <p:nvSpPr>
          <p:cNvPr id="14" name="Text 12"/>
          <p:cNvSpPr txBox="1"/>
          <p:nvPr/>
        </p:nvSpPr>
        <p:spPr>
          <a:xfrm>
            <a:off x="548640" y="297180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verify-code.ts</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código de 6 dígitos del correo</a:t>
            </a:r>
            <a:endParaRPr lang="en-US" sz="1200" dirty="0"/>
          </a:p>
        </p:txBody>
      </p:sp>
      <p:sp>
        <p:nvSpPr>
          <p:cNvPr id="15" name="Shape 13"/>
          <p:cNvSpPr/>
          <p:nvPr/>
        </p:nvSpPr>
        <p:spPr>
          <a:xfrm>
            <a:off x="4069080" y="3447288"/>
            <a:ext cx="274320" cy="914"/>
          </a:xfrm>
          <a:prstGeom prst="line">
            <a:avLst/>
          </a:prstGeom>
          <a:noFill/>
          <a:ln w="19050">
            <a:solidFill>
              <a:srgbClr val="1E5AA8"/>
            </a:solidFill>
            <a:prstDash val="solid"/>
            <a:tailEnd type="triangle"/>
          </a:ln>
        </p:spPr>
      </p:sp>
      <p:sp>
        <p:nvSpPr>
          <p:cNvPr id="16" name="Text 14"/>
          <p:cNvSpPr txBox="1"/>
          <p:nvPr/>
        </p:nvSpPr>
        <p:spPr>
          <a:xfrm>
            <a:off x="4343400" y="297180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onsolas" pitchFamily="34" charset="0"/>
                <a:ea typeface="Consolas" pitchFamily="34" charset="-122"/>
                <a:cs typeface="Consolas" pitchFamily="34" charset="-120"/>
              </a:rPr>
              <a:t>POST /auth/verify-email</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CodeService.check (HMAC, 5 intentos)</a:t>
            </a:r>
            <a:endParaRPr lang="en-US" sz="1200" dirty="0"/>
          </a:p>
        </p:txBody>
      </p:sp>
      <p:sp>
        <p:nvSpPr>
          <p:cNvPr id="17" name="Shape 15"/>
          <p:cNvSpPr/>
          <p:nvPr/>
        </p:nvSpPr>
        <p:spPr>
          <a:xfrm>
            <a:off x="7863840" y="3447288"/>
            <a:ext cx="274320" cy="914"/>
          </a:xfrm>
          <a:prstGeom prst="line">
            <a:avLst/>
          </a:prstGeom>
          <a:noFill/>
          <a:ln w="19050">
            <a:solidFill>
              <a:srgbClr val="1E5AA8"/>
            </a:solidFill>
            <a:prstDash val="solid"/>
            <a:tailEnd type="triangle"/>
          </a:ln>
        </p:spPr>
      </p:sp>
      <p:sp>
        <p:nvSpPr>
          <p:cNvPr id="18" name="Text 16"/>
          <p:cNvSpPr txBox="1"/>
          <p:nvPr/>
        </p:nvSpPr>
        <p:spPr>
          <a:xfrm>
            <a:off x="8138160" y="297180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auth_codes.used_at = ahora</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users.status → pending_approval</a:t>
            </a:r>
            <a:endParaRPr lang="en-US" sz="1200" dirty="0"/>
          </a:p>
        </p:txBody>
      </p:sp>
      <p:sp>
        <p:nvSpPr>
          <p:cNvPr id="19" name="Text 17"/>
          <p:cNvSpPr txBox="1"/>
          <p:nvPr/>
        </p:nvSpPr>
        <p:spPr>
          <a:xfrm>
            <a:off x="548640" y="406908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panel admin: approvals.ts</a:t>
            </a:r>
            <a:endParaRPr lang="en-US" sz="1200" dirty="0"/>
          </a:p>
        </p:txBody>
      </p:sp>
      <p:sp>
        <p:nvSpPr>
          <p:cNvPr id="20" name="Shape 18"/>
          <p:cNvSpPr/>
          <p:nvPr/>
        </p:nvSpPr>
        <p:spPr>
          <a:xfrm>
            <a:off x="4069080" y="4544568"/>
            <a:ext cx="274320" cy="914"/>
          </a:xfrm>
          <a:prstGeom prst="line">
            <a:avLst/>
          </a:prstGeom>
          <a:noFill/>
          <a:ln w="19050">
            <a:solidFill>
              <a:srgbClr val="1E5AA8"/>
            </a:solidFill>
            <a:prstDash val="solid"/>
            <a:tailEnd type="triangle"/>
          </a:ln>
        </p:spPr>
      </p:sp>
      <p:sp>
        <p:nvSpPr>
          <p:cNvPr id="21" name="Text 19"/>
          <p:cNvSpPr txBox="1"/>
          <p:nvPr/>
        </p:nvSpPr>
        <p:spPr>
          <a:xfrm>
            <a:off x="4343400" y="406908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onsolas" pitchFamily="34" charset="0"/>
                <a:ea typeface="Consolas" pitchFamily="34" charset="-122"/>
                <a:cs typeface="Consolas" pitchFamily="34" charset="-120"/>
              </a:rPr>
              <a:t>POST /admin/approvals/{id}/approve</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ApprovalService.approve</a:t>
            </a:r>
            <a:endParaRPr lang="en-US" sz="1200" dirty="0"/>
          </a:p>
        </p:txBody>
      </p:sp>
      <p:sp>
        <p:nvSpPr>
          <p:cNvPr id="22" name="Shape 20"/>
          <p:cNvSpPr/>
          <p:nvPr/>
        </p:nvSpPr>
        <p:spPr>
          <a:xfrm>
            <a:off x="7863840" y="4544568"/>
            <a:ext cx="274320" cy="914"/>
          </a:xfrm>
          <a:prstGeom prst="line">
            <a:avLst/>
          </a:prstGeom>
          <a:noFill/>
          <a:ln w="19050">
            <a:solidFill>
              <a:srgbClr val="1E5AA8"/>
            </a:solidFill>
            <a:prstDash val="solid"/>
            <a:tailEnd type="triangle"/>
          </a:ln>
        </p:spPr>
      </p:sp>
      <p:sp>
        <p:nvSpPr>
          <p:cNvPr id="23" name="Text 21"/>
          <p:cNvSpPr txBox="1"/>
          <p:nvPr/>
        </p:nvSpPr>
        <p:spPr>
          <a:xfrm>
            <a:off x="8138160" y="406908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documento aprobado, users.status → active, audit_log</a:t>
            </a:r>
            <a:endParaRPr lang="en-US" sz="1200" dirty="0"/>
          </a:p>
        </p:txBody>
      </p:sp>
      <p:sp>
        <p:nvSpPr>
          <p:cNvPr id="24" name="Text 22"/>
          <p:cNvSpPr txBox="1"/>
          <p:nvPr/>
        </p:nvSpPr>
        <p:spPr>
          <a:xfrm>
            <a:off x="548640" y="516636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login.ts → AuthService (front)</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token en memoria</a:t>
            </a:r>
            <a:endParaRPr lang="en-US" sz="1200" dirty="0"/>
          </a:p>
        </p:txBody>
      </p:sp>
      <p:sp>
        <p:nvSpPr>
          <p:cNvPr id="25" name="Shape 23"/>
          <p:cNvSpPr/>
          <p:nvPr/>
        </p:nvSpPr>
        <p:spPr>
          <a:xfrm>
            <a:off x="4069080" y="5641848"/>
            <a:ext cx="274320" cy="914"/>
          </a:xfrm>
          <a:prstGeom prst="line">
            <a:avLst/>
          </a:prstGeom>
          <a:noFill/>
          <a:ln w="19050">
            <a:solidFill>
              <a:srgbClr val="1E5AA8"/>
            </a:solidFill>
            <a:prstDash val="solid"/>
            <a:tailEnd type="triangle"/>
          </a:ln>
        </p:spPr>
      </p:sp>
      <p:sp>
        <p:nvSpPr>
          <p:cNvPr id="26" name="Text 24"/>
          <p:cNvSpPr txBox="1"/>
          <p:nvPr/>
        </p:nvSpPr>
        <p:spPr>
          <a:xfrm>
            <a:off x="4343400" y="516636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onsolas" pitchFamily="34" charset="0"/>
                <a:ea typeface="Consolas" pitchFamily="34" charset="-122"/>
                <a:cs typeface="Consolas" pitchFamily="34" charset="-120"/>
              </a:rPr>
              <a:t>POST /auth/login</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verify_password (argon2) · bloqueo tras intentos · 2FA</a:t>
            </a:r>
            <a:endParaRPr lang="en-US" sz="1200" dirty="0"/>
          </a:p>
        </p:txBody>
      </p:sp>
      <p:sp>
        <p:nvSpPr>
          <p:cNvPr id="27" name="Shape 25"/>
          <p:cNvSpPr/>
          <p:nvPr/>
        </p:nvSpPr>
        <p:spPr>
          <a:xfrm>
            <a:off x="7863840" y="5641848"/>
            <a:ext cx="274320" cy="914"/>
          </a:xfrm>
          <a:prstGeom prst="line">
            <a:avLst/>
          </a:prstGeom>
          <a:noFill/>
          <a:ln w="19050">
            <a:solidFill>
              <a:srgbClr val="1E5AA8"/>
            </a:solidFill>
            <a:prstDash val="solid"/>
            <a:tailEnd type="triangle"/>
          </a:ln>
        </p:spPr>
      </p:sp>
      <p:sp>
        <p:nvSpPr>
          <p:cNvPr id="28" name="Text 26"/>
          <p:cNvSpPr txBox="1"/>
          <p:nvPr/>
        </p:nvSpPr>
        <p:spPr>
          <a:xfrm>
            <a:off x="8138160" y="5166360"/>
            <a:ext cx="3520440" cy="960120"/>
          </a:xfrm>
          <a:prstGeom prst="roundRect">
            <a:avLst>
              <a:gd name="adj" fmla="val 761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INSERT user_sessions</a:t>
            </a:r>
            <a:endParaRPr lang="en-US" sz="1200" dirty="0"/>
          </a:p>
          <a:p>
            <a:pPr algn="l" indent="0" marL="0">
              <a:buNone/>
            </a:pPr>
            <a:r>
              <a:rPr lang="en-US" sz="1100" dirty="0">
                <a:solidFill>
                  <a:srgbClr val="33415C"/>
                </a:solidFill>
                <a:latin typeface="Calibri" pitchFamily="34" charset="0"/>
                <a:ea typeface="Calibri" pitchFamily="34" charset="-122"/>
                <a:cs typeface="Calibri" pitchFamily="34" charset="-120"/>
              </a:rPr>
              <a:t>cookie HttpOnly + JWT de 15 min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POSTGIS Y OSRM EN ACCIÓN</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Flujo: publicar un viaje y buscarlo</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Flujos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17</a:t>
            </a:r>
            <a:endParaRPr lang="en-US" sz="1100" dirty="0"/>
          </a:p>
        </p:txBody>
      </p:sp>
      <p:sp>
        <p:nvSpPr>
          <p:cNvPr id="6" name="Text 4"/>
          <p:cNvSpPr txBox="1"/>
          <p:nvPr/>
        </p:nvSpPr>
        <p:spPr>
          <a:xfrm>
            <a:off x="548640" y="1325880"/>
            <a:ext cx="5440680" cy="411480"/>
          </a:xfrm>
          <a:prstGeom prst="roundRect">
            <a:avLst>
              <a:gd name="adj" fmla="val 17778"/>
            </a:avLst>
          </a:prstGeom>
          <a:solidFill>
            <a:srgbClr val="0A1F44"/>
          </a:solidFill>
          <a:ln w="12700">
            <a:solidFill>
              <a:srgbClr val="0A1F44"/>
            </a:solid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Publicar (conductor)</a:t>
            </a:r>
            <a:endParaRPr lang="en-US" sz="1500" dirty="0"/>
          </a:p>
        </p:txBody>
      </p:sp>
      <p:sp>
        <p:nvSpPr>
          <p:cNvPr id="7" name="Text 5"/>
          <p:cNvSpPr txBox="1"/>
          <p:nvPr/>
        </p:nvSpPr>
        <p:spPr>
          <a:xfrm>
            <a:off x="548640" y="182880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publish-wizard.ts → trips.api.ts</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asistente: ruta, fecha, vehículo, aporte, reglas</a:t>
            </a:r>
            <a:endParaRPr lang="en-US" sz="1300" dirty="0"/>
          </a:p>
        </p:txBody>
      </p:sp>
      <p:sp>
        <p:nvSpPr>
          <p:cNvPr id="8" name="Shape 6"/>
          <p:cNvSpPr/>
          <p:nvPr/>
        </p:nvSpPr>
        <p:spPr>
          <a:xfrm>
            <a:off x="3264408" y="2578608"/>
            <a:ext cx="914" cy="118872"/>
          </a:xfrm>
          <a:prstGeom prst="line">
            <a:avLst/>
          </a:prstGeom>
          <a:noFill/>
          <a:ln w="19050">
            <a:solidFill>
              <a:srgbClr val="1E5AA8"/>
            </a:solidFill>
            <a:prstDash val="solid"/>
            <a:tailEnd type="triangle"/>
          </a:ln>
        </p:spPr>
      </p:sp>
      <p:sp>
        <p:nvSpPr>
          <p:cNvPr id="9" name="Text 7"/>
          <p:cNvSpPr txBox="1"/>
          <p:nvPr/>
        </p:nvSpPr>
        <p:spPr>
          <a:xfrm>
            <a:off x="548640" y="269748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POST /api/v1/trips · publish_trip</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TripCreate validado; límite 20/min</a:t>
            </a:r>
            <a:endParaRPr lang="en-US" sz="1300" dirty="0"/>
          </a:p>
        </p:txBody>
      </p:sp>
      <p:sp>
        <p:nvSpPr>
          <p:cNvPr id="10" name="Shape 8"/>
          <p:cNvSpPr/>
          <p:nvPr/>
        </p:nvSpPr>
        <p:spPr>
          <a:xfrm>
            <a:off x="3264408" y="3447288"/>
            <a:ext cx="914" cy="118872"/>
          </a:xfrm>
          <a:prstGeom prst="line">
            <a:avLst/>
          </a:prstGeom>
          <a:noFill/>
          <a:ln w="19050">
            <a:solidFill>
              <a:srgbClr val="1E5AA8"/>
            </a:solidFill>
            <a:prstDash val="solid"/>
            <a:tailEnd type="triangle"/>
          </a:ln>
        </p:spPr>
      </p:sp>
      <p:sp>
        <p:nvSpPr>
          <p:cNvPr id="11" name="Text 9"/>
          <p:cNvSpPr txBox="1"/>
          <p:nvPr/>
        </p:nvSpPr>
        <p:spPr>
          <a:xfrm>
            <a:off x="548640" y="356616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TripService.create (trips/service.py)</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require_can_publish · check_seats · check_price · check_pico_placa</a:t>
            </a:r>
            <a:endParaRPr lang="en-US" sz="1300" dirty="0"/>
          </a:p>
        </p:txBody>
      </p:sp>
      <p:sp>
        <p:nvSpPr>
          <p:cNvPr id="12" name="Shape 10"/>
          <p:cNvSpPr/>
          <p:nvPr/>
        </p:nvSpPr>
        <p:spPr>
          <a:xfrm>
            <a:off x="3264408" y="4315968"/>
            <a:ext cx="914" cy="118872"/>
          </a:xfrm>
          <a:prstGeom prst="line">
            <a:avLst/>
          </a:prstGeom>
          <a:noFill/>
          <a:ln w="19050">
            <a:solidFill>
              <a:srgbClr val="1E5AA8"/>
            </a:solidFill>
            <a:prstDash val="solid"/>
            <a:tailEnd type="triangle"/>
          </a:ln>
        </p:spPr>
      </p:sp>
      <p:sp>
        <p:nvSpPr>
          <p:cNvPr id="13" name="Text 11"/>
          <p:cNvSpPr txBox="1"/>
          <p:nvPr/>
        </p:nvSpPr>
        <p:spPr>
          <a:xfrm>
            <a:off x="548640" y="443484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planner.plan_route → OSRM</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routing/osrm.py pide la ruta real por las calles</a:t>
            </a:r>
            <a:endParaRPr lang="en-US" sz="1300" dirty="0"/>
          </a:p>
        </p:txBody>
      </p:sp>
      <p:sp>
        <p:nvSpPr>
          <p:cNvPr id="14" name="Shape 12"/>
          <p:cNvSpPr/>
          <p:nvPr/>
        </p:nvSpPr>
        <p:spPr>
          <a:xfrm>
            <a:off x="3264408" y="5184648"/>
            <a:ext cx="914" cy="118872"/>
          </a:xfrm>
          <a:prstGeom prst="line">
            <a:avLst/>
          </a:prstGeom>
          <a:noFill/>
          <a:ln w="19050">
            <a:solidFill>
              <a:srgbClr val="1E5AA8"/>
            </a:solidFill>
            <a:prstDash val="solid"/>
            <a:tailEnd type="triangle"/>
          </a:ln>
        </p:spPr>
      </p:sp>
      <p:sp>
        <p:nvSpPr>
          <p:cNvPr id="15" name="Text 13"/>
          <p:cNvSpPr txBox="1"/>
          <p:nvPr/>
        </p:nvSpPr>
        <p:spPr>
          <a:xfrm>
            <a:off x="548640" y="530352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INSERT trips (route LineString) + trip_stops</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commit → 201 TripOut</a:t>
            </a:r>
            <a:endParaRPr lang="en-US" sz="1300" dirty="0"/>
          </a:p>
        </p:txBody>
      </p:sp>
      <p:sp>
        <p:nvSpPr>
          <p:cNvPr id="16" name="Text 14"/>
          <p:cNvSpPr txBox="1"/>
          <p:nvPr/>
        </p:nvSpPr>
        <p:spPr>
          <a:xfrm>
            <a:off x="6217920" y="1325880"/>
            <a:ext cx="5440680" cy="411480"/>
          </a:xfrm>
          <a:prstGeom prst="roundRect">
            <a:avLst>
              <a:gd name="adj" fmla="val 17778"/>
            </a:avLst>
          </a:prstGeom>
          <a:solidFill>
            <a:srgbClr val="0B7556"/>
          </a:solidFill>
          <a:ln w="12700">
            <a:solidFill>
              <a:srgbClr val="0B7556"/>
            </a:solid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Buscar (pasajero)</a:t>
            </a:r>
            <a:endParaRPr lang="en-US" sz="1500" dirty="0"/>
          </a:p>
        </p:txBody>
      </p:sp>
      <p:sp>
        <p:nvSpPr>
          <p:cNvPr id="17" name="Text 15"/>
          <p:cNvSpPr txBox="1"/>
          <p:nvPr/>
        </p:nvSpPr>
        <p:spPr>
          <a:xfrm>
            <a:off x="6217920" y="182880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search-page.ts → search.api.ts</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origen, destino, fecha, hora, puestos, preferencias</a:t>
            </a:r>
            <a:endParaRPr lang="en-US" sz="1300" dirty="0"/>
          </a:p>
        </p:txBody>
      </p:sp>
      <p:sp>
        <p:nvSpPr>
          <p:cNvPr id="18" name="Shape 16"/>
          <p:cNvSpPr/>
          <p:nvPr/>
        </p:nvSpPr>
        <p:spPr>
          <a:xfrm>
            <a:off x="8933688" y="2578608"/>
            <a:ext cx="914" cy="118872"/>
          </a:xfrm>
          <a:prstGeom prst="line">
            <a:avLst/>
          </a:prstGeom>
          <a:noFill/>
          <a:ln w="19050">
            <a:solidFill>
              <a:srgbClr val="1E5AA8"/>
            </a:solidFill>
            <a:prstDash val="solid"/>
            <a:tailEnd type="triangle"/>
          </a:ln>
        </p:spPr>
      </p:sp>
      <p:sp>
        <p:nvSpPr>
          <p:cNvPr id="19" name="Text 17"/>
          <p:cNvSpPr txBox="1"/>
          <p:nvPr/>
        </p:nvSpPr>
        <p:spPr>
          <a:xfrm>
            <a:off x="6217920" y="269748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GET /api/v1/search/trips · search_trips</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SearchQuery validado; límite 60/min</a:t>
            </a:r>
            <a:endParaRPr lang="en-US" sz="1300" dirty="0"/>
          </a:p>
        </p:txBody>
      </p:sp>
      <p:sp>
        <p:nvSpPr>
          <p:cNvPr id="20" name="Shape 18"/>
          <p:cNvSpPr/>
          <p:nvPr/>
        </p:nvSpPr>
        <p:spPr>
          <a:xfrm>
            <a:off x="8933688" y="3447288"/>
            <a:ext cx="914" cy="118872"/>
          </a:xfrm>
          <a:prstGeom prst="line">
            <a:avLst/>
          </a:prstGeom>
          <a:noFill/>
          <a:ln w="19050">
            <a:solidFill>
              <a:srgbClr val="1E5AA8"/>
            </a:solidFill>
            <a:prstDash val="solid"/>
            <a:tailEnd type="triangle"/>
          </a:ln>
        </p:spPr>
      </p:sp>
      <p:sp>
        <p:nvSpPr>
          <p:cNvPr id="21" name="Text 19"/>
          <p:cNvSpPr txBox="1"/>
          <p:nvPr/>
        </p:nvSpPr>
        <p:spPr>
          <a:xfrm>
            <a:off x="6217920" y="356616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SearchService.search (search/service.py)</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radio search_radius_meters (500 m) y ventana horaria</a:t>
            </a:r>
            <a:endParaRPr lang="en-US" sz="1300" dirty="0"/>
          </a:p>
        </p:txBody>
      </p:sp>
      <p:sp>
        <p:nvSpPr>
          <p:cNvPr id="22" name="Shape 20"/>
          <p:cNvSpPr/>
          <p:nvPr/>
        </p:nvSpPr>
        <p:spPr>
          <a:xfrm>
            <a:off x="8933688" y="4315968"/>
            <a:ext cx="914" cy="118872"/>
          </a:xfrm>
          <a:prstGeom prst="line">
            <a:avLst/>
          </a:prstGeom>
          <a:noFill/>
          <a:ln w="19050">
            <a:solidFill>
              <a:srgbClr val="1E5AA8"/>
            </a:solidFill>
            <a:prstDash val="solid"/>
            <a:tailEnd type="triangle"/>
          </a:ln>
        </p:spPr>
      </p:sp>
      <p:sp>
        <p:nvSpPr>
          <p:cNvPr id="23" name="Text 21"/>
          <p:cNvSpPr txBox="1"/>
          <p:nvPr/>
        </p:nvSpPr>
        <p:spPr>
          <a:xfrm>
            <a:off x="6217920" y="443484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SQL con PostGIS</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ST_Distance(ruta, punto) · ST_LineLocatePoint: recogida antes que bajada</a:t>
            </a:r>
            <a:endParaRPr lang="en-US" sz="1300" dirty="0"/>
          </a:p>
        </p:txBody>
      </p:sp>
      <p:sp>
        <p:nvSpPr>
          <p:cNvPr id="24" name="Shape 22"/>
          <p:cNvSpPr/>
          <p:nvPr/>
        </p:nvSpPr>
        <p:spPr>
          <a:xfrm>
            <a:off x="8933688" y="5184648"/>
            <a:ext cx="914" cy="118872"/>
          </a:xfrm>
          <a:prstGeom prst="line">
            <a:avLst/>
          </a:prstGeom>
          <a:noFill/>
          <a:ln w="19050">
            <a:solidFill>
              <a:srgbClr val="1E5AA8"/>
            </a:solidFill>
            <a:prstDash val="solid"/>
            <a:tailEnd type="triangle"/>
          </a:ln>
        </p:spPr>
      </p:sp>
      <p:sp>
        <p:nvSpPr>
          <p:cNvPr id="25" name="Text 23"/>
          <p:cNvSpPr txBox="1"/>
          <p:nvPr/>
        </p:nvSpPr>
        <p:spPr>
          <a:xfrm>
            <a:off x="6217920" y="5303520"/>
            <a:ext cx="5440680" cy="749808"/>
          </a:xfrm>
          <a:prstGeom prst="roundRect">
            <a:avLst>
              <a:gd name="adj" fmla="val 9756"/>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300" b="1" dirty="0">
                <a:solidFill>
                  <a:srgbClr val="0A1F44"/>
                </a:solidFill>
                <a:latin typeface="Consolas" pitchFamily="34" charset="0"/>
                <a:ea typeface="Consolas" pitchFamily="34" charset="-122"/>
                <a:cs typeface="Consolas" pitchFamily="34" charset="-120"/>
              </a:rPr>
              <a:t>lista de SearchResult</a:t>
            </a:r>
            <a:endParaRPr lang="en-US" sz="1300" dirty="0"/>
          </a:p>
          <a:p>
            <a:pPr algn="l" indent="0" marL="0">
              <a:buNone/>
            </a:pPr>
            <a:r>
              <a:rPr lang="en-US" sz="1100" dirty="0">
                <a:solidFill>
                  <a:srgbClr val="33415C"/>
                </a:solidFill>
                <a:latin typeface="Calibri" pitchFamily="34" charset="0"/>
                <a:ea typeface="Calibri" pitchFamily="34" charset="-122"/>
                <a:cs typeface="Calibri" pitchFamily="34" charset="-120"/>
              </a:rPr>
              <a:t>punto de recogida sobre la ruta, cupo y calificación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IMPLEMENTADO, RIESGOS Y RECOMENDACIONES</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Autenticación y seguridad</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Seguridad</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18</a:t>
            </a:r>
            <a:endParaRPr lang="en-US" sz="1100" dirty="0"/>
          </a:p>
        </p:txBody>
      </p:sp>
      <p:sp>
        <p:nvSpPr>
          <p:cNvPr id="6" name="Text 4"/>
          <p:cNvSpPr txBox="1"/>
          <p:nvPr/>
        </p:nvSpPr>
        <p:spPr>
          <a:xfrm>
            <a:off x="548640" y="1371600"/>
            <a:ext cx="3611880" cy="457200"/>
          </a:xfrm>
          <a:prstGeom prst="roundRect">
            <a:avLst>
              <a:gd name="adj" fmla="val 16000"/>
            </a:avLst>
          </a:prstGeom>
          <a:solidFill>
            <a:srgbClr val="0B7556"/>
          </a:solidFill>
          <a:ln w="12700">
            <a:solidFill>
              <a:srgbClr val="0B7556"/>
            </a:solid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Implementado</a:t>
            </a:r>
            <a:endParaRPr lang="en-US" sz="1600" dirty="0"/>
          </a:p>
        </p:txBody>
      </p:sp>
      <p:sp>
        <p:nvSpPr>
          <p:cNvPr id="7" name="Shape 5"/>
          <p:cNvSpPr/>
          <p:nvPr/>
        </p:nvSpPr>
        <p:spPr>
          <a:xfrm>
            <a:off x="548640" y="1920240"/>
            <a:ext cx="3611880" cy="4343400"/>
          </a:xfrm>
          <a:prstGeom prst="roundRect">
            <a:avLst>
              <a:gd name="adj" fmla="val 2025"/>
            </a:avLst>
          </a:prstGeom>
          <a:solidFill>
            <a:srgbClr val="E3F5EE"/>
          </a:solidFill>
          <a:ln w="12700">
            <a:solidFill>
              <a:srgbClr val="E3F5EE"/>
            </a:solidFill>
            <a:prstDash val="solid"/>
          </a:ln>
        </p:spPr>
      </p:sp>
      <p:sp>
        <p:nvSpPr>
          <p:cNvPr id="8" name="Text 6"/>
          <p:cNvSpPr txBox="1"/>
          <p:nvPr/>
        </p:nvSpPr>
        <p:spPr>
          <a:xfrm>
            <a:off x="731520" y="2057400"/>
            <a:ext cx="3291840" cy="4114800"/>
          </a:xfrm>
          <a:prstGeom prst="rect">
            <a:avLst/>
          </a:prstGeom>
          <a:noFill/>
          <a:ln/>
        </p:spPr>
        <p:txBody>
          <a:bodyPr wrap="square" lIns="0" tIns="0" rIns="0" bIns="0" rtlCol="0" anchor="t"/>
          <a:lstStyle/>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Contraseñas</a:t>
            </a:r>
            <a:pPr indent="0" marL="0">
              <a:buNone/>
            </a:pPr>
            <a:r>
              <a:rPr lang="en-US" sz="1300" dirty="0">
                <a:solidFill>
                  <a:srgbClr val="33415C"/>
                </a:solidFill>
                <a:latin typeface="Calibri" pitchFamily="34" charset="0"/>
                <a:ea typeface="Calibri" pitchFamily="34" charset="-122"/>
                <a:cs typeface="Calibri" pitchFamily="34" charset="-120"/>
              </a:rPr>
              <a:t> con argon2id; bloqueo tras intentos fallidos</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JWT HS256</a:t>
            </a:r>
            <a:pPr indent="0" marL="0">
              <a:buNone/>
            </a:pPr>
            <a:r>
              <a:rPr lang="en-US" sz="1300" dirty="0">
                <a:solidFill>
                  <a:srgbClr val="33415C"/>
                </a:solidFill>
                <a:latin typeface="Calibri" pitchFamily="34" charset="0"/>
                <a:ea typeface="Calibri" pitchFamily="34" charset="-122"/>
                <a:cs typeface="Calibri" pitchFamily="34" charset="-120"/>
              </a:rPr>
              <a:t> de 15 min en memoria + cookie HttpOnly SameSite=Lax con rotación</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Segundo factor</a:t>
            </a:r>
            <a:pPr indent="0" marL="0">
              <a:buNone/>
            </a:pPr>
            <a:r>
              <a:rPr lang="en-US" sz="1300" dirty="0">
                <a:solidFill>
                  <a:srgbClr val="33415C"/>
                </a:solidFill>
                <a:latin typeface="Calibri" pitchFamily="34" charset="0"/>
                <a:ea typeface="Calibri" pitchFamily="34" charset="-122"/>
                <a:cs typeface="Calibri" pitchFamily="34" charset="-120"/>
              </a:rPr>
              <a:t> y verificación con códigos de 6 dígitos (solo se guarda la huella HMAC)</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Roles y propiedad</a:t>
            </a:r>
            <a:pPr indent="0" marL="0">
              <a:buNone/>
            </a:pPr>
            <a:r>
              <a:rPr lang="en-US" sz="1300" dirty="0">
                <a:solidFill>
                  <a:srgbClr val="33415C"/>
                </a:solidFill>
                <a:latin typeface="Calibri" pitchFamily="34" charset="0"/>
                <a:ea typeface="Calibri" pitchFamily="34" charset="-122"/>
                <a:cs typeface="Calibri" pitchFamily="34" charset="-120"/>
              </a:rPr>
              <a:t> en cada ruta; 40 pruebas de acceso ajeno</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Límites</a:t>
            </a:r>
            <a:pPr indent="0" marL="0">
              <a:buNone/>
            </a:pPr>
            <a:r>
              <a:rPr lang="en-US" sz="1300" dirty="0">
                <a:solidFill>
                  <a:srgbClr val="33415C"/>
                </a:solidFill>
                <a:latin typeface="Calibri" pitchFamily="34" charset="0"/>
                <a:ea typeface="Calibri" pitchFamily="34" charset="-122"/>
                <a:cs typeface="Calibri" pitchFamily="34" charset="-120"/>
              </a:rPr>
              <a:t> de peticiones (slowapi en Redis) y cabeceras de seguridad</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Auditoría</a:t>
            </a:r>
            <a:pPr indent="0" marL="0">
              <a:buNone/>
            </a:pPr>
            <a:r>
              <a:rPr lang="en-US" sz="1300" dirty="0">
                <a:solidFill>
                  <a:srgbClr val="33415C"/>
                </a:solidFill>
                <a:latin typeface="Calibri" pitchFamily="34" charset="0"/>
                <a:ea typeface="Calibri" pitchFamily="34" charset="-122"/>
                <a:cs typeface="Calibri" pitchFamily="34" charset="-120"/>
              </a:rPr>
              <a:t> inmutable y created_by / updated_by en todas las tablas</a:t>
            </a:r>
            <a:endParaRPr lang="en-US" sz="1300" dirty="0"/>
          </a:p>
        </p:txBody>
      </p:sp>
      <p:sp>
        <p:nvSpPr>
          <p:cNvPr id="9" name="Text 7"/>
          <p:cNvSpPr txBox="1"/>
          <p:nvPr/>
        </p:nvSpPr>
        <p:spPr>
          <a:xfrm>
            <a:off x="4315968" y="1371600"/>
            <a:ext cx="3611880" cy="457200"/>
          </a:xfrm>
          <a:prstGeom prst="roundRect">
            <a:avLst>
              <a:gd name="adj" fmla="val 16000"/>
            </a:avLst>
          </a:prstGeom>
          <a:solidFill>
            <a:srgbClr val="865C00"/>
          </a:solidFill>
          <a:ln w="12700">
            <a:solidFill>
              <a:srgbClr val="865C00"/>
            </a:solid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Riesgos identificados</a:t>
            </a:r>
            <a:endParaRPr lang="en-US" sz="1600" dirty="0"/>
          </a:p>
        </p:txBody>
      </p:sp>
      <p:sp>
        <p:nvSpPr>
          <p:cNvPr id="10" name="Shape 8"/>
          <p:cNvSpPr/>
          <p:nvPr/>
        </p:nvSpPr>
        <p:spPr>
          <a:xfrm>
            <a:off x="4315968" y="1920240"/>
            <a:ext cx="3611880" cy="4343400"/>
          </a:xfrm>
          <a:prstGeom prst="roundRect">
            <a:avLst>
              <a:gd name="adj" fmla="val 2025"/>
            </a:avLst>
          </a:prstGeom>
          <a:solidFill>
            <a:srgbClr val="FFF4D6"/>
          </a:solidFill>
          <a:ln w="12700">
            <a:solidFill>
              <a:srgbClr val="FFF4D6"/>
            </a:solidFill>
            <a:prstDash val="solid"/>
          </a:ln>
        </p:spPr>
      </p:sp>
      <p:sp>
        <p:nvSpPr>
          <p:cNvPr id="11" name="Text 9"/>
          <p:cNvSpPr txBox="1"/>
          <p:nvPr/>
        </p:nvSpPr>
        <p:spPr>
          <a:xfrm>
            <a:off x="4498848" y="2057400"/>
            <a:ext cx="3291840" cy="4114800"/>
          </a:xfrm>
          <a:prstGeom prst="rect">
            <a:avLst/>
          </a:prstGeom>
          <a:noFill/>
          <a:ln/>
        </p:spPr>
        <p:txBody>
          <a:bodyPr wrap="square" lIns="0" tIns="0" rIns="0" bIns="0" rtlCol="0" anchor="t"/>
          <a:lstStyle/>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Una sola SECRET_KEY</a:t>
            </a:r>
            <a:pPr indent="0" marL="0">
              <a:buNone/>
            </a:pPr>
            <a:r>
              <a:rPr lang="en-US" sz="1300" dirty="0">
                <a:solidFill>
                  <a:srgbClr val="33415C"/>
                </a:solidFill>
                <a:latin typeface="Calibri" pitchFamily="34" charset="0"/>
                <a:ea typeface="Calibri" pitchFamily="34" charset="-122"/>
                <a:cs typeface="Calibri" pitchFamily="34" charset="-120"/>
              </a:rPr>
              <a:t> firma todos los tokens: si se filtra, se pueden falsificar</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Correo real</a:t>
            </a:r>
            <a:pPr indent="0" marL="0">
              <a:buNone/>
            </a:pPr>
            <a:r>
              <a:rPr lang="en-US" sz="1300" dirty="0">
                <a:solidFill>
                  <a:srgbClr val="33415C"/>
                </a:solidFill>
                <a:latin typeface="Calibri" pitchFamily="34" charset="0"/>
                <a:ea typeface="Calibri" pitchFamily="34" charset="-122"/>
                <a:cs typeface="Calibri" pitchFamily="34" charset="-120"/>
              </a:rPr>
              <a:t> depende de un SMTP externo (Gmail tiene límites diarios)</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Certificado autofirmado</a:t>
            </a:r>
            <a:pPr indent="0" marL="0">
              <a:buNone/>
            </a:pPr>
            <a:r>
              <a:rPr lang="en-US" sz="1300" dirty="0">
                <a:solidFill>
                  <a:srgbClr val="33415C"/>
                </a:solidFill>
                <a:latin typeface="Calibri" pitchFamily="34" charset="0"/>
                <a:ea typeface="Calibri" pitchFamily="34" charset="-122"/>
                <a:cs typeface="Calibri" pitchFamily="34" charset="-120"/>
              </a:rPr>
              <a:t> en desarrollo (el navegador muestra aviso)</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Textos legales</a:t>
            </a:r>
            <a:pPr indent="0" marL="0">
              <a:buNone/>
            </a:pPr>
            <a:r>
              <a:rPr lang="en-US" sz="1300" dirty="0">
                <a:solidFill>
                  <a:srgbClr val="33415C"/>
                </a:solidFill>
                <a:latin typeface="Calibri" pitchFamily="34" charset="0"/>
                <a:ea typeface="Calibri" pitchFamily="34" charset="-122"/>
                <a:cs typeface="Calibri" pitchFamily="34" charset="-120"/>
              </a:rPr>
              <a:t> son un borrador sin revisión jurídica</a:t>
            </a:r>
            <a:endParaRPr lang="en-US" sz="1300" dirty="0"/>
          </a:p>
        </p:txBody>
      </p:sp>
      <p:sp>
        <p:nvSpPr>
          <p:cNvPr id="12" name="Text 10"/>
          <p:cNvSpPr txBox="1"/>
          <p:nvPr/>
        </p:nvSpPr>
        <p:spPr>
          <a:xfrm>
            <a:off x="8083296" y="1371600"/>
            <a:ext cx="3611880" cy="457200"/>
          </a:xfrm>
          <a:prstGeom prst="roundRect">
            <a:avLst>
              <a:gd name="adj" fmla="val 16000"/>
            </a:avLst>
          </a:prstGeom>
          <a:solidFill>
            <a:srgbClr val="1E5AA8"/>
          </a:solidFill>
          <a:ln w="12700">
            <a:solidFill>
              <a:srgbClr val="1E5AA8"/>
            </a:solidFill>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Recomendaciones</a:t>
            </a:r>
            <a:endParaRPr lang="en-US" sz="1600" dirty="0"/>
          </a:p>
        </p:txBody>
      </p:sp>
      <p:sp>
        <p:nvSpPr>
          <p:cNvPr id="13" name="Shape 11"/>
          <p:cNvSpPr/>
          <p:nvPr/>
        </p:nvSpPr>
        <p:spPr>
          <a:xfrm>
            <a:off x="8083296" y="1920240"/>
            <a:ext cx="3611880" cy="4343400"/>
          </a:xfrm>
          <a:prstGeom prst="roundRect">
            <a:avLst>
              <a:gd name="adj" fmla="val 2025"/>
            </a:avLst>
          </a:prstGeom>
          <a:solidFill>
            <a:srgbClr val="EAF3FF"/>
          </a:solidFill>
          <a:ln w="12700">
            <a:solidFill>
              <a:srgbClr val="EAF3FF"/>
            </a:solidFill>
            <a:prstDash val="solid"/>
          </a:ln>
        </p:spPr>
      </p:sp>
      <p:sp>
        <p:nvSpPr>
          <p:cNvPr id="14" name="Text 12"/>
          <p:cNvSpPr txBox="1"/>
          <p:nvPr/>
        </p:nvSpPr>
        <p:spPr>
          <a:xfrm>
            <a:off x="8266176" y="2057400"/>
            <a:ext cx="3291840" cy="4114800"/>
          </a:xfrm>
          <a:prstGeom prst="rect">
            <a:avLst/>
          </a:prstGeom>
          <a:noFill/>
          <a:ln/>
        </p:spPr>
        <p:txBody>
          <a:bodyPr wrap="square" lIns="0" tIns="0" rIns="0" bIns="0" rtlCol="0" anchor="t"/>
          <a:lstStyle/>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Escanear dependencias</a:t>
            </a:r>
            <a:pPr indent="0" marL="0">
              <a:buNone/>
            </a:pPr>
            <a:r>
              <a:rPr lang="en-US" sz="1300" dirty="0">
                <a:solidFill>
                  <a:srgbClr val="33415C"/>
                </a:solidFill>
                <a:latin typeface="Calibri" pitchFamily="34" charset="0"/>
                <a:ea typeface="Calibri" pitchFamily="34" charset="-122"/>
                <a:cs typeface="Calibri" pitchFamily="34" charset="-120"/>
              </a:rPr>
              <a:t> en la CI (pip-audit, npm audit)</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Rotar la clave</a:t>
            </a:r>
            <a:pPr indent="0" marL="0">
              <a:buNone/>
            </a:pPr>
            <a:r>
              <a:rPr lang="en-US" sz="1300" dirty="0">
                <a:solidFill>
                  <a:srgbClr val="33415C"/>
                </a:solidFill>
                <a:latin typeface="Calibri" pitchFamily="34" charset="0"/>
                <a:ea typeface="Calibri" pitchFamily="34" charset="-122"/>
                <a:cs typeface="Calibri" pitchFamily="34" charset="-120"/>
              </a:rPr>
              <a:t> y usar un gestor de secretos en producción</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Certificado real</a:t>
            </a:r>
            <a:pPr indent="0" marL="0">
              <a:buNone/>
            </a:pPr>
            <a:r>
              <a:rPr lang="en-US" sz="1300" dirty="0">
                <a:solidFill>
                  <a:srgbClr val="33415C"/>
                </a:solidFill>
                <a:latin typeface="Calibri" pitchFamily="34" charset="0"/>
                <a:ea typeface="Calibri" pitchFamily="34" charset="-122"/>
                <a:cs typeface="Calibri" pitchFamily="34" charset="-120"/>
              </a:rPr>
              <a:t> (Let's Encrypt) al desplegar</a:t>
            </a:r>
            <a:endParaRPr lang="en-US" sz="1300" dirty="0"/>
          </a:p>
          <a:p>
            <a:pPr marL="228600" indent="-228600">
              <a:spcAft>
                <a:spcPts val="800"/>
              </a:spcAft>
              <a:buSzPct val="100000"/>
              <a:buChar char="•"/>
            </a:pPr>
            <a:r>
              <a:rPr lang="en-US" sz="1300" b="1" dirty="0">
                <a:solidFill>
                  <a:srgbClr val="0A1F44"/>
                </a:solidFill>
                <a:latin typeface="Calibri" pitchFamily="34" charset="0"/>
                <a:ea typeface="Calibri" pitchFamily="34" charset="-122"/>
                <a:cs typeface="Calibri" pitchFamily="34" charset="-120"/>
              </a:rPr>
              <a:t>Monitoreo y alertas</a:t>
            </a:r>
            <a:pPr indent="0" marL="0">
              <a:buNone/>
            </a:pPr>
            <a:r>
              <a:rPr lang="en-US" sz="1300" dirty="0">
                <a:solidFill>
                  <a:srgbClr val="33415C"/>
                </a:solidFill>
                <a:latin typeface="Calibri" pitchFamily="34" charset="0"/>
                <a:ea typeface="Calibri" pitchFamily="34" charset="-122"/>
                <a:cs typeface="Calibri" pitchFamily="34" charset="-120"/>
              </a:rPr>
              <a:t> de errores y de intentos de acceso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CORE/ERRORS.PY</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Manejo de errores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Errores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19</a:t>
            </a:r>
            <a:endParaRPr lang="en-US" sz="1100" dirty="0"/>
          </a:p>
        </p:txBody>
      </p:sp>
      <p:sp>
        <p:nvSpPr>
          <p:cNvPr id="6" name="Shape 4"/>
          <p:cNvSpPr/>
          <p:nvPr/>
        </p:nvSpPr>
        <p:spPr>
          <a:xfrm>
            <a:off x="548640" y="1371600"/>
            <a:ext cx="4754880" cy="2331720"/>
          </a:xfrm>
          <a:prstGeom prst="roundRect">
            <a:avLst>
              <a:gd name="adj" fmla="val 3137"/>
            </a:avLst>
          </a:prstGeom>
          <a:solidFill>
            <a:srgbClr val="0F2A55"/>
          </a:solidFill>
          <a:ln w="12700">
            <a:solidFill>
              <a:srgbClr val="0F2A55"/>
            </a:solidFill>
            <a:prstDash val="solid"/>
          </a:ln>
        </p:spPr>
      </p:sp>
      <p:sp>
        <p:nvSpPr>
          <p:cNvPr id="7" name="Text 5"/>
          <p:cNvSpPr txBox="1"/>
          <p:nvPr/>
        </p:nvSpPr>
        <p:spPr>
          <a:xfrm>
            <a:off x="685800" y="1481328"/>
            <a:ext cx="4480560" cy="2130552"/>
          </a:xfrm>
          <a:prstGeom prst="rect">
            <a:avLst/>
          </a:prstGeom>
          <a:noFill/>
          <a:ln/>
        </p:spPr>
        <p:txBody>
          <a:bodyPr wrap="square" lIns="0" tIns="0" rIns="0" bIns="0" rtlCol="0" anchor="t"/>
          <a:lstStyle/>
          <a:p>
            <a:pPr indent="0" marL="0">
              <a:lnSpc>
                <a:spcPct val="105000"/>
              </a:lnSpc>
              <a:buNone/>
            </a:pPr>
            <a:r>
              <a:rPr lang="en-US" sz="1300" dirty="0">
                <a:solidFill>
                  <a:srgbClr val="3DDBA7"/>
                </a:solidFill>
                <a:latin typeface="Consolas" pitchFamily="34" charset="0"/>
                <a:ea typeface="Consolas" pitchFamily="34" charset="-122"/>
                <a:cs typeface="Consolas" pitchFamily="34" charset="-120"/>
              </a:rPr>
              <a:t>// Formato único de todos los errores</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"code": "TRIP_FULL",</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"message": "Not enough seats left",</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  "details": { "seats_available": 1 }</a:t>
            </a:r>
            <a:endParaRPr lang="en-US" sz="1300" dirty="0"/>
          </a:p>
          <a:p>
            <a:pPr indent="0" marL="0">
              <a:lnSpc>
                <a:spcPct val="105000"/>
              </a:lnSpc>
              <a:buNone/>
            </a:pPr>
            <a:r>
              <a:rPr lang="en-US" sz="1300" dirty="0">
                <a:solidFill>
                  <a:srgbClr val="E6EEFB"/>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3DDBA7"/>
                </a:solidFill>
                <a:latin typeface="Consolas" pitchFamily="34" charset="0"/>
                <a:ea typeface="Consolas" pitchFamily="34" charset="-122"/>
                <a:cs typeface="Consolas" pitchFamily="34" charset="-120"/>
              </a:rPr>
              <a:t>// HTTP 409</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577840" y="1371600"/>
          <a:ext cx="6080760" cy="914400"/>
        </p:xfrm>
        <a:graphic>
          <a:graphicData uri="http://schemas.openxmlformats.org/drawingml/2006/table">
            <a:tbl>
              <a:tblPr/>
              <a:tblGrid>
                <a:gridCol w="1965960"/>
                <a:gridCol w="2240280"/>
                <a:gridCol w="1874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Situación</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Manejador</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Respuesta</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0A1F44"/>
                    </a:solidFill>
                  </a:tcPr>
                </a:tc>
              </a:tr>
              <a:tr h="0">
                <a:tc>
                  <a:txBody>
                    <a:bodyPr/>
                    <a:lstStyle/>
                    <a:p>
                      <a:pPr indent="0" marL="0">
                        <a:buNone/>
                      </a:pPr>
                      <a:r>
                        <a:rPr lang="en-US" sz="1100" b="1" dirty="0">
                          <a:solidFill>
                            <a:srgbClr val="0A1F44"/>
                          </a:solidFill>
                          <a:latin typeface="Calibri" pitchFamily="34" charset="0"/>
                          <a:ea typeface="Calibri" pitchFamily="34" charset="-122"/>
                          <a:cs typeface="Calibri" pitchFamily="34" charset="-120"/>
                        </a:rPr>
                        <a:t>Regla de negocio (AppError)</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onsolas" pitchFamily="34" charset="0"/>
                          <a:ea typeface="Consolas" pitchFamily="34" charset="-122"/>
                          <a:cs typeface="Consolas" pitchFamily="34" charset="-120"/>
                        </a:rPr>
                        <a:t>app_error_handler</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su código: 404 NOT_FOUND, 409 TRIP_FULL…</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100" b="1" dirty="0">
                          <a:solidFill>
                            <a:srgbClr val="0A1F44"/>
                          </a:solidFill>
                          <a:latin typeface="Calibri" pitchFamily="34" charset="0"/>
                          <a:ea typeface="Calibri" pitchFamily="34" charset="-122"/>
                          <a:cs typeface="Calibri" pitchFamily="34" charset="-120"/>
                        </a:rPr>
                        <a:t>Datos inválidos (Pydantic)</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onsolas" pitchFamily="34" charset="0"/>
                          <a:ea typeface="Consolas" pitchFamily="34" charset="-122"/>
                          <a:cs typeface="Consolas" pitchFamily="34" charset="-120"/>
                        </a:rPr>
                        <a:t>validation_error_handler</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422 VALIDATION_ERROR + campos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A1F44"/>
                          </a:solidFill>
                          <a:latin typeface="Calibri" pitchFamily="34" charset="0"/>
                          <a:ea typeface="Calibri" pitchFamily="34" charset="-122"/>
                          <a:cs typeface="Calibri" pitchFamily="34" charset="-120"/>
                        </a:rPr>
                        <a:t>Error HTTP (401, 405…)</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onsolas" pitchFamily="34" charset="0"/>
                          <a:ea typeface="Consolas" pitchFamily="34" charset="-122"/>
                          <a:cs typeface="Consolas" pitchFamily="34" charset="-120"/>
                        </a:rPr>
                        <a:t>http_error_handler</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UNAUTHORIZED, METHOD_NOT_ALLOWED…</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r h="0">
                <a:tc>
                  <a:txBody>
                    <a:bodyPr/>
                    <a:lstStyle/>
                    <a:p>
                      <a:pPr indent="0" marL="0">
                        <a:buNone/>
                      </a:pPr>
                      <a:r>
                        <a:rPr lang="en-US" sz="1100" b="1" dirty="0">
                          <a:solidFill>
                            <a:srgbClr val="0A1F44"/>
                          </a:solidFill>
                          <a:latin typeface="Calibri" pitchFamily="34" charset="0"/>
                          <a:ea typeface="Calibri" pitchFamily="34" charset="-122"/>
                          <a:cs typeface="Calibri" pitchFamily="34" charset="-120"/>
                        </a:rPr>
                        <a:t>Demasiadas peticiones</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onsolas" pitchFamily="34" charset="0"/>
                          <a:ea typeface="Consolas" pitchFamily="34" charset="-122"/>
                          <a:cs typeface="Consolas" pitchFamily="34" charset="-120"/>
                        </a:rPr>
                        <a:t>rate_limit_handler</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429 RATE_LIMITED</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A1F44"/>
                          </a:solidFill>
                          <a:latin typeface="Calibri" pitchFamily="34" charset="0"/>
                          <a:ea typeface="Calibri" pitchFamily="34" charset="-122"/>
                          <a:cs typeface="Calibri" pitchFamily="34" charset="-120"/>
                        </a:rPr>
                        <a:t>Fallo inesperado (incluye base caída)</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onsolas" pitchFamily="34" charset="0"/>
                          <a:ea typeface="Consolas" pitchFamily="34" charset="-122"/>
                          <a:cs typeface="Consolas" pitchFamily="34" charset="-120"/>
                        </a:rPr>
                        <a:t>unhandled_error_handler</a:t>
                      </a:r>
                      <a:endParaRPr lang="en-US" sz="1100" dirty="0">
                        <a:latin typeface="Consolas" charset="0"/>
                        <a:ea typeface="Consolas" charset="0"/>
                        <a:cs typeface="Consolas"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500 INTERNAL_ERROR + log</a:t>
                      </a:r>
                      <a:endParaRPr lang="en-US" sz="1100" dirty="0">
                        <a:latin typeface="Calibri" charset="0"/>
                        <a:ea typeface="Calibri" charset="0"/>
                        <a:cs typeface="Calibri" charset="0"/>
                      </a:endParaRPr>
                    </a:p>
                  </a:txBody>
                  <a:tcPr marL="63500" marR="63500" marT="38100" marB="38100" anchor="ctr">
                    <a:lnL w="9525" cap="flat" cmpd="sng" algn="ctr">
                      <a:solidFill>
                        <a:srgbClr val="C9D7EE"/>
                      </a:solidFill>
                      <a:prstDash val="solid"/>
                      <a:round/>
                      <a:headEnd type="none" w="med" len="med"/>
                      <a:tailEnd type="none" w="med" len="med"/>
                    </a:lnL>
                    <a:lnR w="9525" cap="flat" cmpd="sng" algn="ctr">
                      <a:solidFill>
                        <a:srgbClr val="C9D7EE"/>
                      </a:solidFill>
                      <a:prstDash val="solid"/>
                      <a:round/>
                      <a:headEnd type="none" w="med" len="med"/>
                      <a:tailEnd type="none" w="med" len="med"/>
                    </a:lnR>
                    <a:lnT w="9525" cap="flat" cmpd="sng" algn="ctr">
                      <a:solidFill>
                        <a:srgbClr val="C9D7EE"/>
                      </a:solidFill>
                      <a:prstDash val="solid"/>
                      <a:round/>
                      <a:headEnd type="none" w="med" len="med"/>
                      <a:tailEnd type="none" w="med" len="med"/>
                    </a:lnT>
                    <a:lnB w="9525" cap="flat" cmpd="sng" algn="ctr">
                      <a:solidFill>
                        <a:srgbClr val="C9D7EE"/>
                      </a:solidFill>
                      <a:prstDash val="solid"/>
                      <a:round/>
                      <a:headEnd type="none" w="med" len="med"/>
                      <a:tailEnd type="none" w="med" len="med"/>
                    </a:lnB>
                    <a:solidFill>
                      <a:srgbClr val="F5F9FF"/>
                    </a:solidFill>
                  </a:tcPr>
                </a:tc>
              </a:tr>
            </a:tbl>
          </a:graphicData>
        </a:graphic>
      </p:graphicFrame>
      <p:sp>
        <p:nvSpPr>
          <p:cNvPr id="9" name="Text 6"/>
          <p:cNvSpPr txBox="1"/>
          <p:nvPr/>
        </p:nvSpPr>
        <p:spPr>
          <a:xfrm>
            <a:off x="548640" y="4023360"/>
            <a:ext cx="4754880" cy="1828800"/>
          </a:xfrm>
          <a:prstGeom prst="roundRect">
            <a:avLst>
              <a:gd name="adj" fmla="val 4000"/>
            </a:avLst>
          </a:prstGeom>
          <a:solidFill>
            <a:srgbClr val="EAF3FF"/>
          </a:solidFill>
          <a:ln w="12700">
            <a:solidFill>
              <a:srgbClr val="EAF3FF"/>
            </a:solidFill>
          </a:ln>
        </p:spPr>
        <p:txBody>
          <a:bodyPr wrap="square" lIns="152400" tIns="152400" rIns="152400" bIns="152400" rtlCol="0" anchor="t"/>
          <a:lstStyle/>
          <a:p>
            <a:pPr algn="l" indent="0" marL="0">
              <a:buNone/>
            </a:pPr>
            <a:r>
              <a:rPr lang="en-US" sz="1500" b="1" dirty="0">
                <a:solidFill>
                  <a:srgbClr val="0A1F44"/>
                </a:solidFill>
                <a:latin typeface="Calibri" pitchFamily="34" charset="0"/>
                <a:ea typeface="Calibri" pitchFamily="34" charset="-122"/>
                <a:cs typeface="Calibri" pitchFamily="34" charset="-120"/>
              </a:rPr>
              <a:t>En el frontend</a:t>
            </a:r>
            <a:endParaRPr lang="en-US" sz="1500" dirty="0"/>
          </a:p>
          <a:p>
            <a:pPr algn="l" indent="0" marL="0">
              <a:buNone/>
            </a:pPr>
            <a:r>
              <a:rPr lang="en-US" sz="1300" dirty="0">
                <a:solidFill>
                  <a:srgbClr val="33415C"/>
                </a:solidFill>
                <a:latin typeface="Calibri" pitchFamily="34" charset="0"/>
                <a:ea typeface="Calibri" pitchFamily="34" charset="-122"/>
                <a:cs typeface="Calibri" pitchFamily="34" charset="-120"/>
              </a:rPr>
              <a:t>error.interceptor.ts y apiErrorMessage() buscan el código en es.json (errors.TRIP_FULL) y muestran el mensaje traducido. Las pantallas que fallan al cargar muestran un estado de error con botón Reintentar.</a:t>
            </a:r>
            <a:endParaRPr lang="en-US" sz="1500" dirty="0"/>
          </a:p>
        </p:txBody>
      </p:sp>
      <p:sp>
        <p:nvSpPr>
          <p:cNvPr id="10" name="Text 7"/>
          <p:cNvSpPr txBox="1"/>
          <p:nvPr/>
        </p:nvSpPr>
        <p:spPr>
          <a:xfrm>
            <a:off x="5577840" y="4023360"/>
            <a:ext cx="6080760" cy="1828800"/>
          </a:xfrm>
          <a:prstGeom prst="roundRect">
            <a:avLst>
              <a:gd name="adj" fmla="val 4000"/>
            </a:avLst>
          </a:prstGeom>
          <a:solidFill>
            <a:srgbClr val="FFF4D6"/>
          </a:solidFill>
          <a:ln w="12700">
            <a:solidFill>
              <a:srgbClr val="865C00"/>
            </a:solidFill>
          </a:ln>
        </p:spPr>
        <p:txBody>
          <a:bodyPr wrap="square" lIns="152400" tIns="152400" rIns="152400" bIns="152400" rtlCol="0" anchor="t"/>
          <a:lstStyle/>
          <a:p>
            <a:pPr algn="l" indent="0" marL="0">
              <a:buNone/>
            </a:pPr>
            <a:r>
              <a:rPr lang="en-US" sz="1500" b="1" dirty="0">
                <a:solidFill>
                  <a:srgbClr val="0A1F44"/>
                </a:solidFill>
                <a:latin typeface="Calibri" pitchFamily="34" charset="0"/>
                <a:ea typeface="Calibri" pitchFamily="34" charset="-122"/>
                <a:cs typeface="Calibri" pitchFamily="34" charset="-120"/>
              </a:rPr>
              <a:t>Problemas de conexión con la base</a:t>
            </a:r>
            <a:endParaRPr lang="en-US" sz="1500" dirty="0"/>
          </a:p>
          <a:p>
            <a:pPr algn="l" indent="0" marL="0">
              <a:buNone/>
            </a:pPr>
            <a:r>
              <a:rPr lang="en-US" sz="1300" dirty="0">
                <a:solidFill>
                  <a:srgbClr val="33415C"/>
                </a:solidFill>
                <a:latin typeface="Calibri" pitchFamily="34" charset="0"/>
                <a:ea typeface="Calibri" pitchFamily="34" charset="-122"/>
                <a:cs typeface="Calibri" pitchFamily="34" charset="-120"/>
              </a:rPr>
              <a:t>pool_pre_ping descarta conexiones muertas antes de usarlas. Si PostgreSQL no responde, la petición termina en 500 INTERNAL_ERROR (sin exponer detalles) y GET /api/v1/health/ready responde 503 con el estado de la base y de Redis.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DE PUNTA A PUNTA</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Ejemplo completo: una pasajera pide cupo</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Ejemplo</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20</a:t>
            </a:r>
            <a:endParaRPr lang="en-US" sz="1100" dirty="0"/>
          </a:p>
        </p:txBody>
      </p:sp>
      <p:sp>
        <p:nvSpPr>
          <p:cNvPr id="6" name="Text 4"/>
          <p:cNvSpPr txBox="1"/>
          <p:nvPr/>
        </p:nvSpPr>
        <p:spPr>
          <a:xfrm>
            <a:off x="548640" y="1371600"/>
            <a:ext cx="2560320" cy="1051560"/>
          </a:xfrm>
          <a:prstGeom prst="roundRect">
            <a:avLst>
              <a:gd name="adj" fmla="val 6957"/>
            </a:avLst>
          </a:prstGeom>
          <a:solidFill>
            <a:srgbClr val="EAF3FF"/>
          </a:solidFill>
          <a:ln w="12700">
            <a:solidFill>
              <a:srgbClr val="EAF3FF"/>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1 · Usuario</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pulsa Solicitar cupo en el detalle del viaje</a:t>
            </a:r>
            <a:endParaRPr lang="en-US" sz="1400" dirty="0"/>
          </a:p>
        </p:txBody>
      </p:sp>
      <p:sp>
        <p:nvSpPr>
          <p:cNvPr id="7" name="Shape 5"/>
          <p:cNvSpPr/>
          <p:nvPr/>
        </p:nvSpPr>
        <p:spPr>
          <a:xfrm>
            <a:off x="3108960" y="1892808"/>
            <a:ext cx="274320" cy="914"/>
          </a:xfrm>
          <a:prstGeom prst="line">
            <a:avLst/>
          </a:prstGeom>
          <a:noFill/>
          <a:ln w="19050">
            <a:solidFill>
              <a:srgbClr val="1E5AA8"/>
            </a:solidFill>
            <a:prstDash val="solid"/>
            <a:tailEnd type="triangle"/>
          </a:ln>
        </p:spPr>
      </p:sp>
      <p:sp>
        <p:nvSpPr>
          <p:cNvPr id="8" name="Text 6"/>
          <p:cNvSpPr txBox="1"/>
          <p:nvPr/>
        </p:nvSpPr>
        <p:spPr>
          <a:xfrm>
            <a:off x="3383280" y="1371600"/>
            <a:ext cx="2560320" cy="1051560"/>
          </a:xfrm>
          <a:prstGeom prst="roundRect">
            <a:avLst>
              <a:gd name="adj" fmla="val 6957"/>
            </a:avLst>
          </a:prstGeom>
          <a:solidFill>
            <a:srgbClr val="EAF3FF"/>
          </a:solidFill>
          <a:ln w="12700">
            <a:solidFill>
              <a:srgbClr val="EAF3FF"/>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2 · Frontend</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booking-panel.ts submit() → bookings.api.ts request()</a:t>
            </a:r>
            <a:endParaRPr lang="en-US" sz="1400" dirty="0"/>
          </a:p>
        </p:txBody>
      </p:sp>
      <p:sp>
        <p:nvSpPr>
          <p:cNvPr id="9" name="Shape 7"/>
          <p:cNvSpPr/>
          <p:nvPr/>
        </p:nvSpPr>
        <p:spPr>
          <a:xfrm>
            <a:off x="5943600" y="1892808"/>
            <a:ext cx="274320" cy="914"/>
          </a:xfrm>
          <a:prstGeom prst="line">
            <a:avLst/>
          </a:prstGeom>
          <a:noFill/>
          <a:ln w="19050">
            <a:solidFill>
              <a:srgbClr val="1E5AA8"/>
            </a:solidFill>
            <a:prstDash val="solid"/>
            <a:tailEnd type="triangle"/>
          </a:ln>
        </p:spPr>
      </p:sp>
      <p:sp>
        <p:nvSpPr>
          <p:cNvPr id="10" name="Text 8"/>
          <p:cNvSpPr txBox="1"/>
          <p:nvPr/>
        </p:nvSpPr>
        <p:spPr>
          <a:xfrm>
            <a:off x="6217920" y="1371600"/>
            <a:ext cx="2560320" cy="1051560"/>
          </a:xfrm>
          <a:prstGeom prst="roundRect">
            <a:avLst>
              <a:gd name="adj" fmla="val 6957"/>
            </a:avLst>
          </a:prstGeom>
          <a:solidFill>
            <a:srgbClr val="EAF3FF"/>
          </a:solidFill>
          <a:ln w="12700">
            <a:solidFill>
              <a:srgbClr val="EAF3FF"/>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3 · Endpoint</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POST /api/v1/trips/{trip_id}/bookings + Bearer</a:t>
            </a:r>
            <a:endParaRPr lang="en-US" sz="1400" dirty="0"/>
          </a:p>
        </p:txBody>
      </p:sp>
      <p:sp>
        <p:nvSpPr>
          <p:cNvPr id="11" name="Shape 9"/>
          <p:cNvSpPr/>
          <p:nvPr/>
        </p:nvSpPr>
        <p:spPr>
          <a:xfrm>
            <a:off x="8778240" y="1892808"/>
            <a:ext cx="274320" cy="914"/>
          </a:xfrm>
          <a:prstGeom prst="line">
            <a:avLst/>
          </a:prstGeom>
          <a:noFill/>
          <a:ln w="19050">
            <a:solidFill>
              <a:srgbClr val="1E5AA8"/>
            </a:solidFill>
            <a:prstDash val="solid"/>
            <a:tailEnd type="triangle"/>
          </a:ln>
        </p:spPr>
      </p:sp>
      <p:sp>
        <p:nvSpPr>
          <p:cNvPr id="12" name="Text 10"/>
          <p:cNvSpPr txBox="1"/>
          <p:nvPr/>
        </p:nvSpPr>
        <p:spPr>
          <a:xfrm>
            <a:off x="9052560" y="1371600"/>
            <a:ext cx="2560320" cy="1051560"/>
          </a:xfrm>
          <a:prstGeom prst="roundRect">
            <a:avLst>
              <a:gd name="adj" fmla="val 6957"/>
            </a:avLst>
          </a:prstGeom>
          <a:solidFill>
            <a:srgbClr val="EAF3FF"/>
          </a:solidFill>
          <a:ln w="12700">
            <a:solidFill>
              <a:srgbClr val="EAF3FF"/>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4 · Función</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request_booking: Passenger, DbSession, BookingCreate</a:t>
            </a:r>
            <a:endParaRPr lang="en-US" sz="1400" dirty="0"/>
          </a:p>
        </p:txBody>
      </p:sp>
      <p:sp>
        <p:nvSpPr>
          <p:cNvPr id="13" name="Text 11"/>
          <p:cNvSpPr txBox="1"/>
          <p:nvPr/>
        </p:nvSpPr>
        <p:spPr>
          <a:xfrm>
            <a:off x="9052560" y="2606040"/>
            <a:ext cx="2560320" cy="1051560"/>
          </a:xfrm>
          <a:prstGeom prst="roundRect">
            <a:avLst>
              <a:gd name="adj" fmla="val 6957"/>
            </a:avLst>
          </a:prstGeom>
          <a:solidFill>
            <a:srgbClr val="E3F5EE"/>
          </a:solidFill>
          <a:ln w="12700">
            <a:solidFill>
              <a:srgbClr val="E3F5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5 · Servicio</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BookingService.request: reglas y cupo</a:t>
            </a:r>
            <a:endParaRPr lang="en-US" sz="1400" dirty="0"/>
          </a:p>
        </p:txBody>
      </p:sp>
      <p:sp>
        <p:nvSpPr>
          <p:cNvPr id="14" name="Shape 12"/>
          <p:cNvSpPr/>
          <p:nvPr/>
        </p:nvSpPr>
        <p:spPr>
          <a:xfrm flipH="1">
            <a:off x="8778240" y="3127248"/>
            <a:ext cx="274320" cy="914"/>
          </a:xfrm>
          <a:prstGeom prst="line">
            <a:avLst/>
          </a:prstGeom>
          <a:noFill/>
          <a:ln w="19050">
            <a:solidFill>
              <a:srgbClr val="1E5AA8"/>
            </a:solidFill>
            <a:prstDash val="solid"/>
            <a:tailEnd type="triangle"/>
          </a:ln>
        </p:spPr>
      </p:sp>
      <p:sp>
        <p:nvSpPr>
          <p:cNvPr id="15" name="Text 13"/>
          <p:cNvSpPr txBox="1"/>
          <p:nvPr/>
        </p:nvSpPr>
        <p:spPr>
          <a:xfrm>
            <a:off x="6217920" y="2606040"/>
            <a:ext cx="2560320" cy="1051560"/>
          </a:xfrm>
          <a:prstGeom prst="roundRect">
            <a:avLst>
              <a:gd name="adj" fmla="val 6957"/>
            </a:avLst>
          </a:prstGeom>
          <a:solidFill>
            <a:srgbClr val="E3F5EE"/>
          </a:solidFill>
          <a:ln w="12700">
            <a:solidFill>
              <a:srgbClr val="E3F5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6 · Base de datos</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INSERT bookings + notifications; COMMIT</a:t>
            </a:r>
            <a:endParaRPr lang="en-US" sz="1400" dirty="0"/>
          </a:p>
        </p:txBody>
      </p:sp>
      <p:sp>
        <p:nvSpPr>
          <p:cNvPr id="16" name="Shape 14"/>
          <p:cNvSpPr/>
          <p:nvPr/>
        </p:nvSpPr>
        <p:spPr>
          <a:xfrm flipH="1">
            <a:off x="5943600" y="3127248"/>
            <a:ext cx="274320" cy="914"/>
          </a:xfrm>
          <a:prstGeom prst="line">
            <a:avLst/>
          </a:prstGeom>
          <a:noFill/>
          <a:ln w="19050">
            <a:solidFill>
              <a:srgbClr val="1E5AA8"/>
            </a:solidFill>
            <a:prstDash val="solid"/>
            <a:tailEnd type="triangle"/>
          </a:ln>
        </p:spPr>
      </p:sp>
      <p:sp>
        <p:nvSpPr>
          <p:cNvPr id="17" name="Text 15"/>
          <p:cNvSpPr txBox="1"/>
          <p:nvPr/>
        </p:nvSpPr>
        <p:spPr>
          <a:xfrm>
            <a:off x="3383280" y="2606040"/>
            <a:ext cx="2560320" cy="1051560"/>
          </a:xfrm>
          <a:prstGeom prst="roundRect">
            <a:avLst>
              <a:gd name="adj" fmla="val 6957"/>
            </a:avLst>
          </a:prstGeom>
          <a:solidFill>
            <a:srgbClr val="E3F5EE"/>
          </a:solidFill>
          <a:ln w="12700">
            <a:solidFill>
              <a:srgbClr val="E3F5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7 · Respuesta</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201 BookingOut (JSON); aviso al conductor por WebSocket</a:t>
            </a:r>
            <a:endParaRPr lang="en-US" sz="1400" dirty="0"/>
          </a:p>
        </p:txBody>
      </p:sp>
      <p:sp>
        <p:nvSpPr>
          <p:cNvPr id="18" name="Shape 16"/>
          <p:cNvSpPr/>
          <p:nvPr/>
        </p:nvSpPr>
        <p:spPr>
          <a:xfrm flipH="1">
            <a:off x="3108960" y="3127248"/>
            <a:ext cx="274320" cy="914"/>
          </a:xfrm>
          <a:prstGeom prst="line">
            <a:avLst/>
          </a:prstGeom>
          <a:noFill/>
          <a:ln w="19050">
            <a:solidFill>
              <a:srgbClr val="1E5AA8"/>
            </a:solidFill>
            <a:prstDash val="solid"/>
            <a:tailEnd type="triangle"/>
          </a:ln>
        </p:spPr>
      </p:sp>
      <p:sp>
        <p:nvSpPr>
          <p:cNvPr id="19" name="Text 17"/>
          <p:cNvSpPr txBox="1"/>
          <p:nvPr/>
        </p:nvSpPr>
        <p:spPr>
          <a:xfrm>
            <a:off x="548640" y="2606040"/>
            <a:ext cx="2560320" cy="1051560"/>
          </a:xfrm>
          <a:prstGeom prst="roundRect">
            <a:avLst>
              <a:gd name="adj" fmla="val 6957"/>
            </a:avLst>
          </a:prstGeom>
          <a:solidFill>
            <a:srgbClr val="E3F5EE"/>
          </a:solidFill>
          <a:ln w="12700">
            <a:solidFill>
              <a:srgbClr val="E3F5EE"/>
            </a:solidFill>
          </a:ln>
        </p:spPr>
        <p:txBody>
          <a:bodyPr wrap="square" lIns="101600" tIns="101600" rIns="101600" bIns="101600" rtlCol="0" anchor="ctr"/>
          <a:lstStyle/>
          <a:p>
            <a:pPr algn="l" indent="0" marL="0">
              <a:buNone/>
            </a:pPr>
            <a:r>
              <a:rPr lang="en-US" sz="1400" b="1" dirty="0">
                <a:solidFill>
                  <a:srgbClr val="0A1F44"/>
                </a:solidFill>
                <a:latin typeface="Calibri" pitchFamily="34" charset="0"/>
                <a:ea typeface="Calibri" pitchFamily="34" charset="-122"/>
                <a:cs typeface="Calibri" pitchFamily="34" charset="-120"/>
              </a:rPr>
              <a:t>8 · Frontend</a:t>
            </a:r>
            <a:endParaRPr lang="en-US" sz="1400" dirty="0"/>
          </a:p>
          <a:p>
            <a:pPr algn="l" indent="0" marL="0">
              <a:buNone/>
            </a:pPr>
            <a:r>
              <a:rPr lang="en-US" sz="1100" dirty="0">
                <a:solidFill>
                  <a:srgbClr val="33415C"/>
                </a:solidFill>
                <a:latin typeface="Calibri" pitchFamily="34" charset="0"/>
                <a:ea typeface="Calibri" pitchFamily="34" charset="-122"/>
                <a:cs typeface="Calibri" pitchFamily="34" charset="-120"/>
              </a:rPr>
              <a:t>toast 'Solicitud enviada' y recarga del viaje</a:t>
            </a:r>
            <a:endParaRPr lang="en-US" sz="1400" dirty="0"/>
          </a:p>
        </p:txBody>
      </p:sp>
      <p:sp>
        <p:nvSpPr>
          <p:cNvPr id="20" name="Shape 18"/>
          <p:cNvSpPr/>
          <p:nvPr/>
        </p:nvSpPr>
        <p:spPr>
          <a:xfrm>
            <a:off x="9966960" y="2423160"/>
            <a:ext cx="914" cy="182880"/>
          </a:xfrm>
          <a:prstGeom prst="line">
            <a:avLst/>
          </a:prstGeom>
          <a:noFill/>
          <a:ln w="19050">
            <a:solidFill>
              <a:srgbClr val="1E5AA8"/>
            </a:solidFill>
            <a:prstDash val="solid"/>
            <a:tailEnd type="triangle"/>
          </a:ln>
        </p:spPr>
      </p:sp>
      <p:sp>
        <p:nvSpPr>
          <p:cNvPr id="21" name="Shape 19"/>
          <p:cNvSpPr/>
          <p:nvPr/>
        </p:nvSpPr>
        <p:spPr>
          <a:xfrm>
            <a:off x="548640" y="3977640"/>
            <a:ext cx="5577840" cy="2286000"/>
          </a:xfrm>
          <a:prstGeom prst="roundRect">
            <a:avLst>
              <a:gd name="adj" fmla="val 3200"/>
            </a:avLst>
          </a:prstGeom>
          <a:solidFill>
            <a:srgbClr val="0F2A55"/>
          </a:solidFill>
          <a:ln w="12700">
            <a:solidFill>
              <a:srgbClr val="0F2A55"/>
            </a:solidFill>
            <a:prstDash val="solid"/>
          </a:ln>
        </p:spPr>
      </p:sp>
      <p:sp>
        <p:nvSpPr>
          <p:cNvPr id="22" name="Text 20"/>
          <p:cNvSpPr txBox="1"/>
          <p:nvPr/>
        </p:nvSpPr>
        <p:spPr>
          <a:xfrm>
            <a:off x="685800" y="4087368"/>
            <a:ext cx="5303520" cy="2084832"/>
          </a:xfrm>
          <a:prstGeom prst="rect">
            <a:avLst/>
          </a:prstGeom>
          <a:noFill/>
          <a:ln/>
        </p:spPr>
        <p:txBody>
          <a:bodyPr wrap="square" lIns="0" tIns="0" rIns="0" bIns="0" rtlCol="0" anchor="t"/>
          <a:lstStyle/>
          <a:p>
            <a:pPr indent="0" marL="0">
              <a:lnSpc>
                <a:spcPct val="105000"/>
              </a:lnSpc>
              <a:buNone/>
            </a:pPr>
            <a:r>
              <a:rPr lang="en-US" sz="1100" dirty="0">
                <a:solidFill>
                  <a:srgbClr val="3DDBA7"/>
                </a:solidFill>
                <a:latin typeface="Consolas" pitchFamily="34" charset="0"/>
                <a:ea typeface="Consolas" pitchFamily="34" charset="-122"/>
                <a:cs typeface="Consolas" pitchFamily="34" charset="-120"/>
              </a:rPr>
              <a:t>// Petición (datos ficticios)</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POST /api/v1/trips/7f3c…/bookings</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Authorization: Bearer eyJ…(token)</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"seats": 1,</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"pickup_place_id": "2a91…",</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"dropoff_place_id": "c4d0…",</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"preferences": { "pets": false,</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"luggage": false, "no_smoking": true, "music": false } }</a:t>
            </a:r>
            <a:endParaRPr lang="en-US" sz="1100" dirty="0"/>
          </a:p>
        </p:txBody>
      </p:sp>
      <p:sp>
        <p:nvSpPr>
          <p:cNvPr id="23" name="Shape 21"/>
          <p:cNvSpPr/>
          <p:nvPr/>
        </p:nvSpPr>
        <p:spPr>
          <a:xfrm>
            <a:off x="6355080" y="3977640"/>
            <a:ext cx="5303520" cy="2286000"/>
          </a:xfrm>
          <a:prstGeom prst="roundRect">
            <a:avLst>
              <a:gd name="adj" fmla="val 3200"/>
            </a:avLst>
          </a:prstGeom>
          <a:solidFill>
            <a:srgbClr val="0F2A55"/>
          </a:solidFill>
          <a:ln w="12700">
            <a:solidFill>
              <a:srgbClr val="0F2A55"/>
            </a:solidFill>
            <a:prstDash val="solid"/>
          </a:ln>
        </p:spPr>
      </p:sp>
      <p:sp>
        <p:nvSpPr>
          <p:cNvPr id="24" name="Text 22"/>
          <p:cNvSpPr txBox="1"/>
          <p:nvPr/>
        </p:nvSpPr>
        <p:spPr>
          <a:xfrm>
            <a:off x="6492240" y="4087368"/>
            <a:ext cx="5029200" cy="2084832"/>
          </a:xfrm>
          <a:prstGeom prst="rect">
            <a:avLst/>
          </a:prstGeom>
          <a:noFill/>
          <a:ln/>
        </p:spPr>
        <p:txBody>
          <a:bodyPr wrap="square" lIns="0" tIns="0" rIns="0" bIns="0" rtlCol="0" anchor="t"/>
          <a:lstStyle/>
          <a:p>
            <a:pPr indent="0" marL="0">
              <a:lnSpc>
                <a:spcPct val="105000"/>
              </a:lnSpc>
              <a:buNone/>
            </a:pPr>
            <a:r>
              <a:rPr lang="en-US" sz="1100" dirty="0">
                <a:solidFill>
                  <a:srgbClr val="3DDBA7"/>
                </a:solidFill>
                <a:latin typeface="Consolas" pitchFamily="34" charset="0"/>
                <a:ea typeface="Consolas" pitchFamily="34" charset="-122"/>
                <a:cs typeface="Consolas" pitchFamily="34" charset="-120"/>
              </a:rPr>
              <a:t>// Respuesta 201 Created (extracto)</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"id": "b18e…",</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"status": "requested",</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"seats": 1, "amount": 2000,</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"trip": { "origin": "Barrio El Carmen",</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"destination": "Ciudad Universitaria" },</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"pickup": { "name": "Parque Águeda", "walk_m": 120 },</a:t>
            </a:r>
            <a:endParaRPr lang="en-US" sz="1100" dirty="0"/>
          </a:p>
          <a:p>
            <a:pPr indent="0" marL="0">
              <a:lnSpc>
                <a:spcPct val="105000"/>
              </a:lnSpc>
              <a:buNone/>
            </a:pPr>
            <a:r>
              <a:rPr lang="en-US" sz="1100" dirty="0">
                <a:solidFill>
                  <a:srgbClr val="E6EEFB"/>
                </a:solidFill>
                <a:latin typeface="Consolas" pitchFamily="34" charset="0"/>
                <a:ea typeface="Consolas" pitchFamily="34" charset="-122"/>
                <a:cs typeface="Consolas" pitchFamily="34" charset="-120"/>
              </a:rPr>
              <a:t>  "expires_at": "2026-10-15T12:30:00Z" }</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CÓMO LEVANTAR EL PROYECTO</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Configuración y ejecución local</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Ejecución</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21</a:t>
            </a:r>
            <a:endParaRPr lang="en-US" sz="1100" dirty="0"/>
          </a:p>
        </p:txBody>
      </p:sp>
      <p:sp>
        <p:nvSpPr>
          <p:cNvPr id="6" name="Shape 4"/>
          <p:cNvSpPr/>
          <p:nvPr/>
        </p:nvSpPr>
        <p:spPr>
          <a:xfrm>
            <a:off x="548640" y="1371600"/>
            <a:ext cx="5852160" cy="4892040"/>
          </a:xfrm>
          <a:prstGeom prst="roundRect">
            <a:avLst>
              <a:gd name="adj" fmla="val 1495"/>
            </a:avLst>
          </a:prstGeom>
          <a:solidFill>
            <a:srgbClr val="0F2A55"/>
          </a:solidFill>
          <a:ln w="12700">
            <a:solidFill>
              <a:srgbClr val="0F2A55"/>
            </a:solidFill>
            <a:prstDash val="solid"/>
          </a:ln>
        </p:spPr>
      </p:sp>
      <p:sp>
        <p:nvSpPr>
          <p:cNvPr id="7" name="Text 5"/>
          <p:cNvSpPr txBox="1"/>
          <p:nvPr/>
        </p:nvSpPr>
        <p:spPr>
          <a:xfrm>
            <a:off x="685800" y="1481328"/>
            <a:ext cx="5577840" cy="4690872"/>
          </a:xfrm>
          <a:prstGeom prst="rect">
            <a:avLst/>
          </a:prstGeom>
          <a:noFill/>
          <a:ln/>
        </p:spPr>
        <p:txBody>
          <a:bodyPr wrap="square" lIns="0" tIns="0" rIns="0" bIns="0" rtlCol="0" anchor="t"/>
          <a:lstStyle/>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Requisitos: Docker Desktop (WSL2) o Docker Engine</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Windows sin make: .\make.ps1 &lt;objetivo&gt;</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make up        # crea .env desde .env.example y</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 levanta db, redis, api, worker, web</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make osrm      # una vez: prepara el mapa de rutas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make tiles     # una vez: mapa base de Pamplona</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make seed      # parámetros, superadmin, lugares</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Las migraciones se aplican solas al arrancar api</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(make migrate las aplica a mano)</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make test      # pruebas de backend y frontend</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make lint      # ruff, mypy, ESLint y Prettier</a:t>
            </a:r>
            <a:endParaRPr lang="en-US" sz="1200" dirty="0"/>
          </a:p>
          <a:p>
            <a:pPr indent="0" marL="0">
              <a:lnSpc>
                <a:spcPct val="105000"/>
              </a:lnSpc>
              <a:buNone/>
            </a:pPr>
            <a:r>
              <a:rPr lang="en-US" sz="1200" dirty="0">
                <a:solidFill>
                  <a:srgbClr val="E6EEFB"/>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App:  https://localhost</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API:  http://localhost:8000/api/v1/docs</a:t>
            </a:r>
            <a:endParaRPr lang="en-US" sz="1200" dirty="0"/>
          </a:p>
          <a:p>
            <a:pPr indent="0" marL="0">
              <a:lnSpc>
                <a:spcPct val="105000"/>
              </a:lnSpc>
              <a:buNone/>
            </a:pPr>
            <a:r>
              <a:rPr lang="en-US" sz="1200" dirty="0">
                <a:solidFill>
                  <a:srgbClr val="3DDBA7"/>
                </a:solidFill>
                <a:latin typeface="Consolas" pitchFamily="34" charset="0"/>
                <a:ea typeface="Consolas" pitchFamily="34" charset="-122"/>
                <a:cs typeface="Consolas" pitchFamily="34" charset="-120"/>
              </a:rPr>
              <a:t># Correo de prueba: http://localhost:8025</a:t>
            </a:r>
            <a:endParaRPr lang="en-US" sz="1200" dirty="0"/>
          </a:p>
        </p:txBody>
      </p:sp>
      <p:sp>
        <p:nvSpPr>
          <p:cNvPr id="8" name="Text 6"/>
          <p:cNvSpPr txBox="1"/>
          <p:nvPr/>
        </p:nvSpPr>
        <p:spPr>
          <a:xfrm>
            <a:off x="6629400" y="1371600"/>
            <a:ext cx="5029200" cy="411480"/>
          </a:xfrm>
          <a:prstGeom prst="roundRect">
            <a:avLst>
              <a:gd name="adj" fmla="val 17778"/>
            </a:avLst>
          </a:prstGeom>
          <a:solidFill>
            <a:srgbClr val="0A1F44"/>
          </a:solidFill>
          <a:ln w="12700">
            <a:solidFill>
              <a:srgbClr val="0A1F44"/>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Variables de .env (sin valores)</a:t>
            </a:r>
            <a:endParaRPr lang="en-US" sz="1400" dirty="0"/>
          </a:p>
        </p:txBody>
      </p:sp>
      <p:sp>
        <p:nvSpPr>
          <p:cNvPr id="9" name="Text 7"/>
          <p:cNvSpPr txBox="1"/>
          <p:nvPr/>
        </p:nvSpPr>
        <p:spPr>
          <a:xfrm>
            <a:off x="6629400" y="1874520"/>
            <a:ext cx="5029200" cy="667512"/>
          </a:xfrm>
          <a:prstGeom prst="roundRect">
            <a:avLst>
              <a:gd name="adj" fmla="val 1095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Base de datos</a:t>
            </a:r>
            <a:endParaRPr lang="en-US" sz="1200" dirty="0"/>
          </a:p>
          <a:p>
            <a:pPr algn="l" indent="0" marL="0">
              <a:buNone/>
            </a:pPr>
            <a:r>
              <a:rPr lang="en-US" sz="1000" dirty="0">
                <a:solidFill>
                  <a:srgbClr val="33415C"/>
                </a:solidFill>
                <a:latin typeface="Consolas" pitchFamily="34" charset="0"/>
                <a:ea typeface="Consolas" pitchFamily="34" charset="-122"/>
                <a:cs typeface="Consolas" pitchFamily="34" charset="-120"/>
              </a:rPr>
              <a:t>POSTGRES_USER · POSTGRES_PASSWORD · POSTGRES_DB · DATABASE_URL</a:t>
            </a:r>
            <a:endParaRPr lang="en-US" sz="1200" dirty="0"/>
          </a:p>
        </p:txBody>
      </p:sp>
      <p:sp>
        <p:nvSpPr>
          <p:cNvPr id="10" name="Text 8"/>
          <p:cNvSpPr txBox="1"/>
          <p:nvPr/>
        </p:nvSpPr>
        <p:spPr>
          <a:xfrm>
            <a:off x="6629400" y="2633472"/>
            <a:ext cx="5029200" cy="667512"/>
          </a:xfrm>
          <a:prstGeom prst="roundRect">
            <a:avLst>
              <a:gd name="adj" fmla="val 1095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Servicios</a:t>
            </a:r>
            <a:endParaRPr lang="en-US" sz="1200" dirty="0"/>
          </a:p>
          <a:p>
            <a:pPr algn="l" indent="0" marL="0">
              <a:buNone/>
            </a:pPr>
            <a:r>
              <a:rPr lang="en-US" sz="1000" dirty="0">
                <a:solidFill>
                  <a:srgbClr val="33415C"/>
                </a:solidFill>
                <a:latin typeface="Consolas" pitchFamily="34" charset="0"/>
                <a:ea typeface="Consolas" pitchFamily="34" charset="-122"/>
                <a:cs typeface="Consolas" pitchFamily="34" charset="-120"/>
              </a:rPr>
              <a:t>REDIS_URL · OSRM_URL · STORAGE_DIR</a:t>
            </a:r>
            <a:endParaRPr lang="en-US" sz="1200" dirty="0"/>
          </a:p>
        </p:txBody>
      </p:sp>
      <p:sp>
        <p:nvSpPr>
          <p:cNvPr id="11" name="Text 9"/>
          <p:cNvSpPr txBox="1"/>
          <p:nvPr/>
        </p:nvSpPr>
        <p:spPr>
          <a:xfrm>
            <a:off x="6629400" y="3392424"/>
            <a:ext cx="5029200" cy="667512"/>
          </a:xfrm>
          <a:prstGeom prst="roundRect">
            <a:avLst>
              <a:gd name="adj" fmla="val 1095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Seguridad</a:t>
            </a:r>
            <a:endParaRPr lang="en-US" sz="1200" dirty="0"/>
          </a:p>
          <a:p>
            <a:pPr algn="l" indent="0" marL="0">
              <a:buNone/>
            </a:pPr>
            <a:r>
              <a:rPr lang="en-US" sz="1000" dirty="0">
                <a:solidFill>
                  <a:srgbClr val="33415C"/>
                </a:solidFill>
                <a:latin typeface="Consolas" pitchFamily="34" charset="0"/>
                <a:ea typeface="Consolas" pitchFamily="34" charset="-122"/>
                <a:cs typeface="Consolas" pitchFamily="34" charset="-120"/>
              </a:rPr>
              <a:t>SECRET_KEY · ACCESS_TOKEN_MINUTES · REFRESH_TOKEN_DAYS · CORS_ORIGINS · COOKIE_SECURE · RATE_LIMIT_DEFAULT</a:t>
            </a:r>
            <a:endParaRPr lang="en-US" sz="1200" dirty="0"/>
          </a:p>
        </p:txBody>
      </p:sp>
      <p:sp>
        <p:nvSpPr>
          <p:cNvPr id="12" name="Text 10"/>
          <p:cNvSpPr txBox="1"/>
          <p:nvPr/>
        </p:nvSpPr>
        <p:spPr>
          <a:xfrm>
            <a:off x="6629400" y="4151376"/>
            <a:ext cx="5029200" cy="667512"/>
          </a:xfrm>
          <a:prstGeom prst="roundRect">
            <a:avLst>
              <a:gd name="adj" fmla="val 1095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Negocio</a:t>
            </a:r>
            <a:endParaRPr lang="en-US" sz="1200" dirty="0"/>
          </a:p>
          <a:p>
            <a:pPr algn="l" indent="0" marL="0">
              <a:buNone/>
            </a:pPr>
            <a:r>
              <a:rPr lang="en-US" sz="1000" dirty="0">
                <a:solidFill>
                  <a:srgbClr val="33415C"/>
                </a:solidFill>
                <a:latin typeface="Consolas" pitchFamily="34" charset="0"/>
                <a:ea typeface="Consolas" pitchFamily="34" charset="-122"/>
                <a:cs typeface="Consolas" pitchFamily="34" charset="-120"/>
              </a:rPr>
              <a:t>ALLOWED_EMAIL_SUFFIX · SUPERADMIN_EMAIL · SUPERADMIN_PASSWORD · SUPERADMIN_NAME</a:t>
            </a:r>
            <a:endParaRPr lang="en-US" sz="1200" dirty="0"/>
          </a:p>
        </p:txBody>
      </p:sp>
      <p:sp>
        <p:nvSpPr>
          <p:cNvPr id="13" name="Text 11"/>
          <p:cNvSpPr txBox="1"/>
          <p:nvPr/>
        </p:nvSpPr>
        <p:spPr>
          <a:xfrm>
            <a:off x="6629400" y="4910328"/>
            <a:ext cx="5029200" cy="667512"/>
          </a:xfrm>
          <a:prstGeom prst="roundRect">
            <a:avLst>
              <a:gd name="adj" fmla="val 10959"/>
            </a:avLst>
          </a:prstGeom>
          <a:solidFill>
            <a:srgbClr val="F5F9FF"/>
          </a:solidFill>
          <a:ln w="12700">
            <a:solidFill>
              <a:srgbClr val="C9D7EE"/>
            </a:solidFill>
          </a:ln>
        </p:spPr>
        <p:txBody>
          <a:bodyPr wrap="square" lIns="101600" tIns="101600" rIns="101600" bIns="101600" rtlCol="0" anchor="ctr"/>
          <a:lstStyle/>
          <a:p>
            <a:pPr algn="l" indent="0" marL="0">
              <a:buNone/>
            </a:pPr>
            <a:r>
              <a:rPr lang="en-US" sz="1200" b="1" dirty="0">
                <a:solidFill>
                  <a:srgbClr val="0A1F44"/>
                </a:solidFill>
                <a:latin typeface="Calibri" pitchFamily="34" charset="0"/>
                <a:ea typeface="Calibri" pitchFamily="34" charset="-122"/>
                <a:cs typeface="Calibri" pitchFamily="34" charset="-120"/>
              </a:rPr>
              <a:t>Correo</a:t>
            </a:r>
            <a:endParaRPr lang="en-US" sz="1200" dirty="0"/>
          </a:p>
          <a:p>
            <a:pPr algn="l" indent="0" marL="0">
              <a:buNone/>
            </a:pPr>
            <a:r>
              <a:rPr lang="en-US" sz="1000" dirty="0">
                <a:solidFill>
                  <a:srgbClr val="33415C"/>
                </a:solidFill>
                <a:latin typeface="Consolas" pitchFamily="34" charset="0"/>
                <a:ea typeface="Consolas" pitchFamily="34" charset="-122"/>
                <a:cs typeface="Consolas" pitchFamily="34" charset="-120"/>
              </a:rPr>
              <a:t>SMTP_HOST · SMTP_PORT · SMTP_USER · SMTP_PASSWORD · SMTP_FROM</a:t>
            </a:r>
            <a:endParaRPr lang="en-US" sz="1200" dirty="0"/>
          </a:p>
        </p:txBody>
      </p:sp>
      <p:sp>
        <p:nvSpPr>
          <p:cNvPr id="14" name="Text 12"/>
          <p:cNvSpPr txBox="1"/>
          <p:nvPr/>
        </p:nvSpPr>
        <p:spPr>
          <a:xfrm>
            <a:off x="6629400" y="5715000"/>
            <a:ext cx="5029200" cy="548640"/>
          </a:xfrm>
          <a:prstGeom prst="roundRect">
            <a:avLst>
              <a:gd name="adj" fmla="val 13333"/>
            </a:avLst>
          </a:prstGeom>
          <a:solidFill>
            <a:srgbClr val="FDECEA"/>
          </a:solidFill>
          <a:ln w="12700">
            <a:solidFill>
              <a:srgbClr val="BA372A"/>
            </a:solidFill>
          </a:ln>
        </p:spPr>
        <p:txBody>
          <a:bodyPr wrap="square" lIns="76200" tIns="76200" rIns="76200" bIns="76200" rtlCol="0" anchor="ctr"/>
          <a:lstStyle/>
          <a:p>
            <a:pPr algn="ctr" indent="0" marL="0">
              <a:buNone/>
            </a:pPr>
            <a:r>
              <a:rPr lang="en-US" sz="1200" b="1" dirty="0">
                <a:solidFill>
                  <a:srgbClr val="BA372A"/>
                </a:solidFill>
                <a:latin typeface="Calibri" pitchFamily="34" charset="0"/>
                <a:ea typeface="Calibri" pitchFamily="34" charset="-122"/>
                <a:cs typeface="Calibri" pitchFamily="34" charset="-120"/>
              </a:rPr>
              <a:t>Ojo: make clean borra los volúmenes y con ellos los datos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LO VERIFICADO Y LO PENDIENTE</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Estado actual del proyecto</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Estado</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22</a:t>
            </a:r>
            <a:endParaRPr lang="en-US" sz="1100" dirty="0"/>
          </a:p>
        </p:txBody>
      </p:sp>
      <p:sp>
        <p:nvSpPr>
          <p:cNvPr id="6" name="Text 4"/>
          <p:cNvSpPr txBox="1"/>
          <p:nvPr/>
        </p:nvSpPr>
        <p:spPr>
          <a:xfrm>
            <a:off x="548640" y="1325880"/>
            <a:ext cx="2651760" cy="777240"/>
          </a:xfrm>
          <a:prstGeom prst="rect">
            <a:avLst/>
          </a:prstGeom>
          <a:noFill/>
          <a:ln/>
        </p:spPr>
        <p:txBody>
          <a:bodyPr wrap="square" lIns="0" tIns="0" rIns="0" bIns="0" rtlCol="0" anchor="ctr"/>
          <a:lstStyle/>
          <a:p>
            <a:pPr algn="ctr" indent="0" marL="0">
              <a:buNone/>
            </a:pPr>
            <a:r>
              <a:rPr lang="en-US" sz="4400" b="1" dirty="0">
                <a:solidFill>
                  <a:srgbClr val="1E5AA8"/>
                </a:solidFill>
                <a:latin typeface="Calibri" pitchFamily="34" charset="0"/>
                <a:ea typeface="Calibri" pitchFamily="34" charset="-122"/>
                <a:cs typeface="Calibri" pitchFamily="34" charset="-120"/>
              </a:rPr>
              <a:t>341</a:t>
            </a:r>
            <a:endParaRPr lang="en-US" sz="4400" dirty="0"/>
          </a:p>
        </p:txBody>
      </p:sp>
      <p:sp>
        <p:nvSpPr>
          <p:cNvPr id="7" name="Text 5"/>
          <p:cNvSpPr txBox="1"/>
          <p:nvPr/>
        </p:nvSpPr>
        <p:spPr>
          <a:xfrm>
            <a:off x="548640" y="2103120"/>
            <a:ext cx="2651760" cy="320040"/>
          </a:xfrm>
          <a:prstGeom prst="rect">
            <a:avLst/>
          </a:prstGeom>
          <a:noFill/>
          <a:ln/>
        </p:spPr>
        <p:txBody>
          <a:bodyPr wrap="square" lIns="0" tIns="0" rIns="0" bIns="0" rtlCol="0" anchor="ctr"/>
          <a:lstStyle/>
          <a:p>
            <a:pPr algn="ctr" indent="0" marL="0">
              <a:buNone/>
            </a:pPr>
            <a:r>
              <a:rPr lang="en-US" sz="1300" dirty="0">
                <a:solidFill>
                  <a:srgbClr val="33415C"/>
                </a:solidFill>
                <a:latin typeface="Calibri" pitchFamily="34" charset="0"/>
                <a:ea typeface="Calibri" pitchFamily="34" charset="-122"/>
                <a:cs typeface="Calibri" pitchFamily="34" charset="-120"/>
              </a:rPr>
              <a:t>pruebas de backend pasaron</a:t>
            </a:r>
            <a:endParaRPr lang="en-US" sz="1300" dirty="0"/>
          </a:p>
        </p:txBody>
      </p:sp>
      <p:sp>
        <p:nvSpPr>
          <p:cNvPr id="8" name="Text 6"/>
          <p:cNvSpPr txBox="1"/>
          <p:nvPr/>
        </p:nvSpPr>
        <p:spPr>
          <a:xfrm>
            <a:off x="3383280" y="1325880"/>
            <a:ext cx="2651760" cy="777240"/>
          </a:xfrm>
          <a:prstGeom prst="rect">
            <a:avLst/>
          </a:prstGeom>
          <a:noFill/>
          <a:ln/>
        </p:spPr>
        <p:txBody>
          <a:bodyPr wrap="square" lIns="0" tIns="0" rIns="0" bIns="0" rtlCol="0" anchor="ctr"/>
          <a:lstStyle/>
          <a:p>
            <a:pPr algn="ctr" indent="0" marL="0">
              <a:buNone/>
            </a:pPr>
            <a:r>
              <a:rPr lang="en-US" sz="4400" b="1" dirty="0">
                <a:solidFill>
                  <a:srgbClr val="1E5AA8"/>
                </a:solidFill>
                <a:latin typeface="Calibri" pitchFamily="34" charset="0"/>
                <a:ea typeface="Calibri" pitchFamily="34" charset="-122"/>
                <a:cs typeface="Calibri" pitchFamily="34" charset="-120"/>
              </a:rPr>
              <a:t>95 %</a:t>
            </a:r>
            <a:endParaRPr lang="en-US" sz="4400" dirty="0"/>
          </a:p>
        </p:txBody>
      </p:sp>
      <p:sp>
        <p:nvSpPr>
          <p:cNvPr id="9" name="Text 7"/>
          <p:cNvSpPr txBox="1"/>
          <p:nvPr/>
        </p:nvSpPr>
        <p:spPr>
          <a:xfrm>
            <a:off x="3383280" y="2103120"/>
            <a:ext cx="2651760" cy="320040"/>
          </a:xfrm>
          <a:prstGeom prst="rect">
            <a:avLst/>
          </a:prstGeom>
          <a:noFill/>
          <a:ln/>
        </p:spPr>
        <p:txBody>
          <a:bodyPr wrap="square" lIns="0" tIns="0" rIns="0" bIns="0" rtlCol="0" anchor="ctr"/>
          <a:lstStyle/>
          <a:p>
            <a:pPr algn="ctr" indent="0" marL="0">
              <a:buNone/>
            </a:pPr>
            <a:r>
              <a:rPr lang="en-US" sz="1300" dirty="0">
                <a:solidFill>
                  <a:srgbClr val="33415C"/>
                </a:solidFill>
                <a:latin typeface="Calibri" pitchFamily="34" charset="0"/>
                <a:ea typeface="Calibri" pitchFamily="34" charset="-122"/>
                <a:cs typeface="Calibri" pitchFamily="34" charset="-120"/>
              </a:rPr>
              <a:t>cobertura del backend</a:t>
            </a:r>
            <a:endParaRPr lang="en-US" sz="1300" dirty="0"/>
          </a:p>
        </p:txBody>
      </p:sp>
      <p:sp>
        <p:nvSpPr>
          <p:cNvPr id="10" name="Text 8"/>
          <p:cNvSpPr txBox="1"/>
          <p:nvPr/>
        </p:nvSpPr>
        <p:spPr>
          <a:xfrm>
            <a:off x="6217920" y="1325880"/>
            <a:ext cx="2651760" cy="777240"/>
          </a:xfrm>
          <a:prstGeom prst="rect">
            <a:avLst/>
          </a:prstGeom>
          <a:noFill/>
          <a:ln/>
        </p:spPr>
        <p:txBody>
          <a:bodyPr wrap="square" lIns="0" tIns="0" rIns="0" bIns="0" rtlCol="0" anchor="ctr"/>
          <a:lstStyle/>
          <a:p>
            <a:pPr algn="ctr" indent="0" marL="0">
              <a:buNone/>
            </a:pPr>
            <a:r>
              <a:rPr lang="en-US" sz="4400" b="1" dirty="0">
                <a:solidFill>
                  <a:srgbClr val="1E5AA8"/>
                </a:solidFill>
                <a:latin typeface="Calibri" pitchFamily="34" charset="0"/>
                <a:ea typeface="Calibri" pitchFamily="34" charset="-122"/>
                <a:cs typeface="Calibri" pitchFamily="34" charset="-120"/>
              </a:rPr>
              <a:t>35</a:t>
            </a:r>
            <a:endParaRPr lang="en-US" sz="4400" dirty="0"/>
          </a:p>
        </p:txBody>
      </p:sp>
      <p:sp>
        <p:nvSpPr>
          <p:cNvPr id="11" name="Text 9"/>
          <p:cNvSpPr txBox="1"/>
          <p:nvPr/>
        </p:nvSpPr>
        <p:spPr>
          <a:xfrm>
            <a:off x="6217920" y="2103120"/>
            <a:ext cx="2651760" cy="320040"/>
          </a:xfrm>
          <a:prstGeom prst="rect">
            <a:avLst/>
          </a:prstGeom>
          <a:noFill/>
          <a:ln/>
        </p:spPr>
        <p:txBody>
          <a:bodyPr wrap="square" lIns="0" tIns="0" rIns="0" bIns="0" rtlCol="0" anchor="ctr"/>
          <a:lstStyle/>
          <a:p>
            <a:pPr algn="ctr" indent="0" marL="0">
              <a:buNone/>
            </a:pPr>
            <a:r>
              <a:rPr lang="en-US" sz="1300" dirty="0">
                <a:solidFill>
                  <a:srgbClr val="33415C"/>
                </a:solidFill>
                <a:latin typeface="Calibri" pitchFamily="34" charset="0"/>
                <a:ea typeface="Calibri" pitchFamily="34" charset="-122"/>
                <a:cs typeface="Calibri" pitchFamily="34" charset="-120"/>
              </a:rPr>
              <a:t>tablas en 13 migraciones</a:t>
            </a:r>
            <a:endParaRPr lang="en-US" sz="1300" dirty="0"/>
          </a:p>
        </p:txBody>
      </p:sp>
      <p:sp>
        <p:nvSpPr>
          <p:cNvPr id="12" name="Text 10"/>
          <p:cNvSpPr txBox="1"/>
          <p:nvPr/>
        </p:nvSpPr>
        <p:spPr>
          <a:xfrm>
            <a:off x="9052560" y="1325880"/>
            <a:ext cx="2651760" cy="777240"/>
          </a:xfrm>
          <a:prstGeom prst="rect">
            <a:avLst/>
          </a:prstGeom>
          <a:noFill/>
          <a:ln/>
        </p:spPr>
        <p:txBody>
          <a:bodyPr wrap="square" lIns="0" tIns="0" rIns="0" bIns="0" rtlCol="0" anchor="ctr"/>
          <a:lstStyle/>
          <a:p>
            <a:pPr algn="ctr" indent="0" marL="0">
              <a:buNone/>
            </a:pPr>
            <a:r>
              <a:rPr lang="en-US" sz="4400" b="1" dirty="0">
                <a:solidFill>
                  <a:srgbClr val="1E5AA8"/>
                </a:solidFill>
                <a:latin typeface="Calibri" pitchFamily="34" charset="0"/>
                <a:ea typeface="Calibri" pitchFamily="34" charset="-122"/>
                <a:cs typeface="Calibri" pitchFamily="34" charset="-120"/>
              </a:rPr>
              <a:t>144</a:t>
            </a:r>
            <a:endParaRPr lang="en-US" sz="4400" dirty="0"/>
          </a:p>
        </p:txBody>
      </p:sp>
      <p:sp>
        <p:nvSpPr>
          <p:cNvPr id="13" name="Text 11"/>
          <p:cNvSpPr txBox="1"/>
          <p:nvPr/>
        </p:nvSpPr>
        <p:spPr>
          <a:xfrm>
            <a:off x="9052560" y="2103120"/>
            <a:ext cx="2651760" cy="320040"/>
          </a:xfrm>
          <a:prstGeom prst="rect">
            <a:avLst/>
          </a:prstGeom>
          <a:noFill/>
          <a:ln/>
        </p:spPr>
        <p:txBody>
          <a:bodyPr wrap="square" lIns="0" tIns="0" rIns="0" bIns="0" rtlCol="0" anchor="ctr"/>
          <a:lstStyle/>
          <a:p>
            <a:pPr algn="ctr" indent="0" marL="0">
              <a:buNone/>
            </a:pPr>
            <a:r>
              <a:rPr lang="en-US" sz="1300" dirty="0">
                <a:solidFill>
                  <a:srgbClr val="33415C"/>
                </a:solidFill>
                <a:latin typeface="Calibri" pitchFamily="34" charset="0"/>
                <a:ea typeface="Calibri" pitchFamily="34" charset="-122"/>
                <a:cs typeface="Calibri" pitchFamily="34" charset="-120"/>
              </a:rPr>
              <a:t>operaciones de la API</a:t>
            </a:r>
            <a:endParaRPr lang="en-US" sz="1300" dirty="0"/>
          </a:p>
        </p:txBody>
      </p:sp>
      <p:sp>
        <p:nvSpPr>
          <p:cNvPr id="14" name="Text 12"/>
          <p:cNvSpPr txBox="1"/>
          <p:nvPr/>
        </p:nvSpPr>
        <p:spPr>
          <a:xfrm>
            <a:off x="548640" y="2697480"/>
            <a:ext cx="5486400" cy="2377440"/>
          </a:xfrm>
          <a:prstGeom prst="roundRect">
            <a:avLst>
              <a:gd name="adj" fmla="val 3077"/>
            </a:avLst>
          </a:prstGeom>
          <a:solidFill>
            <a:srgbClr val="E3F5EE"/>
          </a:solidFill>
          <a:ln w="12700">
            <a:solidFill>
              <a:srgbClr val="0B7556"/>
            </a:solidFill>
          </a:ln>
        </p:spPr>
        <p:txBody>
          <a:bodyPr wrap="square" lIns="152400" tIns="152400" rIns="152400" bIns="152400" rtlCol="0" anchor="t"/>
          <a:lstStyle/>
          <a:p>
            <a:pPr algn="l" indent="0" marL="0">
              <a:buNone/>
            </a:pPr>
            <a:r>
              <a:rPr lang="en-US" sz="1400" b="1" dirty="0">
                <a:solidFill>
                  <a:srgbClr val="0A1F44"/>
                </a:solidFill>
                <a:latin typeface="Calibri" pitchFamily="34" charset="0"/>
                <a:ea typeface="Calibri" pitchFamily="34" charset="-122"/>
                <a:cs typeface="Calibri" pitchFamily="34" charset="-120"/>
              </a:rPr>
              <a:t>Verificado en esta revisión (14 y 15 de octubre de 2026)</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Suite de backend: 341 pruebas aprobadas, ruff y mypy sin errores</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La migración 0013 sube, baja y coincide con los modelos</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Integración continua en GitHub (rama main): éxito en la ejecución anterior</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Endpoints contados desde el esquema OpenAPI real</a:t>
            </a:r>
            <a:endParaRPr lang="en-US" sz="1400" dirty="0"/>
          </a:p>
        </p:txBody>
      </p:sp>
      <p:sp>
        <p:nvSpPr>
          <p:cNvPr id="15" name="Text 13"/>
          <p:cNvSpPr txBox="1"/>
          <p:nvPr/>
        </p:nvSpPr>
        <p:spPr>
          <a:xfrm>
            <a:off x="6172200" y="2697480"/>
            <a:ext cx="5486400" cy="2377440"/>
          </a:xfrm>
          <a:prstGeom prst="roundRect">
            <a:avLst>
              <a:gd name="adj" fmla="val 3077"/>
            </a:avLst>
          </a:prstGeom>
          <a:solidFill>
            <a:srgbClr val="FFF4D6"/>
          </a:solidFill>
          <a:ln w="12700">
            <a:solidFill>
              <a:srgbClr val="865C00"/>
            </a:solidFill>
          </a:ln>
        </p:spPr>
        <p:txBody>
          <a:bodyPr wrap="square" lIns="152400" tIns="152400" rIns="152400" bIns="152400" rtlCol="0" anchor="t"/>
          <a:lstStyle/>
          <a:p>
            <a:pPr algn="l" indent="0" marL="0">
              <a:buNone/>
            </a:pPr>
            <a:r>
              <a:rPr lang="en-US" sz="1400" b="1" dirty="0">
                <a:solidFill>
                  <a:srgbClr val="0A1F44"/>
                </a:solidFill>
                <a:latin typeface="Calibri" pitchFamily="34" charset="0"/>
                <a:ea typeface="Calibri" pitchFamily="34" charset="-122"/>
                <a:cs typeface="Calibri" pitchFamily="34" charset="-120"/>
              </a:rPr>
              <a:t>Limitaciones y pendientes</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No se volvieron a ejecutar las pruebas E2E ni las del frontend en esta revisión</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La E2E de registro lee el código en Mailpit: falla si el .env envía por Gmail</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OSRM y el mapa base requieren generar datos (make osrm, make tiles)</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Términos y política son un borrador sin revisión jurídica</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Reglas de pico y placa y coordenadas de lugares del seed son de ejemplo</a:t>
            </a:r>
            <a:endParaRPr lang="en-US" sz="1400" dirty="0"/>
          </a:p>
          <a:p>
            <a:pPr algn="l" indent="0" marL="0">
              <a:buNone/>
            </a:pPr>
            <a:r>
              <a:rPr lang="en-US" sz="1300" dirty="0">
                <a:solidFill>
                  <a:srgbClr val="33415C"/>
                </a:solidFill>
                <a:latin typeface="Calibri" pitchFamily="34" charset="0"/>
                <a:ea typeface="Calibri" pitchFamily="34" charset="-122"/>
                <a:cs typeface="Calibri" pitchFamily="34" charset="-120"/>
              </a:rPr>
              <a:t>• Sin pagos en línea ni notificaciones push al celular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RECOMENDACIONES, NO IMPLEMENTADAS</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Posibles mejoras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Mejoras</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23</a:t>
            </a:r>
            <a:endParaRPr lang="en-US" sz="1100" dirty="0"/>
          </a:p>
        </p:txBody>
      </p:sp>
      <p:sp>
        <p:nvSpPr>
          <p:cNvPr id="6" name="Text 4"/>
          <p:cNvSpPr txBox="1"/>
          <p:nvPr/>
        </p:nvSpPr>
        <p:spPr>
          <a:xfrm>
            <a:off x="548640" y="1463040"/>
            <a:ext cx="502920" cy="50292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34440" y="1371600"/>
            <a:ext cx="4754880" cy="1417320"/>
          </a:xfrm>
          <a:prstGeom prst="rect">
            <a:avLst/>
          </a:prstGeom>
          <a:noFill/>
          <a:ln/>
        </p:spPr>
        <p:txBody>
          <a:bodyPr wrap="square" lIns="0" tIns="0" rIns="0" bIns="0" rtlCol="0" anchor="t"/>
          <a:lstStyle/>
          <a:p>
            <a:pPr indent="0" marL="0">
              <a:buNone/>
            </a:pPr>
            <a:r>
              <a:rPr lang="en-US" sz="1700" b="1" dirty="0">
                <a:solidFill>
                  <a:srgbClr val="0A1F44"/>
                </a:solidFill>
                <a:latin typeface="Calibri" pitchFamily="34" charset="0"/>
                <a:ea typeface="Calibri" pitchFamily="34" charset="-122"/>
                <a:cs typeface="Calibri" pitchFamily="34" charset="-120"/>
              </a:rPr>
              <a:t>Seguridad</a:t>
            </a:r>
            <a:endParaRPr lang="en-US" sz="1700" dirty="0"/>
          </a:p>
          <a:p>
            <a:pPr indent="0" marL="0">
              <a:buNone/>
            </a:pPr>
            <a:r>
              <a:rPr lang="en-US" sz="1300" dirty="0">
                <a:solidFill>
                  <a:srgbClr val="33415C"/>
                </a:solidFill>
                <a:latin typeface="Calibri" pitchFamily="34" charset="0"/>
                <a:ea typeface="Calibri" pitchFamily="34" charset="-122"/>
                <a:cs typeface="Calibri" pitchFamily="34" charset="-120"/>
              </a:rPr>
              <a:t>Escaneo de dependencias (pip-audit, npm audit) en la CI; gestor de secretos y rotación de SECRET_KEY; certificado real en producción.</a:t>
            </a:r>
            <a:endParaRPr lang="en-US" sz="1700" dirty="0"/>
          </a:p>
        </p:txBody>
      </p:sp>
      <p:sp>
        <p:nvSpPr>
          <p:cNvPr id="8" name="Text 6"/>
          <p:cNvSpPr txBox="1"/>
          <p:nvPr/>
        </p:nvSpPr>
        <p:spPr>
          <a:xfrm>
            <a:off x="6172200" y="1463040"/>
            <a:ext cx="502920" cy="50292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6858000" y="1371600"/>
            <a:ext cx="4754880" cy="1417320"/>
          </a:xfrm>
          <a:prstGeom prst="rect">
            <a:avLst/>
          </a:prstGeom>
          <a:noFill/>
          <a:ln/>
        </p:spPr>
        <p:txBody>
          <a:bodyPr wrap="square" lIns="0" tIns="0" rIns="0" bIns="0" rtlCol="0" anchor="t"/>
          <a:lstStyle/>
          <a:p>
            <a:pPr indent="0" marL="0">
              <a:buNone/>
            </a:pPr>
            <a:r>
              <a:rPr lang="en-US" sz="1700" b="1" dirty="0">
                <a:solidFill>
                  <a:srgbClr val="0A1F44"/>
                </a:solidFill>
                <a:latin typeface="Calibri" pitchFamily="34" charset="0"/>
                <a:ea typeface="Calibri" pitchFamily="34" charset="-122"/>
                <a:cs typeface="Calibri" pitchFamily="34" charset="-120"/>
              </a:rPr>
              <a:t>Observabilidad</a:t>
            </a:r>
            <a:endParaRPr lang="en-US" sz="1700" dirty="0"/>
          </a:p>
          <a:p>
            <a:pPr indent="0" marL="0">
              <a:buNone/>
            </a:pPr>
            <a:r>
              <a:rPr lang="en-US" sz="1300" dirty="0">
                <a:solidFill>
                  <a:srgbClr val="33415C"/>
                </a:solidFill>
                <a:latin typeface="Calibri" pitchFamily="34" charset="0"/>
                <a:ea typeface="Calibri" pitchFamily="34" charset="-122"/>
                <a:cs typeface="Calibri" pitchFamily="34" charset="-120"/>
              </a:rPr>
              <a:t>Hoy solo hay logs estructurados: agregar métricas y alertas (tiempos de respuesta, errores 5xx, intentos de acceso).</a:t>
            </a:r>
            <a:endParaRPr lang="en-US" sz="1700" dirty="0"/>
          </a:p>
        </p:txBody>
      </p:sp>
      <p:sp>
        <p:nvSpPr>
          <p:cNvPr id="10" name="Text 8"/>
          <p:cNvSpPr txBox="1"/>
          <p:nvPr/>
        </p:nvSpPr>
        <p:spPr>
          <a:xfrm>
            <a:off x="548640" y="3108960"/>
            <a:ext cx="502920" cy="50292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234440" y="3017520"/>
            <a:ext cx="4754880" cy="1417320"/>
          </a:xfrm>
          <a:prstGeom prst="rect">
            <a:avLst/>
          </a:prstGeom>
          <a:noFill/>
          <a:ln/>
        </p:spPr>
        <p:txBody>
          <a:bodyPr wrap="square" lIns="0" tIns="0" rIns="0" bIns="0" rtlCol="0" anchor="t"/>
          <a:lstStyle/>
          <a:p>
            <a:pPr indent="0" marL="0">
              <a:buNone/>
            </a:pPr>
            <a:r>
              <a:rPr lang="en-US" sz="1700" b="1" dirty="0">
                <a:solidFill>
                  <a:srgbClr val="0A1F44"/>
                </a:solidFill>
                <a:latin typeface="Calibri" pitchFamily="34" charset="0"/>
                <a:ea typeface="Calibri" pitchFamily="34" charset="-122"/>
                <a:cs typeface="Calibri" pitchFamily="34" charset="-120"/>
              </a:rPr>
              <a:t>Rendimiento</a:t>
            </a:r>
            <a:endParaRPr lang="en-US" sz="1700" dirty="0"/>
          </a:p>
          <a:p>
            <a:pPr indent="0" marL="0">
              <a:buNone/>
            </a:pPr>
            <a:r>
              <a:rPr lang="en-US" sz="1300" dirty="0">
                <a:solidFill>
                  <a:srgbClr val="33415C"/>
                </a:solidFill>
                <a:latin typeface="Calibri" pitchFamily="34" charset="0"/>
                <a:ea typeface="Calibri" pitchFamily="34" charset="-122"/>
                <a:cs typeface="Calibri" pitchFamily="34" charset="-120"/>
              </a:rPr>
              <a:t>Pruebas de carga sobre la búsqueda geográfica y las aceptaciones concurrentes; caché de la configuración pública.</a:t>
            </a:r>
            <a:endParaRPr lang="en-US" sz="1700" dirty="0"/>
          </a:p>
        </p:txBody>
      </p:sp>
      <p:sp>
        <p:nvSpPr>
          <p:cNvPr id="12" name="Text 10"/>
          <p:cNvSpPr txBox="1"/>
          <p:nvPr/>
        </p:nvSpPr>
        <p:spPr>
          <a:xfrm>
            <a:off x="6172200" y="3108960"/>
            <a:ext cx="502920" cy="50292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3" name="Text 11"/>
          <p:cNvSpPr txBox="1"/>
          <p:nvPr/>
        </p:nvSpPr>
        <p:spPr>
          <a:xfrm>
            <a:off x="6858000" y="3017520"/>
            <a:ext cx="4754880" cy="1417320"/>
          </a:xfrm>
          <a:prstGeom prst="rect">
            <a:avLst/>
          </a:prstGeom>
          <a:noFill/>
          <a:ln/>
        </p:spPr>
        <p:txBody>
          <a:bodyPr wrap="square" lIns="0" tIns="0" rIns="0" bIns="0" rtlCol="0" anchor="t"/>
          <a:lstStyle/>
          <a:p>
            <a:pPr indent="0" marL="0">
              <a:buNone/>
            </a:pPr>
            <a:r>
              <a:rPr lang="en-US" sz="1700" b="1" dirty="0">
                <a:solidFill>
                  <a:srgbClr val="0A1F44"/>
                </a:solidFill>
                <a:latin typeface="Calibri" pitchFamily="34" charset="0"/>
                <a:ea typeface="Calibri" pitchFamily="34" charset="-122"/>
                <a:cs typeface="Calibri" pitchFamily="34" charset="-120"/>
              </a:rPr>
              <a:t>Calidad</a:t>
            </a:r>
            <a:endParaRPr lang="en-US" sz="1700" dirty="0"/>
          </a:p>
          <a:p>
            <a:pPr indent="0" marL="0">
              <a:buNone/>
            </a:pPr>
            <a:r>
              <a:rPr lang="en-US" sz="1300" dirty="0">
                <a:solidFill>
                  <a:srgbClr val="33415C"/>
                </a:solidFill>
                <a:latin typeface="Calibri" pitchFamily="34" charset="0"/>
                <a:ea typeface="Calibri" pitchFamily="34" charset="-122"/>
                <a:cs typeface="Calibri" pitchFamily="34" charset="-120"/>
              </a:rPr>
              <a:t>Mantener la E2E de registro independiente del SMTP real; subir la cobertura del frontend (hoy cubierto por E2E).</a:t>
            </a:r>
            <a:endParaRPr lang="en-US" sz="1700" dirty="0"/>
          </a:p>
        </p:txBody>
      </p:sp>
      <p:sp>
        <p:nvSpPr>
          <p:cNvPr id="14" name="Text 12"/>
          <p:cNvSpPr txBox="1"/>
          <p:nvPr/>
        </p:nvSpPr>
        <p:spPr>
          <a:xfrm>
            <a:off x="548640" y="4754880"/>
            <a:ext cx="502920" cy="50292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5" name="Text 13"/>
          <p:cNvSpPr txBox="1"/>
          <p:nvPr/>
        </p:nvSpPr>
        <p:spPr>
          <a:xfrm>
            <a:off x="1234440" y="4663440"/>
            <a:ext cx="4754880" cy="1417320"/>
          </a:xfrm>
          <a:prstGeom prst="rect">
            <a:avLst/>
          </a:prstGeom>
          <a:noFill/>
          <a:ln/>
        </p:spPr>
        <p:txBody>
          <a:bodyPr wrap="square" lIns="0" tIns="0" rIns="0" bIns="0" rtlCol="0" anchor="t"/>
          <a:lstStyle/>
          <a:p>
            <a:pPr indent="0" marL="0">
              <a:buNone/>
            </a:pPr>
            <a:r>
              <a:rPr lang="en-US" sz="1700" b="1" dirty="0">
                <a:solidFill>
                  <a:srgbClr val="0A1F44"/>
                </a:solidFill>
                <a:latin typeface="Calibri" pitchFamily="34" charset="0"/>
                <a:ea typeface="Calibri" pitchFamily="34" charset="-122"/>
                <a:cs typeface="Calibri" pitchFamily="34" charset="-120"/>
              </a:rPr>
              <a:t>Producto</a:t>
            </a:r>
            <a:endParaRPr lang="en-US" sz="1700" dirty="0"/>
          </a:p>
          <a:p>
            <a:pPr indent="0" marL="0">
              <a:buNone/>
            </a:pPr>
            <a:r>
              <a:rPr lang="en-US" sz="1300" dirty="0">
                <a:solidFill>
                  <a:srgbClr val="33415C"/>
                </a:solidFill>
                <a:latin typeface="Calibri" pitchFamily="34" charset="0"/>
                <a:ea typeface="Calibri" pitchFamily="34" charset="-122"/>
                <a:cs typeface="Calibri" pitchFamily="34" charset="-120"/>
              </a:rPr>
              <a:t>Notificaciones push (PWA), pagos en línea opcionales y revisión jurídica de los textos legales.</a:t>
            </a:r>
            <a:endParaRPr lang="en-US" sz="1700" dirty="0"/>
          </a:p>
        </p:txBody>
      </p:sp>
      <p:sp>
        <p:nvSpPr>
          <p:cNvPr id="16" name="Text 14"/>
          <p:cNvSpPr txBox="1"/>
          <p:nvPr/>
        </p:nvSpPr>
        <p:spPr>
          <a:xfrm>
            <a:off x="6172200" y="4754880"/>
            <a:ext cx="502920" cy="502920"/>
          </a:xfrm>
          <a:prstGeom prst="ellipse">
            <a:avLst/>
          </a:prstGeom>
          <a:solidFill>
            <a:srgbClr val="1E5AA8"/>
          </a:solidFill>
          <a:ln>
            <a:solidFill>
              <a:srgbClr val="1E5AA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7" name="Text 15"/>
          <p:cNvSpPr txBox="1"/>
          <p:nvPr/>
        </p:nvSpPr>
        <p:spPr>
          <a:xfrm>
            <a:off x="6858000" y="4663440"/>
            <a:ext cx="4754880" cy="1417320"/>
          </a:xfrm>
          <a:prstGeom prst="rect">
            <a:avLst/>
          </a:prstGeom>
          <a:noFill/>
          <a:ln/>
        </p:spPr>
        <p:txBody>
          <a:bodyPr wrap="square" lIns="0" tIns="0" rIns="0" bIns="0" rtlCol="0" anchor="t"/>
          <a:lstStyle/>
          <a:p>
            <a:pPr indent="0" marL="0">
              <a:buNone/>
            </a:pPr>
            <a:r>
              <a:rPr lang="en-US" sz="1700" b="1" dirty="0">
                <a:solidFill>
                  <a:srgbClr val="0A1F44"/>
                </a:solidFill>
                <a:latin typeface="Calibri" pitchFamily="34" charset="0"/>
                <a:ea typeface="Calibri" pitchFamily="34" charset="-122"/>
                <a:cs typeface="Calibri" pitchFamily="34" charset="-120"/>
              </a:rPr>
              <a:t>Operación</a:t>
            </a:r>
            <a:endParaRPr lang="en-US" sz="1700" dirty="0"/>
          </a:p>
          <a:p>
            <a:pPr indent="0" marL="0">
              <a:buNone/>
            </a:pPr>
            <a:r>
              <a:rPr lang="en-US" sz="1300" dirty="0">
                <a:solidFill>
                  <a:srgbClr val="33415C"/>
                </a:solidFill>
                <a:latin typeface="Calibri" pitchFamily="34" charset="0"/>
                <a:ea typeface="Calibri" pitchFamily="34" charset="-122"/>
                <a:cs typeface="Calibri" pitchFamily="34" charset="-120"/>
              </a:rPr>
              <a:t>Respaldos fuera del servidor y restauración probada periódicamente con make backup-check.</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0B7556"/>
                </a:solidFill>
                <a:latin typeface="Calibri" pitchFamily="34" charset="0"/>
                <a:ea typeface="Calibri" pitchFamily="34" charset="-122"/>
                <a:cs typeface="Calibri" pitchFamily="34" charset="-120"/>
              </a:rPr>
              <a:t>LO QUE HAY QUE RECORDAR</a:t>
            </a:r>
            <a:endParaRPr lang="en-US" sz="12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0A1F44"/>
                </a:solidFill>
                <a:latin typeface="Calibri" pitchFamily="34" charset="0"/>
                <a:ea typeface="Calibri" pitchFamily="34" charset="-122"/>
                <a:cs typeface="Calibri" pitchFamily="34" charset="-120"/>
              </a:rPr>
              <a:t>Conclusiones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rgbClr val="5B6B85"/>
                </a:solidFill>
                <a:latin typeface="Calibri" pitchFamily="34" charset="0"/>
                <a:ea typeface="Calibri" pitchFamily="34" charset="-122"/>
                <a:cs typeface="Calibri" pitchFamily="34" charset="-120"/>
              </a:rPr>
              <a:t>Carpool UP · Cierre</a:t>
            </a:r>
            <a:endParaRPr lang="en-US" sz="1100" dirty="0"/>
          </a:p>
        </p:txBody>
      </p:sp>
      <p:sp>
        <p:nvSpPr>
          <p:cNvPr id="5" name="Text 3"/>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24</a:t>
            </a:r>
            <a:endParaRPr lang="en-US" sz="1100" dirty="0"/>
          </a:p>
        </p:txBody>
      </p:sp>
      <p:sp>
        <p:nvSpPr>
          <p:cNvPr id="6" name="Text 4"/>
          <p:cNvSpPr txBox="1"/>
          <p:nvPr/>
        </p:nvSpPr>
        <p:spPr>
          <a:xfrm>
            <a:off x="548640" y="1600200"/>
            <a:ext cx="3611880" cy="1508760"/>
          </a:xfrm>
          <a:prstGeom prst="roundRect">
            <a:avLst>
              <a:gd name="adj" fmla="val 4848"/>
            </a:avLst>
          </a:prstGeom>
          <a:solidFill>
            <a:srgbClr val="EAF3FF"/>
          </a:solidFill>
          <a:ln w="12700">
            <a:solidFill>
              <a:srgbClr val="EAF3FF"/>
            </a:solidFill>
          </a:ln>
        </p:spPr>
        <p:txBody>
          <a:bodyPr wrap="square" lIns="177800" tIns="177800" rIns="177800" bIns="177800" rtlCol="0" anchor="t"/>
          <a:lstStyle/>
          <a:p>
            <a:pPr algn="l" indent="0" marL="0">
              <a:buNone/>
            </a:pPr>
            <a:r>
              <a:rPr lang="en-US" sz="1800" b="1" dirty="0">
                <a:solidFill>
                  <a:srgbClr val="0A1F44"/>
                </a:solidFill>
                <a:latin typeface="Calibri" pitchFamily="34" charset="0"/>
                <a:ea typeface="Calibri" pitchFamily="34" charset="-122"/>
                <a:cs typeface="Calibri" pitchFamily="34" charset="-120"/>
              </a:rPr>
              <a:t>El backend manda</a:t>
            </a:r>
            <a:endParaRPr lang="en-US" sz="1800" dirty="0"/>
          </a:p>
          <a:p>
            <a:pPr algn="l" indent="0" marL="0">
              <a:buNone/>
            </a:pPr>
            <a:r>
              <a:rPr lang="en-US" sz="1400" dirty="0">
                <a:solidFill>
                  <a:srgbClr val="33415C"/>
                </a:solidFill>
                <a:latin typeface="Calibri" pitchFamily="34" charset="0"/>
                <a:ea typeface="Calibri" pitchFamily="34" charset="-122"/>
                <a:cs typeface="Calibri" pitchFamily="34" charset="-120"/>
              </a:rPr>
              <a:t>Las reglas viven en service.py; el frontend solo muestra lo que la API responde.</a:t>
            </a:r>
            <a:endParaRPr lang="en-US" sz="1800" dirty="0"/>
          </a:p>
        </p:txBody>
      </p:sp>
      <p:sp>
        <p:nvSpPr>
          <p:cNvPr id="7" name="Text 5"/>
          <p:cNvSpPr txBox="1"/>
          <p:nvPr/>
        </p:nvSpPr>
        <p:spPr>
          <a:xfrm>
            <a:off x="4315968" y="1600200"/>
            <a:ext cx="3611880" cy="1508760"/>
          </a:xfrm>
          <a:prstGeom prst="roundRect">
            <a:avLst>
              <a:gd name="adj" fmla="val 4848"/>
            </a:avLst>
          </a:prstGeom>
          <a:solidFill>
            <a:srgbClr val="EAF3FF"/>
          </a:solidFill>
          <a:ln w="12700">
            <a:solidFill>
              <a:srgbClr val="EAF3FF"/>
            </a:solidFill>
          </a:ln>
        </p:spPr>
        <p:txBody>
          <a:bodyPr wrap="square" lIns="177800" tIns="177800" rIns="177800" bIns="177800" rtlCol="0" anchor="t"/>
          <a:lstStyle/>
          <a:p>
            <a:pPr algn="l" indent="0" marL="0">
              <a:buNone/>
            </a:pPr>
            <a:r>
              <a:rPr lang="en-US" sz="1800" b="1" dirty="0">
                <a:solidFill>
                  <a:srgbClr val="0A1F44"/>
                </a:solidFill>
                <a:latin typeface="Calibri" pitchFamily="34" charset="0"/>
                <a:ea typeface="Calibri" pitchFamily="34" charset="-122"/>
                <a:cs typeface="Calibri" pitchFamily="34" charset="-120"/>
              </a:rPr>
              <a:t>Capas repetidas</a:t>
            </a:r>
            <a:endParaRPr lang="en-US" sz="1800" dirty="0"/>
          </a:p>
          <a:p>
            <a:pPr algn="l" indent="0" marL="0">
              <a:buNone/>
            </a:pPr>
            <a:r>
              <a:rPr lang="en-US" sz="1400" dirty="0">
                <a:solidFill>
                  <a:srgbClr val="33415C"/>
                </a:solidFill>
                <a:latin typeface="Calibri" pitchFamily="34" charset="0"/>
                <a:ea typeface="Calibri" pitchFamily="34" charset="-122"/>
                <a:cs typeface="Calibri" pitchFamily="34" charset="-120"/>
              </a:rPr>
              <a:t>router → schemas → service → models en los 26 módulos: fácil de leer y de probar.</a:t>
            </a:r>
            <a:endParaRPr lang="en-US" sz="1800" dirty="0"/>
          </a:p>
        </p:txBody>
      </p:sp>
      <p:sp>
        <p:nvSpPr>
          <p:cNvPr id="8" name="Text 6"/>
          <p:cNvSpPr txBox="1"/>
          <p:nvPr/>
        </p:nvSpPr>
        <p:spPr>
          <a:xfrm>
            <a:off x="8083296" y="1600200"/>
            <a:ext cx="3611880" cy="1508760"/>
          </a:xfrm>
          <a:prstGeom prst="roundRect">
            <a:avLst>
              <a:gd name="adj" fmla="val 4848"/>
            </a:avLst>
          </a:prstGeom>
          <a:solidFill>
            <a:srgbClr val="EAF3FF"/>
          </a:solidFill>
          <a:ln w="12700">
            <a:solidFill>
              <a:srgbClr val="EAF3FF"/>
            </a:solidFill>
          </a:ln>
        </p:spPr>
        <p:txBody>
          <a:bodyPr wrap="square" lIns="177800" tIns="177800" rIns="177800" bIns="177800" rtlCol="0" anchor="t"/>
          <a:lstStyle/>
          <a:p>
            <a:pPr algn="l" indent="0" marL="0">
              <a:buNone/>
            </a:pPr>
            <a:r>
              <a:rPr lang="en-US" sz="1800" b="1" dirty="0">
                <a:solidFill>
                  <a:srgbClr val="0A1F44"/>
                </a:solidFill>
                <a:latin typeface="Calibri" pitchFamily="34" charset="0"/>
                <a:ea typeface="Calibri" pitchFamily="34" charset="-122"/>
                <a:cs typeface="Calibri" pitchFamily="34" charset="-120"/>
              </a:rPr>
              <a:t>La base protege los datos</a:t>
            </a:r>
            <a:endParaRPr lang="en-US" sz="1800" dirty="0"/>
          </a:p>
          <a:p>
            <a:pPr algn="l" indent="0" marL="0">
              <a:buNone/>
            </a:pPr>
            <a:r>
              <a:rPr lang="en-US" sz="1400" dirty="0">
                <a:solidFill>
                  <a:srgbClr val="33415C"/>
                </a:solidFill>
                <a:latin typeface="Calibri" pitchFamily="34" charset="0"/>
                <a:ea typeface="Calibri" pitchFamily="34" charset="-122"/>
                <a:cs typeface="Calibri" pitchFamily="34" charset="-120"/>
              </a:rPr>
              <a:t>Transacciones, bloqueo de filas, restricciones, auditoría inmutable y autoría.</a:t>
            </a:r>
            <a:endParaRPr lang="en-US" sz="1800" dirty="0"/>
          </a:p>
        </p:txBody>
      </p:sp>
      <p:sp>
        <p:nvSpPr>
          <p:cNvPr id="9" name="Text 7"/>
          <p:cNvSpPr txBox="1"/>
          <p:nvPr/>
        </p:nvSpPr>
        <p:spPr>
          <a:xfrm>
            <a:off x="548640" y="3429000"/>
            <a:ext cx="3611880" cy="1508760"/>
          </a:xfrm>
          <a:prstGeom prst="roundRect">
            <a:avLst>
              <a:gd name="adj" fmla="val 4848"/>
            </a:avLst>
          </a:prstGeom>
          <a:solidFill>
            <a:srgbClr val="E3F5EE"/>
          </a:solidFill>
          <a:ln w="12700">
            <a:solidFill>
              <a:srgbClr val="E3F5EE"/>
            </a:solidFill>
          </a:ln>
        </p:spPr>
        <p:txBody>
          <a:bodyPr wrap="square" lIns="177800" tIns="177800" rIns="177800" bIns="177800" rtlCol="0" anchor="t"/>
          <a:lstStyle/>
          <a:p>
            <a:pPr algn="l" indent="0" marL="0">
              <a:buNone/>
            </a:pPr>
            <a:r>
              <a:rPr lang="en-US" sz="1800" b="1" dirty="0">
                <a:solidFill>
                  <a:srgbClr val="0A1F44"/>
                </a:solidFill>
                <a:latin typeface="Calibri" pitchFamily="34" charset="0"/>
                <a:ea typeface="Calibri" pitchFamily="34" charset="-122"/>
                <a:cs typeface="Calibri" pitchFamily="34" charset="-120"/>
              </a:rPr>
              <a:t>Geografía en PostgreSQL</a:t>
            </a:r>
            <a:endParaRPr lang="en-US" sz="1800" dirty="0"/>
          </a:p>
          <a:p>
            <a:pPr algn="l" indent="0" marL="0">
              <a:buNone/>
            </a:pPr>
            <a:r>
              <a:rPr lang="en-US" sz="1400" dirty="0">
                <a:solidFill>
                  <a:srgbClr val="33415C"/>
                </a:solidFill>
                <a:latin typeface="Calibri" pitchFamily="34" charset="0"/>
                <a:ea typeface="Calibri" pitchFamily="34" charset="-122"/>
                <a:cs typeface="Calibri" pitchFamily="34" charset="-120"/>
              </a:rPr>
              <a:t>PostGIS y OSRM hacen posible buscar viajes por la ruta real.</a:t>
            </a:r>
            <a:endParaRPr lang="en-US" sz="1800" dirty="0"/>
          </a:p>
        </p:txBody>
      </p:sp>
      <p:sp>
        <p:nvSpPr>
          <p:cNvPr id="10" name="Text 8"/>
          <p:cNvSpPr txBox="1"/>
          <p:nvPr/>
        </p:nvSpPr>
        <p:spPr>
          <a:xfrm>
            <a:off x="4315968" y="3429000"/>
            <a:ext cx="3611880" cy="1508760"/>
          </a:xfrm>
          <a:prstGeom prst="roundRect">
            <a:avLst>
              <a:gd name="adj" fmla="val 4848"/>
            </a:avLst>
          </a:prstGeom>
          <a:solidFill>
            <a:srgbClr val="E3F5EE"/>
          </a:solidFill>
          <a:ln w="12700">
            <a:solidFill>
              <a:srgbClr val="E3F5EE"/>
            </a:solidFill>
          </a:ln>
        </p:spPr>
        <p:txBody>
          <a:bodyPr wrap="square" lIns="177800" tIns="177800" rIns="177800" bIns="177800" rtlCol="0" anchor="t"/>
          <a:lstStyle/>
          <a:p>
            <a:pPr algn="l" indent="0" marL="0">
              <a:buNone/>
            </a:pPr>
            <a:r>
              <a:rPr lang="en-US" sz="1800" b="1" dirty="0">
                <a:solidFill>
                  <a:srgbClr val="0A1F44"/>
                </a:solidFill>
                <a:latin typeface="Calibri" pitchFamily="34" charset="0"/>
                <a:ea typeface="Calibri" pitchFamily="34" charset="-122"/>
                <a:cs typeface="Calibri" pitchFamily="34" charset="-120"/>
              </a:rPr>
              <a:t>Tiempo real confiable</a:t>
            </a:r>
            <a:endParaRPr lang="en-US" sz="1800" dirty="0"/>
          </a:p>
          <a:p>
            <a:pPr algn="l" indent="0" marL="0">
              <a:buNone/>
            </a:pPr>
            <a:r>
              <a:rPr lang="en-US" sz="1400" dirty="0">
                <a:solidFill>
                  <a:srgbClr val="33415C"/>
                </a:solidFill>
                <a:latin typeface="Calibri" pitchFamily="34" charset="0"/>
                <a:ea typeface="Calibri" pitchFamily="34" charset="-122"/>
                <a:cs typeface="Calibri" pitchFamily="34" charset="-120"/>
              </a:rPr>
              <a:t>Los eventos salen por Redis solo después del commit.</a:t>
            </a:r>
            <a:endParaRPr lang="en-US" sz="1800" dirty="0"/>
          </a:p>
        </p:txBody>
      </p:sp>
      <p:sp>
        <p:nvSpPr>
          <p:cNvPr id="11" name="Text 9"/>
          <p:cNvSpPr txBox="1"/>
          <p:nvPr/>
        </p:nvSpPr>
        <p:spPr>
          <a:xfrm>
            <a:off x="8083296" y="3429000"/>
            <a:ext cx="3611880" cy="1508760"/>
          </a:xfrm>
          <a:prstGeom prst="roundRect">
            <a:avLst>
              <a:gd name="adj" fmla="val 4848"/>
            </a:avLst>
          </a:prstGeom>
          <a:solidFill>
            <a:srgbClr val="E3F5EE"/>
          </a:solidFill>
          <a:ln w="12700">
            <a:solidFill>
              <a:srgbClr val="E3F5EE"/>
            </a:solidFill>
          </a:ln>
        </p:spPr>
        <p:txBody>
          <a:bodyPr wrap="square" lIns="177800" tIns="177800" rIns="177800" bIns="177800" rtlCol="0" anchor="t"/>
          <a:lstStyle/>
          <a:p>
            <a:pPr algn="l" indent="0" marL="0">
              <a:buNone/>
            </a:pPr>
            <a:r>
              <a:rPr lang="en-US" sz="1800" b="1" dirty="0">
                <a:solidFill>
                  <a:srgbClr val="0A1F44"/>
                </a:solidFill>
                <a:latin typeface="Calibri" pitchFamily="34" charset="0"/>
                <a:ea typeface="Calibri" pitchFamily="34" charset="-122"/>
                <a:cs typeface="Calibri" pitchFamily="34" charset="-120"/>
              </a:rPr>
              <a:t>Probado y reproducible</a:t>
            </a:r>
            <a:endParaRPr lang="en-US" sz="1800" dirty="0"/>
          </a:p>
          <a:p>
            <a:pPr algn="l" indent="0" marL="0">
              <a:buNone/>
            </a:pPr>
            <a:r>
              <a:rPr lang="en-US" sz="1400" dirty="0">
                <a:solidFill>
                  <a:srgbClr val="33415C"/>
                </a:solidFill>
                <a:latin typeface="Calibri" pitchFamily="34" charset="0"/>
                <a:ea typeface="Calibri" pitchFamily="34" charset="-122"/>
                <a:cs typeface="Calibri" pitchFamily="34" charset="-120"/>
              </a:rPr>
              <a:t>341 pruebas de backend, CI en GitHub y Docker para levantar todo igual.</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4498848" y="731520"/>
            <a:ext cx="3200400" cy="3200400"/>
          </a:xfrm>
          <a:prstGeom prst="ellipse">
            <a:avLst/>
          </a:prstGeom>
          <a:solidFill>
            <a:srgbClr val="EAF3FF"/>
          </a:solidFill>
          <a:ln w="12700">
            <a:solidFill>
              <a:srgbClr val="EAF3FF"/>
            </a:solidFill>
            <a:prstDash val="solid"/>
          </a:ln>
        </p:spPr>
      </p:sp>
      <p:pic>
        <p:nvPicPr>
          <p:cNvPr id="3" name="Image 0" descr="Logo de Carpool UP">    </p:cNvPr>
          <p:cNvPicPr>
            <a:picLocks noChangeAspect="1"/>
          </p:cNvPicPr>
          <p:nvPr/>
        </p:nvPicPr>
        <p:blipFill>
          <a:blip r:embed="rId1"/>
          <a:stretch>
            <a:fillRect/>
          </a:stretch>
        </p:blipFill>
        <p:spPr>
          <a:xfrm>
            <a:off x="4636008" y="868680"/>
            <a:ext cx="2926080" cy="2926080"/>
          </a:xfrm>
          <a:prstGeom prst="rect">
            <a:avLst/>
          </a:prstGeom>
        </p:spPr>
      </p:pic>
      <p:sp>
        <p:nvSpPr>
          <p:cNvPr id="4" name="Text 1"/>
          <p:cNvSpPr txBox="1"/>
          <p:nvPr/>
        </p:nvSpPr>
        <p:spPr>
          <a:xfrm>
            <a:off x="548640" y="4160520"/>
            <a:ext cx="110642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¿Preguntas?</a:t>
            </a:r>
            <a:endParaRPr lang="en-US" sz="4800" dirty="0"/>
          </a:p>
        </p:txBody>
      </p:sp>
      <p:sp>
        <p:nvSpPr>
          <p:cNvPr id="5" name="Text 2"/>
          <p:cNvSpPr txBox="1"/>
          <p:nvPr/>
        </p:nvSpPr>
        <p:spPr>
          <a:xfrm>
            <a:off x="548640" y="5120640"/>
            <a:ext cx="11064240" cy="457200"/>
          </a:xfrm>
          <a:prstGeom prst="rect">
            <a:avLst/>
          </a:prstGeom>
          <a:noFill/>
          <a:ln/>
        </p:spPr>
        <p:txBody>
          <a:bodyPr wrap="square" lIns="0" tIns="0" rIns="0" bIns="0" rtlCol="0" anchor="ctr"/>
          <a:lstStyle/>
          <a:p>
            <a:pPr algn="ctr" indent="0" marL="0">
              <a:buNone/>
            </a:pPr>
            <a:r>
              <a:rPr lang="en-US" sz="1800" dirty="0">
                <a:solidFill>
                  <a:srgbClr val="90C5FF"/>
                </a:solidFill>
                <a:latin typeface="Calibri" pitchFamily="34" charset="0"/>
                <a:ea typeface="Calibri" pitchFamily="34" charset="-122"/>
                <a:cs typeface="Calibri" pitchFamily="34" charset="-120"/>
              </a:rPr>
              <a:t>Gracias por su atención · Carpool UP · Universidad de Pamplona</a:t>
            </a:r>
            <a:endParaRPr lang="en-US" sz="1800" dirty="0"/>
          </a:p>
        </p:txBody>
      </p:sp>
      <p:sp>
        <p:nvSpPr>
          <p:cNvPr id="6" name="Text 3"/>
          <p:cNvSpPr txBox="1"/>
          <p:nvPr/>
        </p:nvSpPr>
        <p:spPr>
          <a:xfrm>
            <a:off x="548640" y="5760720"/>
            <a:ext cx="11064240" cy="365760"/>
          </a:xfrm>
          <a:prstGeom prst="rect">
            <a:avLst/>
          </a:prstGeom>
          <a:noFill/>
          <a:ln/>
        </p:spPr>
        <p:txBody>
          <a:bodyPr wrap="square" lIns="0" tIns="0" rIns="0" bIns="0" rtlCol="0" anchor="ctr"/>
          <a:lstStyle/>
          <a:p>
            <a:pPr algn="ctr" indent="0" marL="0">
              <a:buNone/>
            </a:pPr>
            <a:r>
              <a:rPr lang="en-US" sz="1300" dirty="0">
                <a:solidFill>
                  <a:srgbClr val="D6E4FA"/>
                </a:solidFill>
                <a:latin typeface="Calibri" pitchFamily="34" charset="0"/>
                <a:ea typeface="Calibri" pitchFamily="34" charset="-122"/>
                <a:cs typeface="Calibri" pitchFamily="34" charset="-120"/>
              </a:rPr>
              <a:t>Repositorio: github.com/Daniel-Pinzon-Up/carpool-up · Documentación: docs/README.md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Universidad de Pamplona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Carpool UP: presentación técnica</dc:title>
  <dc:subject>Arquitectura del sistema, funcionamiento del backend y conexión con la base de datos</dc:subject>
  <dc:creator>Equipo Carpool UP</dc:creator>
  <cp:lastModifiedBy>Equipo Carpool UP</cp:lastModifiedBy>
  <cp:revision>1</cp:revision>
  <dcterms:created xsi:type="dcterms:W3CDTF">2026-10-15T00:34:58Z</dcterms:created>
  <dcterms:modified xsi:type="dcterms:W3CDTF">2026-10-15T00:34:58Z</dcterms:modified>
</cp:coreProperties>
</file>